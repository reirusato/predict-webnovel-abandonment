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9" r:id="rId1"/>
  </p:sldMasterIdLst>
  <p:notesMasterIdLst>
    <p:notesMasterId r:id="rId16"/>
  </p:notesMasterIdLst>
  <p:sldIdLst>
    <p:sldId id="256" r:id="rId2"/>
    <p:sldId id="257" r:id="rId3"/>
    <p:sldId id="276" r:id="rId4"/>
    <p:sldId id="258" r:id="rId5"/>
    <p:sldId id="265" r:id="rId6"/>
    <p:sldId id="260" r:id="rId7"/>
    <p:sldId id="261" r:id="rId8"/>
    <p:sldId id="262" r:id="rId9"/>
    <p:sldId id="273" r:id="rId10"/>
    <p:sldId id="269" r:id="rId11"/>
    <p:sldId id="268" r:id="rId12"/>
    <p:sldId id="264" r:id="rId13"/>
    <p:sldId id="271" r:id="rId14"/>
    <p:sldId id="2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043" autoAdjust="0"/>
  </p:normalViewPr>
  <p:slideViewPr>
    <p:cSldViewPr snapToGrid="0">
      <p:cViewPr varScale="1">
        <p:scale>
          <a:sx n="58" d="100"/>
          <a:sy n="58" d="100"/>
        </p:scale>
        <p:origin x="96" y="7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02E9D-2EA4-4FC6-B316-73FFBF0B7262}" type="datetimeFigureOut">
              <a:rPr kumimoji="1" lang="ja-JP" altLang="en-US" smtClean="0"/>
              <a:t>2025/9/25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D6A375-25BD-428C-AEE5-3B3D914C3C2D}" type="slidenum">
              <a:rPr kumimoji="1" lang="ja-JP" altLang="en-US" smtClean="0"/>
              <a:t>‹#›</a:t>
            </a:fld>
            <a:endParaRPr kumimoji="1" lang="ja-JP" altLang="en-US"/>
          </a:p>
        </p:txBody>
      </p:sp>
    </p:spTree>
    <p:extLst>
      <p:ext uri="{BB962C8B-B14F-4D97-AF65-F5344CB8AC3E}">
        <p14:creationId xmlns:p14="http://schemas.microsoft.com/office/powerpoint/2010/main" val="20145319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ウェブ小説のメタデータに基づく連載継続可能性の予測と題しまして、メディア情報学プログラム久野研究室の佐藤が発表をさせていただきます。</a:t>
            </a:r>
            <a:endParaRPr kumimoji="1" lang="en-US" altLang="ja-JP" dirty="0"/>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1</a:t>
            </a:fld>
            <a:endParaRPr kumimoji="1" lang="ja-JP" altLang="en-US"/>
          </a:p>
        </p:txBody>
      </p:sp>
    </p:spTree>
    <p:extLst>
      <p:ext uri="{BB962C8B-B14F-4D97-AF65-F5344CB8AC3E}">
        <p14:creationId xmlns:p14="http://schemas.microsoft.com/office/powerpoint/2010/main" val="3846015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a:r>
              <a:rPr kumimoji="1" lang="ja-JP" altLang="en-US" sz="1200" b="0" i="0" u="none" strike="noStrike" kern="1200" dirty="0">
                <a:solidFill>
                  <a:schemeClr val="tx1"/>
                </a:solidFill>
                <a:effectLst/>
                <a:latin typeface="+mn-lt"/>
                <a:ea typeface="+mn-ea"/>
                <a:cs typeface="+mn-cs"/>
              </a:rPr>
              <a:t>本研究では、ユーザがウェブサイト上で誰でも小説を書いて投稿し、読むことができるウェブ小説投稿サイトについて、何らかの原因により作品が未完結のまま連載中断してしまう、所謂「エタる」という現象に着目し、小説がエタるか否かを予測できるのではないかと考えました。</a:t>
            </a:r>
            <a:endParaRPr lang="ja-JP" altLang="en-US" b="0" dirty="0">
              <a:effectLst/>
            </a:endParaRPr>
          </a:p>
          <a:p>
            <a:pPr rtl="0"/>
            <a:r>
              <a:rPr kumimoji="1" lang="ja-JP" altLang="en-US" sz="1200" b="0" i="0" u="none" strike="noStrike" kern="1200" dirty="0">
                <a:solidFill>
                  <a:schemeClr val="tx1"/>
                </a:solidFill>
                <a:effectLst/>
                <a:latin typeface="+mn-lt"/>
                <a:ea typeface="+mn-ea"/>
                <a:cs typeface="+mn-cs"/>
              </a:rPr>
              <a:t>作品がエタることは、ユーザの執筆継続における課題であることに加え、読者が読んでいる小説がエタったときに失望感を与えることも問題とされています。</a:t>
            </a:r>
            <a:endParaRPr lang="ja-JP" altLang="en-US" b="0" dirty="0">
              <a:effectLst/>
            </a:endParaRP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2</a:t>
            </a:fld>
            <a:endParaRPr kumimoji="1" lang="ja-JP" altLang="en-US"/>
          </a:p>
        </p:txBody>
      </p:sp>
    </p:spTree>
    <p:extLst>
      <p:ext uri="{BB962C8B-B14F-4D97-AF65-F5344CB8AC3E}">
        <p14:creationId xmlns:p14="http://schemas.microsoft.com/office/powerpoint/2010/main" val="232284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a:r>
              <a:rPr kumimoji="1" lang="ja-JP" altLang="en-US" sz="1200" b="0" i="0" u="none" strike="noStrike" kern="1200" dirty="0">
                <a:solidFill>
                  <a:schemeClr val="tx1"/>
                </a:solidFill>
                <a:effectLst/>
                <a:latin typeface="+mn-lt"/>
                <a:ea typeface="+mn-ea"/>
                <a:cs typeface="+mn-cs"/>
              </a:rPr>
              <a:t>まず、本研究の研究対象の作品の掲載元であるウェブ小説投稿サイト、「小説家になろう」について紹介します。</a:t>
            </a:r>
            <a:endParaRPr lang="ja-JP" altLang="en-US" b="0" dirty="0">
              <a:effectLst/>
            </a:endParaRPr>
          </a:p>
          <a:p>
            <a:pPr rtl="0"/>
            <a:r>
              <a:rPr kumimoji="1" lang="ja-JP" altLang="en-US" sz="1200" b="0" i="0" u="none" strike="noStrike" kern="1200" dirty="0">
                <a:solidFill>
                  <a:schemeClr val="tx1"/>
                </a:solidFill>
                <a:effectLst/>
                <a:latin typeface="+mn-lt"/>
                <a:ea typeface="+mn-ea"/>
                <a:cs typeface="+mn-cs"/>
              </a:rPr>
              <a:t>小説家になろうは国内最大級のウェブ小説投稿サイトであり、</a:t>
            </a:r>
            <a:r>
              <a:rPr kumimoji="1" lang="en-US" altLang="ja-JP" sz="1200" b="0" i="0" u="none" strike="noStrike" kern="1200" dirty="0">
                <a:solidFill>
                  <a:schemeClr val="tx1"/>
                </a:solidFill>
                <a:effectLst/>
                <a:latin typeface="+mn-lt"/>
                <a:ea typeface="+mn-ea"/>
                <a:cs typeface="+mn-cs"/>
              </a:rPr>
              <a:t>2025</a:t>
            </a:r>
            <a:r>
              <a:rPr kumimoji="1" lang="ja-JP" altLang="en-US" sz="1200" b="0" i="0" u="none" strike="noStrike" kern="1200" dirty="0">
                <a:solidFill>
                  <a:schemeClr val="tx1"/>
                </a:solidFill>
                <a:effectLst/>
                <a:latin typeface="+mn-lt"/>
                <a:ea typeface="+mn-ea"/>
                <a:cs typeface="+mn-cs"/>
              </a:rPr>
              <a:t>年</a:t>
            </a:r>
            <a:r>
              <a:rPr kumimoji="1" lang="en-US" altLang="ja-JP" sz="1200" b="0" i="0" u="none" strike="noStrike" kern="1200" dirty="0">
                <a:solidFill>
                  <a:schemeClr val="tx1"/>
                </a:solidFill>
                <a:effectLst/>
                <a:latin typeface="+mn-lt"/>
                <a:ea typeface="+mn-ea"/>
                <a:cs typeface="+mn-cs"/>
              </a:rPr>
              <a:t>9</a:t>
            </a:r>
            <a:r>
              <a:rPr kumimoji="1" lang="ja-JP" altLang="en-US" sz="1200" b="0" i="0" u="none" strike="noStrike" kern="1200" dirty="0">
                <a:solidFill>
                  <a:schemeClr val="tx1"/>
                </a:solidFill>
                <a:effectLst/>
                <a:latin typeface="+mn-lt"/>
                <a:ea typeface="+mn-ea"/>
                <a:cs typeface="+mn-cs"/>
              </a:rPr>
              <a:t>月時点で作品掲載数は約</a:t>
            </a:r>
            <a:r>
              <a:rPr kumimoji="1" lang="en-US" altLang="ja-JP" sz="1200" b="0" i="0" u="none" strike="noStrike" kern="1200" dirty="0">
                <a:solidFill>
                  <a:schemeClr val="tx1"/>
                </a:solidFill>
                <a:effectLst/>
                <a:latin typeface="+mn-lt"/>
                <a:ea typeface="+mn-ea"/>
                <a:cs typeface="+mn-cs"/>
              </a:rPr>
              <a:t>120</a:t>
            </a:r>
            <a:r>
              <a:rPr kumimoji="1" lang="ja-JP" altLang="en-US" sz="1200" b="0" i="0" u="none" strike="noStrike" kern="1200" dirty="0">
                <a:solidFill>
                  <a:schemeClr val="tx1"/>
                </a:solidFill>
                <a:effectLst/>
                <a:latin typeface="+mn-lt"/>
                <a:ea typeface="+mn-ea"/>
                <a:cs typeface="+mn-cs"/>
              </a:rPr>
              <a:t>万作品、 登録ユーザ数は約</a:t>
            </a:r>
            <a:r>
              <a:rPr kumimoji="1" lang="en-US" altLang="ja-JP" sz="1200" b="0" i="0" u="none" strike="noStrike" kern="1200" dirty="0">
                <a:solidFill>
                  <a:schemeClr val="tx1"/>
                </a:solidFill>
                <a:effectLst/>
                <a:latin typeface="+mn-lt"/>
                <a:ea typeface="+mn-ea"/>
                <a:cs typeface="+mn-cs"/>
              </a:rPr>
              <a:t>280</a:t>
            </a:r>
            <a:r>
              <a:rPr kumimoji="1" lang="ja-JP" altLang="en-US" sz="1200" b="0" i="0" u="none" strike="noStrike" kern="1200" dirty="0">
                <a:solidFill>
                  <a:schemeClr val="tx1"/>
                </a:solidFill>
                <a:effectLst/>
                <a:latin typeface="+mn-lt"/>
                <a:ea typeface="+mn-ea"/>
                <a:cs typeface="+mn-cs"/>
              </a:rPr>
              <a:t>万人です。</a:t>
            </a:r>
            <a:endParaRPr lang="ja-JP" altLang="en-US" b="0" dirty="0">
              <a:effectLst/>
            </a:endParaRPr>
          </a:p>
          <a:p>
            <a:pPr rtl="0"/>
            <a:r>
              <a:rPr kumimoji="1" lang="ja-JP" altLang="en-US" sz="1200" b="0" i="0" u="none" strike="noStrike" kern="1200" dirty="0">
                <a:solidFill>
                  <a:schemeClr val="tx1"/>
                </a:solidFill>
                <a:effectLst/>
                <a:latin typeface="+mn-lt"/>
                <a:ea typeface="+mn-ea"/>
                <a:cs typeface="+mn-cs"/>
              </a:rPr>
              <a:t>また、私が確認できた中では国内のウェブ小説投稿サイトの中で唯一運営が</a:t>
            </a:r>
            <a:r>
              <a:rPr kumimoji="1" lang="en-US" altLang="ja-JP" sz="1200" b="0" i="0" u="none" strike="noStrike" kern="1200" dirty="0">
                <a:solidFill>
                  <a:schemeClr val="tx1"/>
                </a:solidFill>
                <a:effectLst/>
                <a:latin typeface="+mn-lt"/>
                <a:ea typeface="+mn-ea"/>
                <a:cs typeface="+mn-cs"/>
              </a:rPr>
              <a:t>API</a:t>
            </a:r>
            <a:r>
              <a:rPr kumimoji="1" lang="ja-JP" altLang="en-US" sz="1200" b="0" i="0" u="none" strike="noStrike" kern="1200" dirty="0">
                <a:solidFill>
                  <a:schemeClr val="tx1"/>
                </a:solidFill>
                <a:effectLst/>
                <a:latin typeface="+mn-lt"/>
                <a:ea typeface="+mn-ea"/>
                <a:cs typeface="+mn-cs"/>
              </a:rPr>
              <a:t>を配布し、小説データを電子的に取得することができるサイトです。</a:t>
            </a:r>
            <a:endParaRPr lang="ja-JP" altLang="en-US" b="0" dirty="0">
              <a:effectLst/>
            </a:endParaRP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3</a:t>
            </a:fld>
            <a:endParaRPr kumimoji="1" lang="ja-JP" altLang="en-US"/>
          </a:p>
        </p:txBody>
      </p:sp>
    </p:spTree>
    <p:extLst>
      <p:ext uri="{BB962C8B-B14F-4D97-AF65-F5344CB8AC3E}">
        <p14:creationId xmlns:p14="http://schemas.microsoft.com/office/powerpoint/2010/main" val="2849431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a:r>
              <a:rPr kumimoji="1" lang="ja-JP" altLang="en-US" sz="1200" b="0" i="0" u="none" strike="noStrike" kern="1200" dirty="0">
                <a:solidFill>
                  <a:schemeClr val="tx1"/>
                </a:solidFill>
                <a:effectLst/>
                <a:latin typeface="+mn-lt"/>
                <a:ea typeface="+mn-ea"/>
                <a:cs typeface="+mn-cs"/>
              </a:rPr>
              <a:t>これまでにもウェブ小説を題材とした研究は行われており、本田らの研究では、小説家になろう作品内のキーワードデータを用いることにより</a:t>
            </a:r>
            <a:r>
              <a:rPr kumimoji="1" lang="ja-JP" altLang="en-US" sz="1200" b="0" i="0" u="none" strike="noStrike" kern="1200">
                <a:solidFill>
                  <a:schemeClr val="tx1"/>
                </a:solidFill>
                <a:effectLst/>
                <a:latin typeface="+mn-lt"/>
                <a:ea typeface="+mn-ea"/>
                <a:cs typeface="+mn-cs"/>
              </a:rPr>
              <a:t>、作品キーワード多様性</a:t>
            </a:r>
            <a:r>
              <a:rPr kumimoji="1" lang="ja-JP" altLang="en-US" sz="1200" b="0" i="0" u="none" strike="noStrike" kern="1200" dirty="0">
                <a:solidFill>
                  <a:schemeClr val="tx1"/>
                </a:solidFill>
                <a:effectLst/>
                <a:latin typeface="+mn-lt"/>
                <a:ea typeface="+mn-ea"/>
                <a:cs typeface="+mn-cs"/>
              </a:rPr>
              <a:t>が期間全体を通して緩やかな減少傾向にあることを定量的に示し、近年の小説が流行りに乗ったものが多くなってきていると述べました。</a:t>
            </a:r>
            <a:endParaRPr lang="ja-JP" altLang="en-US" b="0" dirty="0">
              <a:effectLst/>
            </a:endParaRPr>
          </a:p>
          <a:p>
            <a:pPr rtl="0"/>
            <a:r>
              <a:rPr kumimoji="1" lang="ja-JP" altLang="en-US" sz="1200" b="0" i="0" u="none" strike="noStrike" kern="1200" dirty="0">
                <a:solidFill>
                  <a:schemeClr val="tx1"/>
                </a:solidFill>
                <a:effectLst/>
                <a:latin typeface="+mn-lt"/>
                <a:ea typeface="+mn-ea"/>
                <a:cs typeface="+mn-cs"/>
              </a:rPr>
              <a:t>堺らの研究では、小説家になろうのあらすじを対象とし、特定期間の単語の意味を考慮した流行語の抽出に成功しました。</a:t>
            </a:r>
            <a:endParaRPr lang="ja-JP" altLang="en-US" b="0" dirty="0">
              <a:effectLst/>
            </a:endParaRP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4</a:t>
            </a:fld>
            <a:endParaRPr kumimoji="1" lang="ja-JP" altLang="en-US"/>
          </a:p>
        </p:txBody>
      </p:sp>
    </p:spTree>
    <p:extLst>
      <p:ext uri="{BB962C8B-B14F-4D97-AF65-F5344CB8AC3E}">
        <p14:creationId xmlns:p14="http://schemas.microsoft.com/office/powerpoint/2010/main" val="2897545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a:r>
              <a:rPr kumimoji="1" lang="ja-JP" altLang="en-US" sz="1200" b="0" i="0" u="none" strike="noStrike" kern="1200" dirty="0">
                <a:solidFill>
                  <a:schemeClr val="tx1"/>
                </a:solidFill>
                <a:effectLst/>
                <a:latin typeface="+mn-lt"/>
                <a:ea typeface="+mn-ea"/>
                <a:cs typeface="+mn-cs"/>
              </a:rPr>
              <a:t>しかし小説の継続可能性に焦点をおいた研究はまだ多くありません。</a:t>
            </a:r>
            <a:endParaRPr lang="ja-JP" altLang="en-US" b="0" dirty="0">
              <a:effectLst/>
            </a:endParaRPr>
          </a:p>
          <a:p>
            <a:pPr rtl="0"/>
            <a:r>
              <a:rPr kumimoji="1" lang="ja-JP" altLang="en-US" sz="1200" b="0" i="0" u="none" strike="noStrike" kern="1200" dirty="0">
                <a:solidFill>
                  <a:schemeClr val="tx1"/>
                </a:solidFill>
                <a:effectLst/>
                <a:latin typeface="+mn-lt"/>
                <a:ea typeface="+mn-ea"/>
                <a:cs typeface="+mn-cs"/>
              </a:rPr>
              <a:t>そこで本研究では、小説家になろうが提供するメタデータを利用したウェブ小説の連載中断を予測するモデルの構築を目的としました。</a:t>
            </a:r>
            <a:endParaRPr kumimoji="1" lang="en-US" altLang="ja-JP" sz="1200" b="0" i="0" u="none" strike="noStrike" kern="1200" dirty="0">
              <a:solidFill>
                <a:schemeClr val="tx1"/>
              </a:solidFill>
              <a:effectLst/>
              <a:latin typeface="+mn-lt"/>
              <a:ea typeface="+mn-ea"/>
              <a:cs typeface="+mn-cs"/>
            </a:endParaRPr>
          </a:p>
          <a:p>
            <a:pPr rtl="0"/>
            <a:r>
              <a:rPr kumimoji="1" lang="ja-JP" altLang="en-US" sz="1200" b="0" i="0" u="none" strike="noStrike" kern="1200" dirty="0">
                <a:solidFill>
                  <a:schemeClr val="tx1"/>
                </a:solidFill>
                <a:effectLst/>
                <a:latin typeface="+mn-lt"/>
                <a:ea typeface="+mn-ea"/>
                <a:cs typeface="+mn-cs"/>
              </a:rPr>
              <a:t>小説家になろうで取得できるのは作品のメタデータのみであり、一度に取得できる件数にも制限があるため、メタデータのみを用いた分析を目標としました。</a:t>
            </a:r>
            <a:endParaRPr kumimoji="1" lang="en-US" altLang="ja-JP"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dirty="0">
                <a:solidFill>
                  <a:schemeClr val="tx1"/>
                </a:solidFill>
                <a:effectLst/>
                <a:latin typeface="+mn-lt"/>
                <a:ea typeface="+mn-ea"/>
                <a:cs typeface="+mn-cs"/>
              </a:rPr>
              <a:t>また、本研究では「エタる」の定義を「未完結かつ最終更新から</a:t>
            </a:r>
            <a:r>
              <a:rPr kumimoji="1" lang="en-US" altLang="ja-JP" sz="1200" b="0" i="0" u="none" strike="noStrike" kern="1200" dirty="0">
                <a:solidFill>
                  <a:schemeClr val="tx1"/>
                </a:solidFill>
                <a:effectLst/>
                <a:latin typeface="+mn-lt"/>
                <a:ea typeface="+mn-ea"/>
                <a:cs typeface="+mn-cs"/>
              </a:rPr>
              <a:t>1</a:t>
            </a:r>
            <a:r>
              <a:rPr kumimoji="1" lang="ja-JP" altLang="en-US" sz="1200" b="0" i="0" u="none" strike="noStrike" kern="1200" dirty="0">
                <a:solidFill>
                  <a:schemeClr val="tx1"/>
                </a:solidFill>
                <a:effectLst/>
                <a:latin typeface="+mn-lt"/>
                <a:ea typeface="+mn-ea"/>
                <a:cs typeface="+mn-cs"/>
              </a:rPr>
              <a:t>年以上経過する」とし、エタった作品と完結済みの作品のみをデータセットに含め、</a:t>
            </a:r>
            <a:r>
              <a:rPr kumimoji="1" lang="en-US" altLang="ja-JP" sz="1200" b="0" i="0" u="none" strike="noStrike" kern="1200" dirty="0">
                <a:solidFill>
                  <a:schemeClr val="tx1"/>
                </a:solidFill>
                <a:effectLst/>
                <a:latin typeface="+mn-lt"/>
                <a:ea typeface="+mn-ea"/>
                <a:cs typeface="+mn-cs"/>
              </a:rPr>
              <a:t>1</a:t>
            </a:r>
            <a:r>
              <a:rPr kumimoji="1" lang="ja-JP" altLang="en-US" sz="1200" b="0" i="0" u="none" strike="noStrike" kern="1200" dirty="0">
                <a:solidFill>
                  <a:schemeClr val="tx1"/>
                </a:solidFill>
                <a:effectLst/>
                <a:latin typeface="+mn-lt"/>
                <a:ea typeface="+mn-ea"/>
                <a:cs typeface="+mn-cs"/>
              </a:rPr>
              <a:t>年以内に更新されている連載中の作品と短編作品は除外しました。</a:t>
            </a:r>
            <a:endParaRPr lang="ja-JP" altLang="en-US" b="0" dirty="0">
              <a:effectLst/>
            </a:endParaRP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5</a:t>
            </a:fld>
            <a:endParaRPr kumimoji="1" lang="ja-JP" altLang="en-US"/>
          </a:p>
        </p:txBody>
      </p:sp>
    </p:spTree>
    <p:extLst>
      <p:ext uri="{BB962C8B-B14F-4D97-AF65-F5344CB8AC3E}">
        <p14:creationId xmlns:p14="http://schemas.microsoft.com/office/powerpoint/2010/main" val="3590406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a:r>
              <a:rPr kumimoji="1" lang="ja-JP" altLang="en-US" sz="1200" b="0" i="0" u="none" strike="noStrike" kern="1200" dirty="0">
                <a:solidFill>
                  <a:schemeClr val="tx1"/>
                </a:solidFill>
                <a:effectLst/>
                <a:latin typeface="+mn-lt"/>
                <a:ea typeface="+mn-ea"/>
                <a:cs typeface="+mn-cs"/>
              </a:rPr>
              <a:t>メタデータの取得については、指定可能な全ジャンルそれぞれにおいて、</a:t>
            </a:r>
            <a:r>
              <a:rPr kumimoji="1" lang="en-US" altLang="ja-JP" sz="1200" b="0" i="0" u="none" strike="noStrike" kern="1200" dirty="0">
                <a:solidFill>
                  <a:schemeClr val="tx1"/>
                </a:solidFill>
                <a:effectLst/>
                <a:latin typeface="+mn-lt"/>
                <a:ea typeface="+mn-ea"/>
                <a:cs typeface="+mn-cs"/>
              </a:rPr>
              <a:t>20</a:t>
            </a:r>
            <a:r>
              <a:rPr kumimoji="1" lang="ja-JP" altLang="en-US" sz="1200" b="0" i="0" u="none" strike="noStrike" kern="1200" dirty="0">
                <a:solidFill>
                  <a:schemeClr val="tx1"/>
                </a:solidFill>
                <a:effectLst/>
                <a:latin typeface="+mn-lt"/>
                <a:ea typeface="+mn-ea"/>
                <a:cs typeface="+mn-cs"/>
              </a:rPr>
              <a:t>種類のソート条件を適用し、</a:t>
            </a:r>
            <a:r>
              <a:rPr kumimoji="1" lang="en-US" altLang="ja-JP" sz="1200" b="0" i="0" u="none" strike="noStrike" kern="1200" dirty="0">
                <a:solidFill>
                  <a:schemeClr val="tx1"/>
                </a:solidFill>
                <a:effectLst/>
                <a:latin typeface="+mn-lt"/>
                <a:ea typeface="+mn-ea"/>
                <a:cs typeface="+mn-cs"/>
              </a:rPr>
              <a:t>1</a:t>
            </a:r>
            <a:r>
              <a:rPr kumimoji="1" lang="ja-JP" altLang="en-US" sz="1200" b="0" i="0" u="none" strike="noStrike" kern="1200" dirty="0">
                <a:solidFill>
                  <a:schemeClr val="tx1"/>
                </a:solidFill>
                <a:effectLst/>
                <a:latin typeface="+mn-lt"/>
                <a:ea typeface="+mn-ea"/>
                <a:cs typeface="+mn-cs"/>
              </a:rPr>
              <a:t>つのソート条件毎に</a:t>
            </a:r>
            <a:r>
              <a:rPr kumimoji="1" lang="en-US" altLang="ja-JP" sz="1200" b="0" i="0" u="none" strike="noStrike" kern="1200" dirty="0">
                <a:solidFill>
                  <a:schemeClr val="tx1"/>
                </a:solidFill>
                <a:effectLst/>
                <a:latin typeface="+mn-lt"/>
                <a:ea typeface="+mn-ea"/>
                <a:cs typeface="+mn-cs"/>
              </a:rPr>
              <a:t>2000</a:t>
            </a:r>
            <a:r>
              <a:rPr kumimoji="1" lang="ja-JP" altLang="en-US" sz="1200" b="0" i="0" u="none" strike="noStrike" kern="1200" dirty="0">
                <a:solidFill>
                  <a:schemeClr val="tx1"/>
                </a:solidFill>
                <a:effectLst/>
                <a:latin typeface="+mn-lt"/>
                <a:ea typeface="+mn-ea"/>
                <a:cs typeface="+mn-cs"/>
              </a:rPr>
              <a:t>件のデータを取得後、重複を削除したものをデータセットとしました。</a:t>
            </a:r>
            <a:endParaRPr kumimoji="1" lang="en-US" altLang="ja-JP" sz="1200" b="0" i="0" u="none" strike="noStrike" kern="1200" dirty="0">
              <a:solidFill>
                <a:schemeClr val="tx1"/>
              </a:solidFill>
              <a:effectLst/>
              <a:latin typeface="+mn-lt"/>
              <a:ea typeface="+mn-ea"/>
              <a:cs typeface="+mn-cs"/>
            </a:endParaRPr>
          </a:p>
          <a:p>
            <a:pPr rtl="0"/>
            <a:r>
              <a:rPr lang="ja-JP" altLang="en-US" b="0" dirty="0">
                <a:effectLst/>
              </a:rPr>
              <a:t>作成したデータセットの中身を表にまとめました。</a:t>
            </a: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6</a:t>
            </a:fld>
            <a:endParaRPr kumimoji="1" lang="ja-JP" altLang="en-US"/>
          </a:p>
        </p:txBody>
      </p:sp>
    </p:spTree>
    <p:extLst>
      <p:ext uri="{BB962C8B-B14F-4D97-AF65-F5344CB8AC3E}">
        <p14:creationId xmlns:p14="http://schemas.microsoft.com/office/powerpoint/2010/main" val="3349124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a:r>
              <a:rPr kumimoji="1" lang="ja-JP" altLang="en-US" sz="1200" b="0" i="0" u="none" strike="noStrike" kern="1200" dirty="0">
                <a:solidFill>
                  <a:schemeClr val="tx1"/>
                </a:solidFill>
                <a:effectLst/>
                <a:latin typeface="+mn-lt"/>
                <a:ea typeface="+mn-ea"/>
                <a:cs typeface="+mn-cs"/>
              </a:rPr>
              <a:t>データセットの内訳は表のとおりです。</a:t>
            </a:r>
            <a:endParaRPr lang="ja-JP" altLang="en-US" b="0" dirty="0">
              <a:effectLst/>
            </a:endParaRPr>
          </a:p>
          <a:p>
            <a:pPr rtl="0"/>
            <a:r>
              <a:rPr kumimoji="1" lang="ja-JP" altLang="en-US" sz="1200" b="0" i="0" u="none" strike="noStrike" kern="1200" dirty="0">
                <a:solidFill>
                  <a:schemeClr val="tx1"/>
                </a:solidFill>
                <a:effectLst/>
                <a:latin typeface="+mn-lt"/>
                <a:ea typeface="+mn-ea"/>
                <a:cs typeface="+mn-cs"/>
              </a:rPr>
              <a:t>「エタった作品」を正例としてラベルを付与し各ジャンルごとの作品数に対するエタった作品数の割合を算出しました。</a:t>
            </a:r>
            <a:endParaRPr lang="ja-JP" altLang="en-US" b="0" dirty="0">
              <a:effectLst/>
            </a:endParaRPr>
          </a:p>
          <a:p>
            <a:pPr rtl="0"/>
            <a:r>
              <a:rPr kumimoji="1" lang="ja-JP" altLang="en-US" sz="1200" b="0" i="0" u="none" strike="noStrike" kern="1200" dirty="0">
                <a:solidFill>
                  <a:schemeClr val="tx1"/>
                </a:solidFill>
                <a:effectLst/>
                <a:latin typeface="+mn-lt"/>
                <a:ea typeface="+mn-ea"/>
                <a:cs typeface="+mn-cs"/>
              </a:rPr>
              <a:t>全体の作品総数は</a:t>
            </a:r>
            <a:r>
              <a:rPr kumimoji="1" lang="en-US" altLang="ja-JP" sz="1200" b="0" i="0" u="none" strike="noStrike" kern="1200" dirty="0">
                <a:solidFill>
                  <a:schemeClr val="tx1"/>
                </a:solidFill>
                <a:effectLst/>
                <a:latin typeface="+mn-lt"/>
                <a:ea typeface="+mn-ea"/>
                <a:cs typeface="+mn-cs"/>
              </a:rPr>
              <a:t>116,603</a:t>
            </a:r>
            <a:r>
              <a:rPr kumimoji="1" lang="ja-JP" altLang="en-US" sz="1200" b="0" i="0" u="none" strike="noStrike" kern="1200" dirty="0">
                <a:solidFill>
                  <a:schemeClr val="tx1"/>
                </a:solidFill>
                <a:effectLst/>
                <a:latin typeface="+mn-lt"/>
                <a:ea typeface="+mn-ea"/>
                <a:cs typeface="+mn-cs"/>
              </a:rPr>
              <a:t>件、そのうちエタった作品の割合は約</a:t>
            </a:r>
            <a:r>
              <a:rPr kumimoji="1" lang="en-US" altLang="ja-JP" sz="1200" b="0" i="0" u="none" strike="noStrike" kern="1200" dirty="0">
                <a:solidFill>
                  <a:schemeClr val="tx1"/>
                </a:solidFill>
                <a:effectLst/>
                <a:latin typeface="+mn-lt"/>
                <a:ea typeface="+mn-ea"/>
                <a:cs typeface="+mn-cs"/>
              </a:rPr>
              <a:t>35%</a:t>
            </a:r>
            <a:r>
              <a:rPr kumimoji="1" lang="ja-JP" altLang="en-US" sz="1200" b="0" i="0" u="none" strike="noStrike" kern="1200" dirty="0">
                <a:solidFill>
                  <a:schemeClr val="tx1"/>
                </a:solidFill>
                <a:effectLst/>
                <a:latin typeface="+mn-lt"/>
                <a:ea typeface="+mn-ea"/>
                <a:cs typeface="+mn-cs"/>
              </a:rPr>
              <a:t>となりました。</a:t>
            </a:r>
            <a:endParaRPr lang="ja-JP" altLang="en-US" b="0" dirty="0">
              <a:effectLst/>
            </a:endParaRP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7</a:t>
            </a:fld>
            <a:endParaRPr kumimoji="1" lang="ja-JP" altLang="en-US"/>
          </a:p>
        </p:txBody>
      </p:sp>
    </p:spTree>
    <p:extLst>
      <p:ext uri="{BB962C8B-B14F-4D97-AF65-F5344CB8AC3E}">
        <p14:creationId xmlns:p14="http://schemas.microsoft.com/office/powerpoint/2010/main" val="49634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a:r>
              <a:rPr kumimoji="1" lang="ja-JP" altLang="en-US" sz="1200" b="0" i="0" u="none" strike="noStrike" kern="1200" dirty="0">
                <a:solidFill>
                  <a:schemeClr val="tx1"/>
                </a:solidFill>
                <a:effectLst/>
                <a:latin typeface="+mn-lt"/>
                <a:ea typeface="+mn-ea"/>
                <a:cs typeface="+mn-cs"/>
              </a:rPr>
              <a:t>本研究では、以下の</a:t>
            </a:r>
            <a:r>
              <a:rPr kumimoji="1" lang="en-US" altLang="ja-JP" sz="1200" b="0" i="0" u="none" strike="noStrike" kern="1200" dirty="0">
                <a:solidFill>
                  <a:schemeClr val="tx1"/>
                </a:solidFill>
                <a:effectLst/>
                <a:latin typeface="+mn-lt"/>
                <a:ea typeface="+mn-ea"/>
                <a:cs typeface="+mn-cs"/>
              </a:rPr>
              <a:t>2</a:t>
            </a:r>
            <a:r>
              <a:rPr kumimoji="1" lang="ja-JP" altLang="en-US" sz="1200" b="0" i="0" u="none" strike="noStrike" kern="1200" dirty="0">
                <a:solidFill>
                  <a:schemeClr val="tx1"/>
                </a:solidFill>
                <a:effectLst/>
                <a:latin typeface="+mn-lt"/>
                <a:ea typeface="+mn-ea"/>
                <a:cs typeface="+mn-cs"/>
              </a:rPr>
              <a:t>つの分析手法を採用しました。</a:t>
            </a:r>
            <a:endParaRPr lang="ja-JP" altLang="en-US" b="0" dirty="0">
              <a:effectLst/>
            </a:endParaRPr>
          </a:p>
          <a:p>
            <a:pPr rtl="0"/>
            <a:r>
              <a:rPr kumimoji="1" lang="ja-JP" altLang="en-US" sz="1200" b="0" i="0" u="none" strike="noStrike" kern="1200" dirty="0">
                <a:solidFill>
                  <a:schemeClr val="tx1"/>
                </a:solidFill>
                <a:effectLst/>
                <a:latin typeface="+mn-lt"/>
                <a:ea typeface="+mn-ea"/>
                <a:cs typeface="+mn-cs"/>
              </a:rPr>
              <a:t>まず、作品文字数、ブックマーク数、総合評価ポイント、作品話数、更新頻度、キーワード数の６つの量的なメタデータのみを特徴量として連載中断との関係性を分析しました。</a:t>
            </a:r>
            <a:endParaRPr kumimoji="1" lang="en-US" altLang="ja-JP" sz="1200" b="0" i="0" u="none" strike="noStrike" kern="1200" dirty="0">
              <a:solidFill>
                <a:schemeClr val="tx1"/>
              </a:solidFill>
              <a:effectLst/>
              <a:latin typeface="+mn-lt"/>
              <a:ea typeface="+mn-ea"/>
              <a:cs typeface="+mn-cs"/>
            </a:endParaRPr>
          </a:p>
          <a:p>
            <a:pPr rtl="0"/>
            <a:r>
              <a:rPr kumimoji="1" lang="ja-JP" altLang="en-US" sz="1200" b="0" i="0" u="none" strike="noStrike" kern="1200" dirty="0">
                <a:solidFill>
                  <a:schemeClr val="tx1"/>
                </a:solidFill>
                <a:effectLst/>
                <a:latin typeface="+mn-lt"/>
                <a:ea typeface="+mn-ea"/>
                <a:cs typeface="+mn-cs"/>
              </a:rPr>
              <a:t>次に、質的メタデータであるあらすじに対して</a:t>
            </a:r>
            <a:r>
              <a:rPr kumimoji="1" lang="en-US" altLang="ja-JP" sz="1200" b="0" i="0" u="none" strike="noStrike" kern="1200" dirty="0">
                <a:solidFill>
                  <a:schemeClr val="tx1"/>
                </a:solidFill>
                <a:effectLst/>
                <a:latin typeface="+mn-lt"/>
                <a:ea typeface="+mn-ea"/>
                <a:cs typeface="+mn-cs"/>
              </a:rPr>
              <a:t>Janome</a:t>
            </a:r>
            <a:r>
              <a:rPr kumimoji="1" lang="ja-JP" altLang="en-US" sz="1200" b="0" i="0" u="none" strike="noStrike" kern="1200" dirty="0">
                <a:solidFill>
                  <a:schemeClr val="tx1"/>
                </a:solidFill>
                <a:effectLst/>
                <a:latin typeface="+mn-lt"/>
                <a:ea typeface="+mn-ea"/>
                <a:cs typeface="+mn-cs"/>
              </a:rPr>
              <a:t>を用いて形態素解析を行い、</a:t>
            </a:r>
            <a:r>
              <a:rPr kumimoji="1" lang="en-US" altLang="ja-JP" sz="1200" b="0" i="0" u="none" strike="noStrike" kern="1200" dirty="0">
                <a:solidFill>
                  <a:schemeClr val="tx1"/>
                </a:solidFill>
                <a:effectLst/>
                <a:latin typeface="+mn-lt"/>
                <a:ea typeface="+mn-ea"/>
                <a:cs typeface="+mn-cs"/>
              </a:rPr>
              <a:t>TF-IDF</a:t>
            </a:r>
            <a:r>
              <a:rPr kumimoji="1" lang="ja-JP" altLang="en-US" sz="1200" b="0" i="0" u="none" strike="noStrike" kern="1200" dirty="0">
                <a:solidFill>
                  <a:schemeClr val="tx1"/>
                </a:solidFill>
                <a:effectLst/>
                <a:latin typeface="+mn-lt"/>
                <a:ea typeface="+mn-ea"/>
                <a:cs typeface="+mn-cs"/>
              </a:rPr>
              <a:t>でベクトリングを行うことで特徴量を抽出し、分析を行いました。</a:t>
            </a:r>
            <a:endParaRPr lang="ja-JP" altLang="en-US" b="0" dirty="0">
              <a:effectLst/>
            </a:endParaRP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8</a:t>
            </a:fld>
            <a:endParaRPr kumimoji="1" lang="ja-JP" altLang="en-US"/>
          </a:p>
        </p:txBody>
      </p:sp>
    </p:spTree>
    <p:extLst>
      <p:ext uri="{BB962C8B-B14F-4D97-AF65-F5344CB8AC3E}">
        <p14:creationId xmlns:p14="http://schemas.microsoft.com/office/powerpoint/2010/main" val="3201593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分析</a:t>
            </a:r>
            <a:r>
              <a:rPr kumimoji="1" lang="en-US" altLang="ja-JP" dirty="0"/>
              <a:t>1</a:t>
            </a:r>
            <a:r>
              <a:rPr kumimoji="1" lang="ja-JP" altLang="en-US" dirty="0"/>
              <a:t>について、各モデルで</a:t>
            </a:r>
            <a:r>
              <a:rPr kumimoji="1" lang="en-US" altLang="ja-JP" dirty="0"/>
              <a:t>5</a:t>
            </a:r>
            <a:r>
              <a:rPr kumimoji="1" lang="ja-JP" altLang="en-US" dirty="0"/>
              <a:t>分割交差検証を行った結果の性能平均と結果における特徴量重要度をまとめました。</a:t>
            </a: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9</a:t>
            </a:fld>
            <a:endParaRPr kumimoji="1" lang="ja-JP" altLang="en-US"/>
          </a:p>
        </p:txBody>
      </p:sp>
    </p:spTree>
    <p:extLst>
      <p:ext uri="{BB962C8B-B14F-4D97-AF65-F5344CB8AC3E}">
        <p14:creationId xmlns:p14="http://schemas.microsoft.com/office/powerpoint/2010/main" val="4176793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両モデルの性能がほぼ同等である反面、再現率が低い結果となりました。</a:t>
            </a:r>
            <a:endParaRPr kumimoji="1" lang="en-US" altLang="ja-JP" dirty="0"/>
          </a:p>
          <a:p>
            <a:r>
              <a:rPr kumimoji="1" lang="ja-JP" altLang="en-US" dirty="0"/>
              <a:t>これは「実際にエタっている作品をモデルが見抜いた割合が比較的低い」ということを示しています。</a:t>
            </a:r>
            <a:endParaRPr kumimoji="1" lang="en-US" altLang="ja-JP" dirty="0"/>
          </a:p>
          <a:p>
            <a:r>
              <a:rPr kumimoji="1" lang="ja-JP" altLang="en-US" dirty="0"/>
              <a:t>また、特徴量重要度の上位</a:t>
            </a:r>
            <a:r>
              <a:rPr kumimoji="1" lang="en-US" altLang="ja-JP" dirty="0"/>
              <a:t>3</a:t>
            </a:r>
            <a:r>
              <a:rPr kumimoji="1" lang="ja-JP" altLang="en-US" dirty="0"/>
              <a:t>つは両モデルで同じであり、共通の特徴量が重要であると判断されました。</a:t>
            </a: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10</a:t>
            </a:fld>
            <a:endParaRPr kumimoji="1" lang="ja-JP" altLang="en-US"/>
          </a:p>
        </p:txBody>
      </p:sp>
    </p:spTree>
    <p:extLst>
      <p:ext uri="{BB962C8B-B14F-4D97-AF65-F5344CB8AC3E}">
        <p14:creationId xmlns:p14="http://schemas.microsoft.com/office/powerpoint/2010/main" val="2408742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次に分析</a:t>
            </a:r>
            <a:r>
              <a:rPr kumimoji="1" lang="en-US" altLang="ja-JP" dirty="0"/>
              <a:t>2</a:t>
            </a:r>
            <a:r>
              <a:rPr kumimoji="1" lang="ja-JP" altLang="en-US" dirty="0"/>
              <a:t>について、各モデルの性能平均を表にまとめました。</a:t>
            </a:r>
            <a:endParaRPr kumimoji="1" lang="en-US" altLang="ja-JP" dirty="0"/>
          </a:p>
          <a:p>
            <a:r>
              <a:rPr kumimoji="1" lang="en-US" altLang="ja-JP" dirty="0"/>
              <a:t>3</a:t>
            </a:r>
            <a:r>
              <a:rPr kumimoji="1" lang="ja-JP" altLang="en-US" dirty="0"/>
              <a:t>モデルの中ではランダムフォレストの再現率の低さが著しく、それにより</a:t>
            </a:r>
            <a:r>
              <a:rPr kumimoji="1" lang="en-US" altLang="ja-JP" dirty="0"/>
              <a:t>F</a:t>
            </a:r>
            <a:r>
              <a:rPr kumimoji="1" lang="ja-JP" altLang="en-US" dirty="0"/>
              <a:t>値も低くなっています。</a:t>
            </a:r>
            <a:endParaRPr kumimoji="1" lang="en-US" altLang="ja-JP" dirty="0"/>
          </a:p>
          <a:p>
            <a:r>
              <a:rPr kumimoji="1" lang="en-US" altLang="ja-JP" dirty="0"/>
              <a:t>LightGBM</a:t>
            </a:r>
            <a:r>
              <a:rPr kumimoji="1" lang="ja-JP" altLang="en-US" dirty="0"/>
              <a:t>とロジスティック回帰ではほぼ同等の性能を示しました。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11</a:t>
            </a:fld>
            <a:endParaRPr kumimoji="1" lang="ja-JP" altLang="en-US"/>
          </a:p>
        </p:txBody>
      </p:sp>
    </p:spTree>
    <p:extLst>
      <p:ext uri="{BB962C8B-B14F-4D97-AF65-F5344CB8AC3E}">
        <p14:creationId xmlns:p14="http://schemas.microsoft.com/office/powerpoint/2010/main" val="2080178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2</a:t>
            </a:r>
            <a:r>
              <a:rPr kumimoji="1" lang="ja-JP" altLang="en-US" dirty="0"/>
              <a:t>つの分析を踏まえて、量的メタデータを用いた分析は連載中断の予測に有用であり、特に総合評価ポイントやブックマーク数といった読者の反応や、文字数といった作者の執筆量が分類結果への影響を与えやすいことがわかりました。</a:t>
            </a:r>
            <a:endParaRPr kumimoji="1" lang="en-US" altLang="ja-JP" dirty="0"/>
          </a:p>
          <a:p>
            <a:r>
              <a:rPr kumimoji="1" lang="ja-JP" altLang="en-US" dirty="0"/>
              <a:t>しかし、あらすじを対象とした分析では、データ不均衡の影響もあり、予測性能は控えめでした。</a:t>
            </a:r>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12</a:t>
            </a:fld>
            <a:endParaRPr kumimoji="1" lang="ja-JP" altLang="en-US"/>
          </a:p>
        </p:txBody>
      </p:sp>
    </p:spTree>
    <p:extLst>
      <p:ext uri="{BB962C8B-B14F-4D97-AF65-F5344CB8AC3E}">
        <p14:creationId xmlns:p14="http://schemas.microsoft.com/office/powerpoint/2010/main" val="1879208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そのため、再現率</a:t>
            </a:r>
            <a:r>
              <a:rPr kumimoji="1" lang="ja-JP" altLang="en-US"/>
              <a:t>の向上のために不均衡データへの対応を行うこと、</a:t>
            </a:r>
            <a:r>
              <a:rPr kumimoji="1" lang="ja-JP" altLang="en-US" dirty="0"/>
              <a:t>文章の前後の文脈を考慮できる</a:t>
            </a:r>
            <a:r>
              <a:rPr kumimoji="1" lang="en-US" altLang="ja-JP" dirty="0"/>
              <a:t>BERT</a:t>
            </a:r>
            <a:r>
              <a:rPr kumimoji="1" lang="ja-JP" altLang="en-US" dirty="0"/>
              <a:t>を用いることでより高度な予測モデルを構築することが今後の展望として挙げられます。</a:t>
            </a:r>
            <a:endParaRPr kumimoji="1" lang="en-US" altLang="ja-JP" dirty="0"/>
          </a:p>
          <a:p>
            <a:r>
              <a:rPr kumimoji="1" lang="ja-JP" altLang="en-US" dirty="0"/>
              <a:t>加えて、あらすじのみならず、キーワードを特徴量抽出に含めた分析、量的変数を合わせた一つの予測モデルの構築を目指していきます。</a:t>
            </a:r>
            <a:endParaRPr kumimoji="1" lang="en-US" altLang="ja-JP" dirty="0"/>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13</a:t>
            </a:fld>
            <a:endParaRPr kumimoji="1" lang="ja-JP" altLang="en-US"/>
          </a:p>
        </p:txBody>
      </p:sp>
    </p:spTree>
    <p:extLst>
      <p:ext uri="{BB962C8B-B14F-4D97-AF65-F5344CB8AC3E}">
        <p14:creationId xmlns:p14="http://schemas.microsoft.com/office/powerpoint/2010/main" val="3043554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これで発表は以上です、ご清聴ありがとうございました。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3D6A375-25BD-428C-AEE5-3B3D914C3C2D}" type="slidenum">
              <a:rPr kumimoji="1" lang="ja-JP" altLang="en-US" smtClean="0"/>
              <a:t>14</a:t>
            </a:fld>
            <a:endParaRPr kumimoji="1" lang="ja-JP" altLang="en-US"/>
          </a:p>
        </p:txBody>
      </p:sp>
    </p:spTree>
    <p:extLst>
      <p:ext uri="{BB962C8B-B14F-4D97-AF65-F5344CB8AC3E}">
        <p14:creationId xmlns:p14="http://schemas.microsoft.com/office/powerpoint/2010/main" val="3083202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ja-JP" altLang="en-US"/>
              <a:t>マスター タイトルの書式設定</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A30D75C-3641-4070-8E6D-E7B326C6ECB5}" type="datetime1">
              <a:rPr kumimoji="1" lang="ja-JP" altLang="en-US" smtClean="0"/>
              <a:t>2025/9/25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ja-JP" altLang="en-US"/>
          </a:p>
        </p:txBody>
      </p:sp>
      <p:sp>
        <p:nvSpPr>
          <p:cNvPr id="6" name="Slide Number Placeholder 5"/>
          <p:cNvSpPr>
            <a:spLocks noGrp="1"/>
          </p:cNvSpPr>
          <p:nvPr>
            <p:ph type="sldNum" sz="quarter" idx="12"/>
          </p:nvPr>
        </p:nvSpPr>
        <p:spPr>
          <a:xfrm>
            <a:off x="531812" y="4529540"/>
            <a:ext cx="779767" cy="365125"/>
          </a:xfrm>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2626931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E3A0731-40E5-47F0-BF8A-D59DA5A02741}" type="datetime1">
              <a:rPr kumimoji="1" lang="ja-JP" altLang="en-US" smtClean="0"/>
              <a:t>2025/9/25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ja-JP" altLang="en-US"/>
          </a:p>
        </p:txBody>
      </p:sp>
      <p:sp>
        <p:nvSpPr>
          <p:cNvPr id="6" name="Slide Number Placeholder 5"/>
          <p:cNvSpPr>
            <a:spLocks noGrp="1"/>
          </p:cNvSpPr>
          <p:nvPr>
            <p:ph type="sldNum" sz="quarter" idx="12"/>
          </p:nvPr>
        </p:nvSpPr>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1237351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D275815-23B7-4071-830B-C99D137500D3}" type="datetime1">
              <a:rPr kumimoji="1" lang="ja-JP" altLang="en-US" smtClean="0"/>
              <a:t>2025/9/25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122228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0BB678A-2519-4483-BB9B-8460DF0D3BED}" type="datetime1">
              <a:rPr kumimoji="1" lang="ja-JP" altLang="en-US" smtClean="0"/>
              <a:t>2025/9/25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1282090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83D1259-8B58-437B-A40D-1AF6A0859222}" type="datetime1">
              <a:rPr kumimoji="1" lang="ja-JP" altLang="en-US" smtClean="0"/>
              <a:t>2025/9/25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3999812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EE506BE-EDE2-4ED1-B596-A0CA90D2F346}" type="datetime1">
              <a:rPr kumimoji="1" lang="ja-JP" altLang="en-US" smtClean="0"/>
              <a:t>2025/9/25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1534561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334475-AFB9-4691-A773-F5DD5AC8129E}" type="datetime1">
              <a:rPr kumimoji="1" lang="ja-JP" altLang="en-US" smtClean="0"/>
              <a:t>2025/9/25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3822357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ja-JP" altLang="en-US"/>
              <a:t>マスター タイトルの書式設定</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C64EEC0-87CA-4742-A941-AFA966880EE4}" type="datetime1">
              <a:rPr kumimoji="1" lang="ja-JP" altLang="en-US" smtClean="0"/>
              <a:t>2025/9/25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2151792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905B45D-9F9B-43F6-A7AB-09CCED1612E7}" type="datetime1">
              <a:rPr kumimoji="1" lang="ja-JP" altLang="en-US" smtClean="0"/>
              <a:t>2025/9/25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3070738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FBE6989-F391-4851-8E42-41905CED092D}" type="datetime1">
              <a:rPr kumimoji="1" lang="ja-JP" altLang="en-US" smtClean="0"/>
              <a:t>2025/9/25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1947148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ja-JP" altLang="en-US"/>
              <a:t>マスター タイトルの書式設定</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016A803-176E-49DD-8817-5722C3285F1A}" type="datetime1">
              <a:rPr kumimoji="1" lang="ja-JP" altLang="en-US" smtClean="0"/>
              <a:t>2025/9/25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D85A3AF-639B-47A7-B37E-FEBC6954B310}" type="slidenum">
              <a:rPr kumimoji="1" lang="ja-JP" altLang="en-US" smtClean="0"/>
              <a:t>‹#›</a:t>
            </a:fld>
            <a:endParaRPr kumimoji="1" lang="ja-JP"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44722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9683FD25-4571-458B-8401-E3E2C43885D4}" type="datetime1">
              <a:rPr kumimoji="1" lang="ja-JP" altLang="en-US" smtClean="0"/>
              <a:t>2025/9/25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7769678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ja-JP" altLang="en-US"/>
              <a:t>マスター タイトルの書式設定</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7E275A79-7CC9-4A08-804E-F0509A6C5BC3}" type="datetime1">
              <a:rPr kumimoji="1" lang="ja-JP" altLang="en-US" smtClean="0"/>
              <a:t>2025/9/25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D85A3AF-639B-47A7-B37E-FEBC6954B310}" type="slidenum">
              <a:rPr kumimoji="1" lang="ja-JP" altLang="en-US" smtClean="0"/>
              <a:t>‹#›</a:t>
            </a:fld>
            <a:endParaRPr kumimoji="1" lang="ja-JP"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26992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ja-JP" altLang="en-US"/>
              <a:t>マスター タイトルの書式設定</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3878DD6B-B107-47C5-B01D-9D35C902FC6B}" type="datetime1">
              <a:rPr kumimoji="1" lang="ja-JP" altLang="en-US" smtClean="0"/>
              <a:t>2025/9/25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3841039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0CB04A3-4799-4B29-9003-5CDFBB04766B}" type="datetime1">
              <a:rPr kumimoji="1" lang="ja-JP" altLang="en-US" smtClean="0"/>
              <a:t>2025/9/25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3249553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09BAF1B-AC57-4B57-96CD-6B8DBB818BCB}" type="datetime1">
              <a:rPr kumimoji="1" lang="ja-JP" altLang="en-US" smtClean="0"/>
              <a:t>2025/9/25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1080780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ja-JP" alt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ja-JP" alt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ja-JP" alt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ja-JP" alt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ja-JP" alt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ja-JP" alt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ja-JP" alt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ja-JP" alt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ja-JP" alt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ja-JP" alt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ja-JP" alt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ja-JP" alt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ja-JP" alt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ja-JP" alt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ja-JP" alt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ja-JP" alt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ja-JP" alt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ja-JP" alt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ja-JP" alt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ja-JP" alt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ja-JP" alt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ja-JP" alt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ja-JP" alt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ja-JP" alt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92258E2-9020-4EDE-91A4-A73CC13B5BA3}" type="datetime1">
              <a:rPr kumimoji="1" lang="ja-JP" altLang="en-US" smtClean="0"/>
              <a:t>2025/9/25</a:t>
            </a:fld>
            <a:endParaRPr kumimoji="1" lang="ja-JP"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D85A3AF-639B-47A7-B37E-FEBC6954B310}" type="slidenum">
              <a:rPr kumimoji="1" lang="ja-JP" altLang="en-US" smtClean="0"/>
              <a:t>‹#›</a:t>
            </a:fld>
            <a:endParaRPr kumimoji="1" lang="ja-JP" altLang="en-US"/>
          </a:p>
        </p:txBody>
      </p:sp>
    </p:spTree>
    <p:extLst>
      <p:ext uri="{BB962C8B-B14F-4D97-AF65-F5344CB8AC3E}">
        <p14:creationId xmlns:p14="http://schemas.microsoft.com/office/powerpoint/2010/main" val="4270696152"/>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 id="2147483891" r:id="rId12"/>
    <p:sldLayoutId id="2147483892" r:id="rId13"/>
    <p:sldLayoutId id="2147483893" r:id="rId14"/>
    <p:sldLayoutId id="2147483894" r:id="rId15"/>
    <p:sldLayoutId id="2147483895" r:id="rId16"/>
  </p:sldLayoutIdLst>
  <p:hf hdr="0" ftr="0" dt="0"/>
  <p:txStyles>
    <p:titleStyle>
      <a:lvl1pPr algn="l" defTabSz="457200" rtl="0" eaLnBrk="1" latinLnBrk="0" hangingPunct="1">
        <a:spcBef>
          <a:spcPct val="0"/>
        </a:spcBef>
        <a:buNone/>
        <a:defRPr kumimoji="1" sz="3600" kern="1200">
          <a:solidFill>
            <a:schemeClr val="tx1">
              <a:lumMod val="85000"/>
              <a:lumOff val="15000"/>
            </a:schemeClr>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1A2B4F-B49D-631D-C263-DB7D62421B50}"/>
              </a:ext>
            </a:extLst>
          </p:cNvPr>
          <p:cNvSpPr>
            <a:spLocks noGrp="1"/>
          </p:cNvSpPr>
          <p:nvPr>
            <p:ph type="ctrTitle"/>
          </p:nvPr>
        </p:nvSpPr>
        <p:spPr>
          <a:xfrm>
            <a:off x="1256414" y="1122363"/>
            <a:ext cx="9679172" cy="2387600"/>
          </a:xfrm>
        </p:spPr>
        <p:txBody>
          <a:bodyPr>
            <a:normAutofit/>
          </a:bodyPr>
          <a:lstStyle/>
          <a:p>
            <a:pPr algn="ctr"/>
            <a:r>
              <a:rPr kumimoji="1" lang="ja-JP" altLang="en-US" b="1" dirty="0"/>
              <a:t>ウェブ小説のメタデータに</a:t>
            </a:r>
            <a:br>
              <a:rPr kumimoji="1" lang="en-US" altLang="ja-JP" b="1" dirty="0"/>
            </a:br>
            <a:r>
              <a:rPr kumimoji="1" lang="ja-JP" altLang="en-US" b="1" dirty="0"/>
              <a:t>基づく連載継続可能性の予測</a:t>
            </a:r>
          </a:p>
        </p:txBody>
      </p:sp>
      <p:sp>
        <p:nvSpPr>
          <p:cNvPr id="3" name="字幕 2">
            <a:extLst>
              <a:ext uri="{FF2B5EF4-FFF2-40B4-BE49-F238E27FC236}">
                <a16:creationId xmlns:a16="http://schemas.microsoft.com/office/drawing/2014/main" id="{A08651B5-F55B-299B-5CCC-98C0738C11CA}"/>
              </a:ext>
            </a:extLst>
          </p:cNvPr>
          <p:cNvSpPr>
            <a:spLocks noGrp="1"/>
          </p:cNvSpPr>
          <p:nvPr>
            <p:ph type="subTitle" idx="1"/>
          </p:nvPr>
        </p:nvSpPr>
        <p:spPr/>
        <p:txBody>
          <a:bodyPr>
            <a:normAutofit lnSpcReduction="10000"/>
          </a:bodyPr>
          <a:lstStyle/>
          <a:p>
            <a:endParaRPr lang="ja-JP" altLang="en-US" dirty="0"/>
          </a:p>
          <a:p>
            <a:r>
              <a:rPr lang="ja-JP" altLang="en-US" dirty="0"/>
              <a:t>情報理工学域 </a:t>
            </a:r>
            <a:r>
              <a:rPr lang="en-US" altLang="ja-JP" dirty="0"/>
              <a:t>I</a:t>
            </a:r>
            <a:r>
              <a:rPr lang="ja-JP" altLang="en-US" dirty="0"/>
              <a:t>類 メディア情報学プログラム</a:t>
            </a:r>
            <a:endParaRPr lang="en-US" altLang="ja-JP" dirty="0"/>
          </a:p>
          <a:p>
            <a:r>
              <a:rPr lang="ja-JP" altLang="en-US" dirty="0"/>
              <a:t>久野研究室 </a:t>
            </a:r>
            <a:r>
              <a:rPr lang="en-US" altLang="ja-JP" dirty="0"/>
              <a:t>2210306</a:t>
            </a:r>
            <a:r>
              <a:rPr lang="ja-JP" altLang="en-US" dirty="0"/>
              <a:t> 佐藤玲瑠 </a:t>
            </a:r>
            <a:endParaRPr kumimoji="1" lang="ja-JP" altLang="en-US" dirty="0"/>
          </a:p>
        </p:txBody>
      </p:sp>
      <p:sp>
        <p:nvSpPr>
          <p:cNvPr id="4" name="スライド番号プレースホルダー 3">
            <a:extLst>
              <a:ext uri="{FF2B5EF4-FFF2-40B4-BE49-F238E27FC236}">
                <a16:creationId xmlns:a16="http://schemas.microsoft.com/office/drawing/2014/main" id="{BAB9FCD0-117E-86CA-4B48-B0386BBE493B}"/>
              </a:ext>
            </a:extLst>
          </p:cNvPr>
          <p:cNvSpPr>
            <a:spLocks noGrp="1"/>
          </p:cNvSpPr>
          <p:nvPr>
            <p:ph type="sldNum" sz="quarter" idx="12"/>
          </p:nvPr>
        </p:nvSpPr>
        <p:spPr/>
        <p:txBody>
          <a:bodyPr/>
          <a:lstStyle/>
          <a:p>
            <a:fld id="{FD85A3AF-639B-47A7-B37E-FEBC6954B310}" type="slidenum">
              <a:rPr kumimoji="1" lang="ja-JP" altLang="en-US" smtClean="0"/>
              <a:t>1</a:t>
            </a:fld>
            <a:endParaRPr kumimoji="1" lang="ja-JP" altLang="en-US"/>
          </a:p>
        </p:txBody>
      </p:sp>
    </p:spTree>
    <p:extLst>
      <p:ext uri="{BB962C8B-B14F-4D97-AF65-F5344CB8AC3E}">
        <p14:creationId xmlns:p14="http://schemas.microsoft.com/office/powerpoint/2010/main" val="2535180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80E27-C5B7-3DA4-49DC-CBFEEDF136C5}"/>
              </a:ext>
            </a:extLst>
          </p:cNvPr>
          <p:cNvSpPr>
            <a:spLocks noGrp="1"/>
          </p:cNvSpPr>
          <p:nvPr>
            <p:ph type="title"/>
          </p:nvPr>
        </p:nvSpPr>
        <p:spPr/>
        <p:txBody>
          <a:bodyPr/>
          <a:lstStyle/>
          <a:p>
            <a:r>
              <a:rPr kumimoji="1" lang="ja-JP" altLang="en-US"/>
              <a:t>研究背景</a:t>
            </a:r>
            <a:endParaRPr kumimoji="1" lang="ja-JP" altLang="en-US" dirty="0"/>
          </a:p>
        </p:txBody>
      </p:sp>
      <p:sp>
        <p:nvSpPr>
          <p:cNvPr id="3" name="コンテンツ プレースホルダー 2">
            <a:extLst>
              <a:ext uri="{FF2B5EF4-FFF2-40B4-BE49-F238E27FC236}">
                <a16:creationId xmlns:a16="http://schemas.microsoft.com/office/drawing/2014/main" id="{BA004C5F-7CEA-1879-8075-8A1B07D29FDC}"/>
              </a:ext>
            </a:extLst>
          </p:cNvPr>
          <p:cNvSpPr>
            <a:spLocks noGrp="1"/>
          </p:cNvSpPr>
          <p:nvPr>
            <p:ph idx="1"/>
          </p:nvPr>
        </p:nvSpPr>
        <p:spPr>
          <a:xfrm>
            <a:off x="1281407" y="2180634"/>
            <a:ext cx="8915400" cy="3777622"/>
          </a:xfrm>
        </p:spPr>
        <p:txBody>
          <a:bodyPr>
            <a:normAutofit/>
          </a:bodyPr>
          <a:lstStyle/>
          <a:p>
            <a:r>
              <a:rPr kumimoji="1" lang="ja-JP" altLang="en-US" sz="2400" dirty="0">
                <a:solidFill>
                  <a:schemeClr val="tx1">
                    <a:lumMod val="85000"/>
                  </a:schemeClr>
                </a:solidFill>
              </a:rPr>
              <a:t>ウェブ小説投稿サイト</a:t>
            </a:r>
            <a:endParaRPr lang="en-US" altLang="ja-JP" sz="2400" dirty="0">
              <a:solidFill>
                <a:schemeClr val="tx1">
                  <a:lumMod val="85000"/>
                </a:schemeClr>
              </a:solidFill>
            </a:endParaRPr>
          </a:p>
          <a:p>
            <a:pPr lvl="1"/>
            <a:r>
              <a:rPr kumimoji="1" lang="ja-JP" altLang="en-US" sz="2200" b="1" dirty="0">
                <a:solidFill>
                  <a:schemeClr val="tx1">
                    <a:lumMod val="85000"/>
                  </a:schemeClr>
                </a:solidFill>
              </a:rPr>
              <a:t>誰でも簡単に小説を投稿できる</a:t>
            </a:r>
            <a:endParaRPr lang="en-US" altLang="ja-JP" sz="2200" b="1" dirty="0">
              <a:solidFill>
                <a:schemeClr val="tx1">
                  <a:lumMod val="85000"/>
                </a:schemeClr>
              </a:solidFill>
            </a:endParaRPr>
          </a:p>
          <a:p>
            <a:pPr lvl="1"/>
            <a:r>
              <a:rPr lang="ja-JP" altLang="en-US" sz="2200" dirty="0">
                <a:solidFill>
                  <a:schemeClr val="tx1">
                    <a:lumMod val="85000"/>
                  </a:schemeClr>
                </a:solidFill>
              </a:rPr>
              <a:t>普及に伴う膨大な作品データ</a:t>
            </a:r>
            <a:endParaRPr lang="en-US" altLang="ja-JP" sz="2200" dirty="0">
              <a:solidFill>
                <a:schemeClr val="tx1">
                  <a:lumMod val="85000"/>
                </a:schemeClr>
              </a:solidFill>
            </a:endParaRPr>
          </a:p>
          <a:p>
            <a:endParaRPr lang="en-US" altLang="ja-JP" sz="2400" dirty="0">
              <a:solidFill>
                <a:schemeClr val="tx1">
                  <a:lumMod val="85000"/>
                </a:schemeClr>
              </a:solidFill>
            </a:endParaRPr>
          </a:p>
          <a:p>
            <a:r>
              <a:rPr lang="ja-JP" altLang="en-US" sz="2400" dirty="0">
                <a:solidFill>
                  <a:schemeClr val="tx1">
                    <a:lumMod val="85000"/>
                  </a:schemeClr>
                </a:solidFill>
              </a:rPr>
              <a:t>作品がしばしば</a:t>
            </a:r>
            <a:r>
              <a:rPr lang="ja-JP" altLang="en-US" sz="2400" b="1" dirty="0">
                <a:solidFill>
                  <a:schemeClr val="tx1">
                    <a:lumMod val="85000"/>
                  </a:schemeClr>
                </a:solidFill>
              </a:rPr>
              <a:t>エタる</a:t>
            </a:r>
            <a:r>
              <a:rPr lang="en-US" altLang="ja-JP" sz="1600" dirty="0">
                <a:solidFill>
                  <a:schemeClr val="tx1">
                    <a:lumMod val="85000"/>
                  </a:schemeClr>
                </a:solidFill>
              </a:rPr>
              <a:t>*1</a:t>
            </a:r>
            <a:br>
              <a:rPr lang="en-US" altLang="ja-JP" sz="2400" dirty="0">
                <a:solidFill>
                  <a:schemeClr val="tx1">
                    <a:lumMod val="85000"/>
                  </a:schemeClr>
                </a:solidFill>
              </a:rPr>
            </a:br>
            <a:r>
              <a:rPr lang="ja-JP" altLang="en-US" sz="2400" b="1" dirty="0">
                <a:solidFill>
                  <a:schemeClr val="tx1">
                    <a:lumMod val="85000"/>
                  </a:schemeClr>
                </a:solidFill>
              </a:rPr>
              <a:t>未完結のまま作品が連載中断</a:t>
            </a:r>
            <a:br>
              <a:rPr lang="en-US" altLang="ja-JP" sz="2400" dirty="0">
                <a:solidFill>
                  <a:schemeClr val="tx1">
                    <a:lumMod val="85000"/>
                  </a:schemeClr>
                </a:solidFill>
              </a:rPr>
            </a:br>
            <a:r>
              <a:rPr lang="ja-JP" altLang="en-US" sz="2400" dirty="0">
                <a:solidFill>
                  <a:schemeClr val="tx1">
                    <a:lumMod val="85000"/>
                  </a:schemeClr>
                </a:solidFill>
              </a:rPr>
              <a:t>作者の執筆継続における課題</a:t>
            </a:r>
            <a:br>
              <a:rPr lang="en-US" altLang="ja-JP" sz="2400" dirty="0">
                <a:solidFill>
                  <a:schemeClr val="tx1">
                    <a:lumMod val="85000"/>
                  </a:schemeClr>
                </a:solidFill>
              </a:rPr>
            </a:br>
            <a:r>
              <a:rPr lang="ja-JP" altLang="en-US" sz="2400" dirty="0">
                <a:solidFill>
                  <a:schemeClr val="tx1">
                    <a:lumMod val="85000"/>
                  </a:schemeClr>
                </a:solidFill>
              </a:rPr>
              <a:t>読者側の失望感</a:t>
            </a:r>
            <a:endParaRPr lang="en-US" altLang="ja-JP" sz="2400" dirty="0">
              <a:solidFill>
                <a:schemeClr val="tx1">
                  <a:lumMod val="85000"/>
                </a:schemeClr>
              </a:solidFill>
            </a:endParaRPr>
          </a:p>
        </p:txBody>
      </p:sp>
      <p:sp>
        <p:nvSpPr>
          <p:cNvPr id="4" name="テキスト ボックス 3">
            <a:extLst>
              <a:ext uri="{FF2B5EF4-FFF2-40B4-BE49-F238E27FC236}">
                <a16:creationId xmlns:a16="http://schemas.microsoft.com/office/drawing/2014/main" id="{718E881C-5C1F-66FE-478D-7CB89F240B0B}"/>
              </a:ext>
            </a:extLst>
          </p:cNvPr>
          <p:cNvSpPr txBox="1"/>
          <p:nvPr/>
        </p:nvSpPr>
        <p:spPr>
          <a:xfrm>
            <a:off x="1671130" y="6233890"/>
            <a:ext cx="3406391" cy="338554"/>
          </a:xfrm>
          <a:prstGeom prst="rect">
            <a:avLst/>
          </a:prstGeom>
          <a:noFill/>
        </p:spPr>
        <p:txBody>
          <a:bodyPr wrap="square" rtlCol="0">
            <a:spAutoFit/>
          </a:bodyPr>
          <a:lstStyle/>
          <a:p>
            <a:r>
              <a:rPr lang="en-US" altLang="ja-JP" sz="1600" dirty="0">
                <a:solidFill>
                  <a:schemeClr val="tx1">
                    <a:lumMod val="50000"/>
                    <a:lumOff val="50000"/>
                  </a:schemeClr>
                </a:solidFill>
              </a:rPr>
              <a:t>*1 eternal=</a:t>
            </a:r>
            <a:r>
              <a:rPr lang="ja-JP" altLang="en-US" sz="1600" dirty="0">
                <a:solidFill>
                  <a:schemeClr val="tx1">
                    <a:lumMod val="50000"/>
                    <a:lumOff val="50000"/>
                  </a:schemeClr>
                </a:solidFill>
              </a:rPr>
              <a:t>永遠の が由来とされる</a:t>
            </a:r>
            <a:endParaRPr kumimoji="1" lang="ja-JP" altLang="en-US" sz="1600" dirty="0">
              <a:solidFill>
                <a:schemeClr val="tx1">
                  <a:lumMod val="50000"/>
                  <a:lumOff val="50000"/>
                </a:schemeClr>
              </a:solidFill>
            </a:endParaRPr>
          </a:p>
        </p:txBody>
      </p:sp>
      <p:grpSp>
        <p:nvGrpSpPr>
          <p:cNvPr id="34" name="グループ化 33">
            <a:extLst>
              <a:ext uri="{FF2B5EF4-FFF2-40B4-BE49-F238E27FC236}">
                <a16:creationId xmlns:a16="http://schemas.microsoft.com/office/drawing/2014/main" id="{9FDBE6C6-6D95-6403-45CE-F29C38B4A839}"/>
              </a:ext>
            </a:extLst>
          </p:cNvPr>
          <p:cNvGrpSpPr/>
          <p:nvPr/>
        </p:nvGrpSpPr>
        <p:grpSpPr>
          <a:xfrm>
            <a:off x="6955283" y="2026555"/>
            <a:ext cx="5236717" cy="3288036"/>
            <a:chOff x="6955283" y="2026555"/>
            <a:chExt cx="5236717" cy="3288036"/>
          </a:xfrm>
        </p:grpSpPr>
        <p:grpSp>
          <p:nvGrpSpPr>
            <p:cNvPr id="32" name="グループ化 31">
              <a:extLst>
                <a:ext uri="{FF2B5EF4-FFF2-40B4-BE49-F238E27FC236}">
                  <a16:creationId xmlns:a16="http://schemas.microsoft.com/office/drawing/2014/main" id="{9130F35B-8809-A32D-1C23-ADA44118D79A}"/>
                </a:ext>
              </a:extLst>
            </p:cNvPr>
            <p:cNvGrpSpPr/>
            <p:nvPr/>
          </p:nvGrpSpPr>
          <p:grpSpPr>
            <a:xfrm>
              <a:off x="6955283" y="2026555"/>
              <a:ext cx="5236717" cy="2804889"/>
              <a:chOff x="6900531" y="1264555"/>
              <a:chExt cx="5236717" cy="2804889"/>
            </a:xfrm>
          </p:grpSpPr>
          <p:sp>
            <p:nvSpPr>
              <p:cNvPr id="6" name="四角形: 角を丸くする 5">
                <a:extLst>
                  <a:ext uri="{FF2B5EF4-FFF2-40B4-BE49-F238E27FC236}">
                    <a16:creationId xmlns:a16="http://schemas.microsoft.com/office/drawing/2014/main" id="{758FBF3F-BDEF-C15D-9B3C-DFD4A5E93E85}"/>
                  </a:ext>
                </a:extLst>
              </p:cNvPr>
              <p:cNvSpPr/>
              <p:nvPr/>
            </p:nvSpPr>
            <p:spPr>
              <a:xfrm>
                <a:off x="7783033" y="1264555"/>
                <a:ext cx="3721579" cy="552893"/>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ウェブ小説投稿サイト</a:t>
                </a:r>
              </a:p>
            </p:txBody>
          </p:sp>
          <p:sp>
            <p:nvSpPr>
              <p:cNvPr id="7" name="四角形: 角を丸くする 6">
                <a:extLst>
                  <a:ext uri="{FF2B5EF4-FFF2-40B4-BE49-F238E27FC236}">
                    <a16:creationId xmlns:a16="http://schemas.microsoft.com/office/drawing/2014/main" id="{DDE168D8-1761-D6F1-A0CC-05F3E32A78B8}"/>
                  </a:ext>
                </a:extLst>
              </p:cNvPr>
              <p:cNvSpPr/>
              <p:nvPr/>
            </p:nvSpPr>
            <p:spPr>
              <a:xfrm>
                <a:off x="7783033" y="3585663"/>
                <a:ext cx="1265274" cy="483781"/>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ユーザ</a:t>
                </a:r>
                <a:r>
                  <a:rPr kumimoji="1" lang="en-US" altLang="ja-JP" dirty="0">
                    <a:solidFill>
                      <a:schemeClr val="tx1"/>
                    </a:solidFill>
                  </a:rPr>
                  <a:t>1</a:t>
                </a:r>
                <a:endParaRPr kumimoji="1" lang="ja-JP" altLang="en-US" dirty="0">
                  <a:solidFill>
                    <a:schemeClr val="tx1"/>
                  </a:solidFill>
                </a:endParaRPr>
              </a:p>
            </p:txBody>
          </p:sp>
          <p:sp>
            <p:nvSpPr>
              <p:cNvPr id="8" name="四角形: 角を丸くする 7">
                <a:extLst>
                  <a:ext uri="{FF2B5EF4-FFF2-40B4-BE49-F238E27FC236}">
                    <a16:creationId xmlns:a16="http://schemas.microsoft.com/office/drawing/2014/main" id="{88B9190C-7F5E-8CE4-7CBC-34E0CF04FB25}"/>
                  </a:ext>
                </a:extLst>
              </p:cNvPr>
              <p:cNvSpPr/>
              <p:nvPr/>
            </p:nvSpPr>
            <p:spPr>
              <a:xfrm>
                <a:off x="10239338" y="3585662"/>
                <a:ext cx="1265274" cy="483781"/>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ユーザ</a:t>
                </a:r>
                <a:r>
                  <a:rPr kumimoji="1" lang="en-US" altLang="ja-JP" dirty="0">
                    <a:solidFill>
                      <a:schemeClr val="tx1"/>
                    </a:solidFill>
                  </a:rPr>
                  <a:t>2</a:t>
                </a:r>
                <a:endParaRPr kumimoji="1" lang="ja-JP" altLang="en-US" dirty="0">
                  <a:solidFill>
                    <a:schemeClr val="tx1"/>
                  </a:solidFill>
                </a:endParaRPr>
              </a:p>
            </p:txBody>
          </p:sp>
          <p:cxnSp>
            <p:nvCxnSpPr>
              <p:cNvPr id="10" name="直線矢印コネクタ 9">
                <a:extLst>
                  <a:ext uri="{FF2B5EF4-FFF2-40B4-BE49-F238E27FC236}">
                    <a16:creationId xmlns:a16="http://schemas.microsoft.com/office/drawing/2014/main" id="{8FBA7C28-6C91-AFEC-CE69-6B9664BD4AB0}"/>
                  </a:ext>
                </a:extLst>
              </p:cNvPr>
              <p:cNvCxnSpPr>
                <a:cxnSpLocks/>
              </p:cNvCxnSpPr>
              <p:nvPr/>
            </p:nvCxnSpPr>
            <p:spPr>
              <a:xfrm flipV="1">
                <a:off x="8165805" y="1817448"/>
                <a:ext cx="21264" cy="17682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DDA087A0-65BB-9CBF-5068-FC6C0B195F85}"/>
                  </a:ext>
                </a:extLst>
              </p:cNvPr>
              <p:cNvSpPr txBox="1"/>
              <p:nvPr/>
            </p:nvSpPr>
            <p:spPr>
              <a:xfrm>
                <a:off x="6900531" y="2439945"/>
                <a:ext cx="1265273" cy="523220"/>
              </a:xfrm>
              <a:prstGeom prst="rect">
                <a:avLst/>
              </a:prstGeom>
              <a:noFill/>
            </p:spPr>
            <p:txBody>
              <a:bodyPr wrap="square" rtlCol="0">
                <a:spAutoFit/>
              </a:bodyPr>
              <a:lstStyle/>
              <a:p>
                <a:pPr algn="ctr"/>
                <a:r>
                  <a:rPr kumimoji="1" lang="ja-JP" altLang="en-US" sz="1400" dirty="0"/>
                  <a:t>小説</a:t>
                </a:r>
                <a:r>
                  <a:rPr kumimoji="1" lang="en-US" altLang="ja-JP" sz="1400" dirty="0"/>
                  <a:t>A</a:t>
                </a:r>
                <a:r>
                  <a:rPr kumimoji="1" lang="ja-JP" altLang="en-US" sz="1400" dirty="0"/>
                  <a:t>を</a:t>
                </a:r>
                <a:endParaRPr kumimoji="1" lang="en-US" altLang="ja-JP" sz="1400" dirty="0"/>
              </a:p>
              <a:p>
                <a:pPr algn="ctr"/>
                <a:r>
                  <a:rPr kumimoji="1" lang="ja-JP" altLang="en-US" sz="1400" b="1" dirty="0"/>
                  <a:t>書いて投稿</a:t>
                </a:r>
              </a:p>
            </p:txBody>
          </p:sp>
          <p:cxnSp>
            <p:nvCxnSpPr>
              <p:cNvPr id="20" name="直線矢印コネクタ 19">
                <a:extLst>
                  <a:ext uri="{FF2B5EF4-FFF2-40B4-BE49-F238E27FC236}">
                    <a16:creationId xmlns:a16="http://schemas.microsoft.com/office/drawing/2014/main" id="{2BFCF3A7-F996-8587-F85B-B09E6495A4D1}"/>
                  </a:ext>
                </a:extLst>
              </p:cNvPr>
              <p:cNvCxnSpPr>
                <a:cxnSpLocks/>
              </p:cNvCxnSpPr>
              <p:nvPr/>
            </p:nvCxnSpPr>
            <p:spPr>
              <a:xfrm>
                <a:off x="8676167" y="1817448"/>
                <a:ext cx="0" cy="17682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076A6728-CEF5-DBC0-F917-85BF1390A74A}"/>
                  </a:ext>
                </a:extLst>
              </p:cNvPr>
              <p:cNvSpPr txBox="1"/>
              <p:nvPr/>
            </p:nvSpPr>
            <p:spPr>
              <a:xfrm>
                <a:off x="8676167" y="2439945"/>
                <a:ext cx="1265273" cy="523220"/>
              </a:xfrm>
              <a:prstGeom prst="rect">
                <a:avLst/>
              </a:prstGeom>
              <a:noFill/>
            </p:spPr>
            <p:txBody>
              <a:bodyPr wrap="square" rtlCol="0">
                <a:spAutoFit/>
              </a:bodyPr>
              <a:lstStyle/>
              <a:p>
                <a:pPr algn="ctr"/>
                <a:r>
                  <a:rPr kumimoji="1" lang="ja-JP" altLang="en-US" sz="1400" dirty="0"/>
                  <a:t>別の小説</a:t>
                </a:r>
                <a:r>
                  <a:rPr kumimoji="1" lang="en-US" altLang="ja-JP" sz="1400" dirty="0"/>
                  <a:t>B</a:t>
                </a:r>
                <a:r>
                  <a:rPr kumimoji="1" lang="ja-JP" altLang="en-US" sz="1400" dirty="0"/>
                  <a:t>を</a:t>
                </a:r>
                <a:endParaRPr kumimoji="1" lang="en-US" altLang="ja-JP" sz="1400" dirty="0"/>
              </a:p>
              <a:p>
                <a:pPr algn="ctr"/>
                <a:r>
                  <a:rPr kumimoji="1" lang="ja-JP" altLang="en-US" sz="1400" b="1" dirty="0"/>
                  <a:t>閲覧</a:t>
                </a:r>
              </a:p>
            </p:txBody>
          </p:sp>
          <p:cxnSp>
            <p:nvCxnSpPr>
              <p:cNvPr id="27" name="直線矢印コネクタ 26">
                <a:extLst>
                  <a:ext uri="{FF2B5EF4-FFF2-40B4-BE49-F238E27FC236}">
                    <a16:creationId xmlns:a16="http://schemas.microsoft.com/office/drawing/2014/main" id="{5C961F30-D77B-3853-44EB-042FA00EF128}"/>
                  </a:ext>
                </a:extLst>
              </p:cNvPr>
              <p:cNvCxnSpPr>
                <a:cxnSpLocks/>
                <a:endCxn id="8" idx="0"/>
              </p:cNvCxnSpPr>
              <p:nvPr/>
            </p:nvCxnSpPr>
            <p:spPr>
              <a:xfrm>
                <a:off x="10871975" y="1817448"/>
                <a:ext cx="0" cy="17682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F36AFFDB-35EB-7AD0-99E1-2CC070095362}"/>
                  </a:ext>
                </a:extLst>
              </p:cNvPr>
              <p:cNvSpPr txBox="1"/>
              <p:nvPr/>
            </p:nvSpPr>
            <p:spPr>
              <a:xfrm>
                <a:off x="10871975" y="2439945"/>
                <a:ext cx="1265273" cy="523220"/>
              </a:xfrm>
              <a:prstGeom prst="rect">
                <a:avLst/>
              </a:prstGeom>
              <a:noFill/>
            </p:spPr>
            <p:txBody>
              <a:bodyPr wrap="square" rtlCol="0">
                <a:spAutoFit/>
              </a:bodyPr>
              <a:lstStyle/>
              <a:p>
                <a:pPr algn="ctr"/>
                <a:r>
                  <a:rPr kumimoji="1" lang="ja-JP" altLang="en-US" sz="1400" dirty="0"/>
                  <a:t>小説</a:t>
                </a:r>
                <a:r>
                  <a:rPr kumimoji="1" lang="en-US" altLang="ja-JP" sz="1400" dirty="0"/>
                  <a:t>A,B</a:t>
                </a:r>
                <a:r>
                  <a:rPr kumimoji="1" lang="ja-JP" altLang="en-US" sz="1400" dirty="0"/>
                  <a:t>を</a:t>
                </a:r>
                <a:endParaRPr kumimoji="1" lang="en-US" altLang="ja-JP" sz="1400" dirty="0"/>
              </a:p>
              <a:p>
                <a:pPr algn="ctr"/>
                <a:r>
                  <a:rPr kumimoji="1" lang="ja-JP" altLang="en-US" sz="1400" b="1" dirty="0"/>
                  <a:t>閲覧</a:t>
                </a:r>
              </a:p>
            </p:txBody>
          </p:sp>
        </p:grpSp>
        <p:sp>
          <p:nvSpPr>
            <p:cNvPr id="33" name="テキスト ボックス 32">
              <a:extLst>
                <a:ext uri="{FF2B5EF4-FFF2-40B4-BE49-F238E27FC236}">
                  <a16:creationId xmlns:a16="http://schemas.microsoft.com/office/drawing/2014/main" id="{B21B814D-E5B0-D383-66A1-D653B7FEB06B}"/>
                </a:ext>
              </a:extLst>
            </p:cNvPr>
            <p:cNvSpPr txBox="1"/>
            <p:nvPr/>
          </p:nvSpPr>
          <p:spPr>
            <a:xfrm>
              <a:off x="7837784" y="4976037"/>
              <a:ext cx="3721579" cy="338554"/>
            </a:xfrm>
            <a:prstGeom prst="rect">
              <a:avLst/>
            </a:prstGeom>
            <a:noFill/>
          </p:spPr>
          <p:txBody>
            <a:bodyPr wrap="square" rtlCol="0">
              <a:spAutoFit/>
            </a:bodyPr>
            <a:lstStyle/>
            <a:p>
              <a:pPr algn="ctr"/>
              <a:r>
                <a:rPr kumimoji="1" lang="ja-JP" altLang="en-US" sz="1600" dirty="0"/>
                <a:t>図</a:t>
              </a:r>
              <a:r>
                <a:rPr kumimoji="1" lang="en-US" altLang="ja-JP" sz="1600" dirty="0"/>
                <a:t>1. </a:t>
              </a:r>
              <a:r>
                <a:rPr kumimoji="1" lang="ja-JP" altLang="en-US" sz="1600" dirty="0"/>
                <a:t>小説投稿サイトについて</a:t>
              </a:r>
            </a:p>
          </p:txBody>
        </p:sp>
      </p:grpSp>
      <p:sp>
        <p:nvSpPr>
          <p:cNvPr id="35" name="スライド番号プレースホルダー 34">
            <a:extLst>
              <a:ext uri="{FF2B5EF4-FFF2-40B4-BE49-F238E27FC236}">
                <a16:creationId xmlns:a16="http://schemas.microsoft.com/office/drawing/2014/main" id="{512E7AD8-AA5C-D63A-2ED2-C82162790801}"/>
              </a:ext>
            </a:extLst>
          </p:cNvPr>
          <p:cNvSpPr>
            <a:spLocks noGrp="1"/>
          </p:cNvSpPr>
          <p:nvPr>
            <p:ph type="sldNum" sz="quarter" idx="12"/>
          </p:nvPr>
        </p:nvSpPr>
        <p:spPr/>
        <p:txBody>
          <a:bodyPr/>
          <a:lstStyle/>
          <a:p>
            <a:fld id="{FD85A3AF-639B-47A7-B37E-FEBC6954B310}" type="slidenum">
              <a:rPr kumimoji="1" lang="ja-JP" altLang="en-US" smtClean="0"/>
              <a:t>2</a:t>
            </a:fld>
            <a:endParaRPr kumimoji="1" lang="ja-JP" altLang="en-US"/>
          </a:p>
        </p:txBody>
      </p:sp>
    </p:spTree>
    <p:extLst>
      <p:ext uri="{BB962C8B-B14F-4D97-AF65-F5344CB8AC3E}">
        <p14:creationId xmlns:p14="http://schemas.microsoft.com/office/powerpoint/2010/main" val="1375007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1EBF79-D897-513C-632E-7C738B96DB8F}"/>
              </a:ext>
            </a:extLst>
          </p:cNvPr>
          <p:cNvSpPr>
            <a:spLocks noGrp="1"/>
          </p:cNvSpPr>
          <p:nvPr>
            <p:ph type="title"/>
          </p:nvPr>
        </p:nvSpPr>
        <p:spPr>
          <a:xfrm>
            <a:off x="2592925" y="624110"/>
            <a:ext cx="8911687" cy="662430"/>
          </a:xfrm>
        </p:spPr>
        <p:txBody>
          <a:bodyPr/>
          <a:lstStyle/>
          <a:p>
            <a:r>
              <a:rPr kumimoji="1" lang="ja-JP" altLang="en-US" dirty="0"/>
              <a:t>「小説家になろう」とは</a:t>
            </a:r>
          </a:p>
        </p:txBody>
      </p:sp>
      <p:sp>
        <p:nvSpPr>
          <p:cNvPr id="3" name="コンテンツ プレースホルダー 2">
            <a:extLst>
              <a:ext uri="{FF2B5EF4-FFF2-40B4-BE49-F238E27FC236}">
                <a16:creationId xmlns:a16="http://schemas.microsoft.com/office/drawing/2014/main" id="{C1D483A2-0639-E4DE-191F-EF99450F49CF}"/>
              </a:ext>
            </a:extLst>
          </p:cNvPr>
          <p:cNvSpPr>
            <a:spLocks noGrp="1"/>
          </p:cNvSpPr>
          <p:nvPr>
            <p:ph idx="1"/>
          </p:nvPr>
        </p:nvSpPr>
        <p:spPr>
          <a:xfrm>
            <a:off x="2589212" y="1531088"/>
            <a:ext cx="8915400" cy="4702801"/>
          </a:xfrm>
        </p:spPr>
        <p:txBody>
          <a:bodyPr>
            <a:normAutofit/>
          </a:bodyPr>
          <a:lstStyle/>
          <a:p>
            <a:r>
              <a:rPr lang="en-US" altLang="ja-JP" sz="2400" dirty="0">
                <a:solidFill>
                  <a:schemeClr val="tx1">
                    <a:lumMod val="85000"/>
                  </a:schemeClr>
                </a:solidFill>
              </a:rPr>
              <a:t>2004</a:t>
            </a:r>
            <a:r>
              <a:rPr lang="ja-JP" altLang="en-US" sz="2400" dirty="0">
                <a:solidFill>
                  <a:schemeClr val="tx1">
                    <a:lumMod val="85000"/>
                  </a:schemeClr>
                </a:solidFill>
              </a:rPr>
              <a:t>年</a:t>
            </a:r>
            <a:r>
              <a:rPr lang="en-US" altLang="ja-JP" sz="2400" dirty="0">
                <a:solidFill>
                  <a:schemeClr val="tx1">
                    <a:lumMod val="85000"/>
                  </a:schemeClr>
                </a:solidFill>
              </a:rPr>
              <a:t>4</a:t>
            </a:r>
            <a:r>
              <a:rPr lang="ja-JP" altLang="en-US" sz="2400" dirty="0">
                <a:solidFill>
                  <a:schemeClr val="tx1">
                    <a:lumMod val="85000"/>
                  </a:schemeClr>
                </a:solidFill>
              </a:rPr>
              <a:t>月サービス開始</a:t>
            </a:r>
            <a:endParaRPr lang="en-US" altLang="ja-JP" sz="2400" dirty="0">
              <a:solidFill>
                <a:schemeClr val="tx1">
                  <a:lumMod val="85000"/>
                </a:schemeClr>
              </a:solidFill>
            </a:endParaRPr>
          </a:p>
          <a:p>
            <a:endParaRPr lang="en-US" altLang="ja-JP" sz="2400" dirty="0">
              <a:solidFill>
                <a:schemeClr val="tx1">
                  <a:lumMod val="85000"/>
                </a:schemeClr>
              </a:solidFill>
            </a:endParaRPr>
          </a:p>
          <a:p>
            <a:r>
              <a:rPr lang="ja-JP" altLang="en-US" sz="2400" dirty="0">
                <a:solidFill>
                  <a:schemeClr val="tx1">
                    <a:lumMod val="85000"/>
                  </a:schemeClr>
                </a:solidFill>
              </a:rPr>
              <a:t>日本最大級のウェブ小説投稿サイト</a:t>
            </a:r>
            <a:endParaRPr lang="en-US" altLang="ja-JP" sz="2400" dirty="0">
              <a:solidFill>
                <a:schemeClr val="tx1">
                  <a:lumMod val="85000"/>
                </a:schemeClr>
              </a:solidFill>
            </a:endParaRPr>
          </a:p>
          <a:p>
            <a:endParaRPr lang="en-US" altLang="ja-JP" sz="2400" dirty="0">
              <a:solidFill>
                <a:schemeClr val="tx1">
                  <a:lumMod val="85000"/>
                </a:schemeClr>
              </a:solidFill>
            </a:endParaRPr>
          </a:p>
          <a:p>
            <a:r>
              <a:rPr lang="ja-JP" altLang="en-US" sz="2400" dirty="0">
                <a:solidFill>
                  <a:schemeClr val="tx1">
                    <a:lumMod val="85000"/>
                  </a:schemeClr>
                </a:solidFill>
              </a:rPr>
              <a:t>誰でも無料で小説が書ける、読める</a:t>
            </a:r>
            <a:endParaRPr lang="en-US" altLang="ja-JP" sz="2400" dirty="0">
              <a:solidFill>
                <a:schemeClr val="tx1">
                  <a:lumMod val="85000"/>
                </a:schemeClr>
              </a:solidFill>
            </a:endParaRPr>
          </a:p>
          <a:p>
            <a:endParaRPr lang="en-US" altLang="ja-JP" sz="2400" dirty="0">
              <a:solidFill>
                <a:schemeClr val="tx1">
                  <a:lumMod val="85000"/>
                </a:schemeClr>
              </a:solidFill>
            </a:endParaRPr>
          </a:p>
          <a:p>
            <a:r>
              <a:rPr lang="ja-JP" altLang="en-US" sz="2400" dirty="0">
                <a:solidFill>
                  <a:schemeClr val="tx1">
                    <a:lumMod val="85000"/>
                  </a:schemeClr>
                </a:solidFill>
              </a:rPr>
              <a:t>作品掲載数</a:t>
            </a:r>
            <a:r>
              <a:rPr lang="en-US" altLang="ja-JP" sz="2400" dirty="0">
                <a:solidFill>
                  <a:schemeClr val="tx1">
                    <a:lumMod val="85000"/>
                  </a:schemeClr>
                </a:solidFill>
              </a:rPr>
              <a:t>1,208,680</a:t>
            </a:r>
            <a:r>
              <a:rPr lang="ja-JP" altLang="en-US" sz="2400" dirty="0">
                <a:solidFill>
                  <a:schemeClr val="tx1">
                    <a:lumMod val="85000"/>
                  </a:schemeClr>
                </a:solidFill>
              </a:rPr>
              <a:t>作品、登録ユーザ数</a:t>
            </a:r>
            <a:r>
              <a:rPr lang="en-US" altLang="ja-JP" sz="2400" dirty="0">
                <a:solidFill>
                  <a:schemeClr val="tx1">
                    <a:lumMod val="85000"/>
                  </a:schemeClr>
                </a:solidFill>
              </a:rPr>
              <a:t>2,802,415</a:t>
            </a:r>
            <a:r>
              <a:rPr lang="ja-JP" altLang="en-US" sz="2400" dirty="0">
                <a:solidFill>
                  <a:schemeClr val="tx1">
                    <a:lumMod val="85000"/>
                  </a:schemeClr>
                </a:solidFill>
              </a:rPr>
              <a:t>人</a:t>
            </a:r>
            <a:endParaRPr lang="en-US" altLang="ja-JP" sz="2400" dirty="0">
              <a:solidFill>
                <a:schemeClr val="tx1">
                  <a:lumMod val="85000"/>
                </a:schemeClr>
              </a:solidFill>
            </a:endParaRPr>
          </a:p>
          <a:p>
            <a:endParaRPr lang="en-US" altLang="ja-JP" sz="2400" dirty="0">
              <a:solidFill>
                <a:schemeClr val="tx1">
                  <a:lumMod val="85000"/>
                </a:schemeClr>
              </a:solidFill>
            </a:endParaRPr>
          </a:p>
          <a:p>
            <a:r>
              <a:rPr lang="ja-JP" altLang="en-US" sz="2400" dirty="0">
                <a:solidFill>
                  <a:schemeClr val="tx1">
                    <a:lumMod val="85000"/>
                  </a:schemeClr>
                </a:solidFill>
              </a:rPr>
              <a:t>運営が公式</a:t>
            </a:r>
            <a:r>
              <a:rPr lang="en-US" altLang="ja-JP" sz="2400" dirty="0">
                <a:solidFill>
                  <a:schemeClr val="tx1">
                    <a:lumMod val="85000"/>
                  </a:schemeClr>
                </a:solidFill>
              </a:rPr>
              <a:t>API</a:t>
            </a:r>
            <a:r>
              <a:rPr lang="ja-JP" altLang="en-US" sz="2400" dirty="0">
                <a:solidFill>
                  <a:schemeClr val="tx1">
                    <a:lumMod val="85000"/>
                  </a:schemeClr>
                </a:solidFill>
              </a:rPr>
              <a:t>「なろう小説</a:t>
            </a:r>
            <a:r>
              <a:rPr lang="en-US" altLang="ja-JP" sz="2400" dirty="0">
                <a:solidFill>
                  <a:schemeClr val="tx1">
                    <a:lumMod val="85000"/>
                  </a:schemeClr>
                </a:solidFill>
              </a:rPr>
              <a:t>API</a:t>
            </a:r>
            <a:r>
              <a:rPr lang="en-US" altLang="ja-JP" sz="1600" dirty="0">
                <a:solidFill>
                  <a:schemeClr val="tx1">
                    <a:lumMod val="85000"/>
                  </a:schemeClr>
                </a:solidFill>
              </a:rPr>
              <a:t>*2</a:t>
            </a:r>
            <a:r>
              <a:rPr lang="ja-JP" altLang="en-US" sz="2400" dirty="0">
                <a:solidFill>
                  <a:schemeClr val="tx1">
                    <a:lumMod val="85000"/>
                  </a:schemeClr>
                </a:solidFill>
              </a:rPr>
              <a:t>」を配布</a:t>
            </a:r>
            <a:endParaRPr lang="en-US" altLang="ja-JP" sz="2400" dirty="0">
              <a:solidFill>
                <a:schemeClr val="tx1">
                  <a:lumMod val="85000"/>
                </a:schemeClr>
              </a:solidFill>
            </a:endParaRPr>
          </a:p>
        </p:txBody>
      </p:sp>
      <p:sp>
        <p:nvSpPr>
          <p:cNvPr id="4" name="テキスト ボックス 3">
            <a:extLst>
              <a:ext uri="{FF2B5EF4-FFF2-40B4-BE49-F238E27FC236}">
                <a16:creationId xmlns:a16="http://schemas.microsoft.com/office/drawing/2014/main" id="{129332B9-28C2-177A-E1EA-A11B79EAB18E}"/>
              </a:ext>
            </a:extLst>
          </p:cNvPr>
          <p:cNvSpPr txBox="1"/>
          <p:nvPr/>
        </p:nvSpPr>
        <p:spPr>
          <a:xfrm>
            <a:off x="1500551" y="6233890"/>
            <a:ext cx="3918857" cy="338554"/>
          </a:xfrm>
          <a:prstGeom prst="rect">
            <a:avLst/>
          </a:prstGeom>
          <a:noFill/>
        </p:spPr>
        <p:txBody>
          <a:bodyPr wrap="square" rtlCol="0">
            <a:spAutoFit/>
          </a:bodyPr>
          <a:lstStyle/>
          <a:p>
            <a:r>
              <a:rPr lang="en-US" altLang="ja-JP" sz="1600" dirty="0">
                <a:solidFill>
                  <a:schemeClr val="tx1">
                    <a:lumMod val="50000"/>
                    <a:lumOff val="50000"/>
                  </a:schemeClr>
                </a:solidFill>
              </a:rPr>
              <a:t>*2 https://dev.syosetu.com/man/api/</a:t>
            </a:r>
            <a:endParaRPr kumimoji="1" lang="ja-JP" altLang="en-US" sz="1600" dirty="0">
              <a:solidFill>
                <a:schemeClr val="tx1">
                  <a:lumMod val="50000"/>
                  <a:lumOff val="50000"/>
                </a:schemeClr>
              </a:solidFill>
            </a:endParaRPr>
          </a:p>
        </p:txBody>
      </p:sp>
      <p:sp>
        <p:nvSpPr>
          <p:cNvPr id="5" name="スライド番号プレースホルダー 4">
            <a:extLst>
              <a:ext uri="{FF2B5EF4-FFF2-40B4-BE49-F238E27FC236}">
                <a16:creationId xmlns:a16="http://schemas.microsoft.com/office/drawing/2014/main" id="{3B3B4044-7D19-E2B2-6CA6-F864A8D4663D}"/>
              </a:ext>
            </a:extLst>
          </p:cNvPr>
          <p:cNvSpPr>
            <a:spLocks noGrp="1"/>
          </p:cNvSpPr>
          <p:nvPr>
            <p:ph type="sldNum" sz="quarter" idx="12"/>
          </p:nvPr>
        </p:nvSpPr>
        <p:spPr/>
        <p:txBody>
          <a:bodyPr/>
          <a:lstStyle/>
          <a:p>
            <a:fld id="{FD85A3AF-639B-47A7-B37E-FEBC6954B310}" type="slidenum">
              <a:rPr kumimoji="1" lang="ja-JP" altLang="en-US" smtClean="0"/>
              <a:t>3</a:t>
            </a:fld>
            <a:endParaRPr kumimoji="1" lang="ja-JP" altLang="en-US"/>
          </a:p>
        </p:txBody>
      </p:sp>
    </p:spTree>
    <p:extLst>
      <p:ext uri="{BB962C8B-B14F-4D97-AF65-F5344CB8AC3E}">
        <p14:creationId xmlns:p14="http://schemas.microsoft.com/office/powerpoint/2010/main" val="3796007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272E43-49FA-5825-B690-B340E055EF5D}"/>
              </a:ext>
            </a:extLst>
          </p:cNvPr>
          <p:cNvSpPr>
            <a:spLocks noGrp="1"/>
          </p:cNvSpPr>
          <p:nvPr>
            <p:ph type="title"/>
          </p:nvPr>
        </p:nvSpPr>
        <p:spPr/>
        <p:txBody>
          <a:bodyPr/>
          <a:lstStyle/>
          <a:p>
            <a:r>
              <a:rPr kumimoji="1" lang="ja-JP" altLang="en-US" dirty="0"/>
              <a:t>関連研究</a:t>
            </a:r>
          </a:p>
        </p:txBody>
      </p:sp>
      <p:sp>
        <p:nvSpPr>
          <p:cNvPr id="3" name="コンテンツ プレースホルダー 2">
            <a:extLst>
              <a:ext uri="{FF2B5EF4-FFF2-40B4-BE49-F238E27FC236}">
                <a16:creationId xmlns:a16="http://schemas.microsoft.com/office/drawing/2014/main" id="{C703FD2F-F217-9EF3-2929-71EBF39E1187}"/>
              </a:ext>
            </a:extLst>
          </p:cNvPr>
          <p:cNvSpPr>
            <a:spLocks noGrp="1"/>
          </p:cNvSpPr>
          <p:nvPr>
            <p:ph idx="1"/>
          </p:nvPr>
        </p:nvSpPr>
        <p:spPr>
          <a:xfrm>
            <a:off x="818712" y="2222287"/>
            <a:ext cx="10554574" cy="4188525"/>
          </a:xfrm>
        </p:spPr>
        <p:txBody>
          <a:bodyPr>
            <a:noAutofit/>
          </a:bodyPr>
          <a:lstStyle/>
          <a:p>
            <a:pPr>
              <a:lnSpc>
                <a:spcPct val="100000"/>
              </a:lnSpc>
            </a:pPr>
            <a:r>
              <a:rPr lang="ja-JP" altLang="en-US" sz="2400" dirty="0">
                <a:solidFill>
                  <a:schemeClr val="tx1">
                    <a:lumMod val="85000"/>
                  </a:schemeClr>
                </a:solidFill>
              </a:rPr>
              <a:t>本田らの研究</a:t>
            </a:r>
            <a:r>
              <a:rPr lang="en-US" altLang="ja-JP" sz="2400" dirty="0">
                <a:solidFill>
                  <a:schemeClr val="tx1">
                    <a:lumMod val="85000"/>
                  </a:schemeClr>
                </a:solidFill>
              </a:rPr>
              <a:t>[1]</a:t>
            </a:r>
            <a:r>
              <a:rPr lang="ja-JP" altLang="en-US" sz="2400" dirty="0">
                <a:solidFill>
                  <a:schemeClr val="tx1">
                    <a:lumMod val="85000"/>
                  </a:schemeClr>
                </a:solidFill>
              </a:rPr>
              <a:t> </a:t>
            </a:r>
            <a:br>
              <a:rPr lang="en-US" altLang="ja-JP" sz="2400" dirty="0">
                <a:solidFill>
                  <a:schemeClr val="tx1">
                    <a:lumMod val="85000"/>
                  </a:schemeClr>
                </a:solidFill>
              </a:rPr>
            </a:br>
            <a:r>
              <a:rPr lang="ja-JP" altLang="en-US" sz="2400" dirty="0">
                <a:solidFill>
                  <a:schemeClr val="tx1">
                    <a:lumMod val="85000"/>
                  </a:schemeClr>
                </a:solidFill>
              </a:rPr>
              <a:t>「小説家になろう」作品に含まれるキーワードを対象</a:t>
            </a:r>
            <a:br>
              <a:rPr lang="en-US" altLang="ja-JP" sz="2400" dirty="0">
                <a:solidFill>
                  <a:schemeClr val="tx1">
                    <a:lumMod val="85000"/>
                  </a:schemeClr>
                </a:solidFill>
              </a:rPr>
            </a:br>
            <a:r>
              <a:rPr lang="ja-JP" altLang="en-US" sz="2400" dirty="0">
                <a:solidFill>
                  <a:schemeClr val="tx1">
                    <a:lumMod val="85000"/>
                  </a:schemeClr>
                </a:solidFill>
              </a:rPr>
              <a:t>・キーワード単語の情報エントロピー、キーワードの</a:t>
            </a:r>
            <a:r>
              <a:rPr lang="en-US" altLang="ja-JP" sz="2400" dirty="0">
                <a:solidFill>
                  <a:schemeClr val="tx1">
                    <a:lumMod val="85000"/>
                  </a:schemeClr>
                </a:solidFill>
              </a:rPr>
              <a:t>cos</a:t>
            </a:r>
            <a:r>
              <a:rPr lang="ja-JP" altLang="en-US" sz="2400" dirty="0">
                <a:solidFill>
                  <a:schemeClr val="tx1">
                    <a:lumMod val="85000"/>
                  </a:schemeClr>
                </a:solidFill>
              </a:rPr>
              <a:t>類似度</a:t>
            </a:r>
            <a:br>
              <a:rPr lang="en-US" altLang="ja-JP" sz="2400" dirty="0">
                <a:solidFill>
                  <a:schemeClr val="tx1">
                    <a:lumMod val="85000"/>
                  </a:schemeClr>
                </a:solidFill>
              </a:rPr>
            </a:br>
            <a:r>
              <a:rPr lang="ja-JP" altLang="en-US" sz="2400" dirty="0">
                <a:solidFill>
                  <a:schemeClr val="tx1">
                    <a:lumMod val="85000"/>
                  </a:schemeClr>
                </a:solidFill>
              </a:rPr>
              <a:t>・多様性は緩やかな減少傾向にあることを定量的に示した。</a:t>
            </a:r>
            <a:endParaRPr lang="en-US" altLang="ja-JP" sz="2400" dirty="0">
              <a:solidFill>
                <a:schemeClr val="tx1">
                  <a:lumMod val="85000"/>
                </a:schemeClr>
              </a:solidFill>
            </a:endParaRPr>
          </a:p>
          <a:p>
            <a:pPr>
              <a:lnSpc>
                <a:spcPct val="100000"/>
              </a:lnSpc>
            </a:pPr>
            <a:endParaRPr lang="en-US" altLang="ja-JP" sz="2400" dirty="0">
              <a:solidFill>
                <a:schemeClr val="tx1">
                  <a:lumMod val="85000"/>
                </a:schemeClr>
              </a:solidFill>
            </a:endParaRPr>
          </a:p>
          <a:p>
            <a:pPr>
              <a:lnSpc>
                <a:spcPct val="100000"/>
              </a:lnSpc>
            </a:pPr>
            <a:r>
              <a:rPr lang="ja-JP" altLang="en-US" sz="2400" dirty="0">
                <a:solidFill>
                  <a:schemeClr val="tx1">
                    <a:lumMod val="85000"/>
                  </a:schemeClr>
                </a:solidFill>
              </a:rPr>
              <a:t>堺らの研究</a:t>
            </a:r>
            <a:r>
              <a:rPr lang="en-US" altLang="ja-JP" sz="2400" dirty="0">
                <a:solidFill>
                  <a:schemeClr val="tx1">
                    <a:lumMod val="85000"/>
                  </a:schemeClr>
                </a:solidFill>
              </a:rPr>
              <a:t>[2]</a:t>
            </a:r>
            <a:r>
              <a:rPr lang="ja-JP" altLang="en-US" sz="2400" dirty="0">
                <a:solidFill>
                  <a:schemeClr val="tx1">
                    <a:lumMod val="85000"/>
                  </a:schemeClr>
                </a:solidFill>
              </a:rPr>
              <a:t> </a:t>
            </a:r>
            <a:br>
              <a:rPr lang="en-US" altLang="ja-JP" sz="2400" dirty="0">
                <a:solidFill>
                  <a:schemeClr val="tx1">
                    <a:lumMod val="85000"/>
                  </a:schemeClr>
                </a:solidFill>
              </a:rPr>
            </a:br>
            <a:r>
              <a:rPr lang="ja-JP" altLang="en-US" sz="2400" dirty="0">
                <a:solidFill>
                  <a:schemeClr val="tx1">
                    <a:lumMod val="85000"/>
                  </a:schemeClr>
                </a:solidFill>
              </a:rPr>
              <a:t>「小説家になろう」作品のあらすじを用いた流行語の抽出</a:t>
            </a:r>
            <a:br>
              <a:rPr lang="en-US" altLang="ja-JP" sz="2400" dirty="0">
                <a:solidFill>
                  <a:schemeClr val="tx1">
                    <a:lumMod val="85000"/>
                  </a:schemeClr>
                </a:solidFill>
              </a:rPr>
            </a:br>
            <a:r>
              <a:rPr lang="ja-JP" altLang="en-US" sz="2400" dirty="0">
                <a:solidFill>
                  <a:schemeClr val="tx1">
                    <a:lumMod val="85000"/>
                  </a:schemeClr>
                </a:solidFill>
              </a:rPr>
              <a:t>・</a:t>
            </a:r>
            <a:r>
              <a:rPr lang="en-US" altLang="ja-JP" sz="2400" dirty="0" err="1">
                <a:solidFill>
                  <a:schemeClr val="tx1">
                    <a:lumMod val="85000"/>
                  </a:schemeClr>
                </a:solidFill>
              </a:rPr>
              <a:t>MeCab</a:t>
            </a:r>
            <a:r>
              <a:rPr lang="en-US" altLang="ja-JP" sz="2400" dirty="0">
                <a:solidFill>
                  <a:schemeClr val="tx1">
                    <a:lumMod val="85000"/>
                  </a:schemeClr>
                </a:solidFill>
              </a:rPr>
              <a:t>, IPA-</a:t>
            </a:r>
            <a:r>
              <a:rPr lang="en-US" altLang="ja-JP" sz="2400" dirty="0" err="1">
                <a:solidFill>
                  <a:schemeClr val="tx1">
                    <a:lumMod val="85000"/>
                  </a:schemeClr>
                </a:solidFill>
              </a:rPr>
              <a:t>Neologd</a:t>
            </a:r>
            <a:r>
              <a:rPr lang="ja-JP" altLang="en-US" sz="2400" dirty="0">
                <a:solidFill>
                  <a:schemeClr val="tx1">
                    <a:lumMod val="85000"/>
                  </a:schemeClr>
                </a:solidFill>
              </a:rPr>
              <a:t>を用いて出現頻度を取得</a:t>
            </a:r>
            <a:br>
              <a:rPr lang="en-US" altLang="ja-JP" sz="2400" dirty="0">
                <a:solidFill>
                  <a:schemeClr val="tx1">
                    <a:lumMod val="85000"/>
                  </a:schemeClr>
                </a:solidFill>
              </a:rPr>
            </a:br>
            <a:r>
              <a:rPr lang="ja-JP" altLang="en-US" sz="2400" dirty="0">
                <a:solidFill>
                  <a:schemeClr val="tx1">
                    <a:lumMod val="85000"/>
                  </a:schemeClr>
                </a:solidFill>
              </a:rPr>
              <a:t>・品詞を名詞に制限して単語分散表現を取得</a:t>
            </a:r>
            <a:br>
              <a:rPr lang="en-US" altLang="ja-JP" sz="2400" dirty="0">
                <a:solidFill>
                  <a:schemeClr val="tx1">
                    <a:lumMod val="85000"/>
                  </a:schemeClr>
                </a:solidFill>
              </a:rPr>
            </a:br>
            <a:r>
              <a:rPr lang="ja-JP" altLang="en-US" sz="2400" dirty="0">
                <a:solidFill>
                  <a:schemeClr val="tx1">
                    <a:lumMod val="85000"/>
                  </a:schemeClr>
                </a:solidFill>
              </a:rPr>
              <a:t>・単語の意味を考慮した流行語抽出に成功</a:t>
            </a:r>
            <a:endParaRPr lang="en-US" altLang="ja-JP" sz="2400" dirty="0">
              <a:solidFill>
                <a:schemeClr val="tx1">
                  <a:lumMod val="85000"/>
                </a:schemeClr>
              </a:solidFill>
            </a:endParaRPr>
          </a:p>
        </p:txBody>
      </p:sp>
      <p:sp>
        <p:nvSpPr>
          <p:cNvPr id="4" name="スライド番号プレースホルダー 3">
            <a:extLst>
              <a:ext uri="{FF2B5EF4-FFF2-40B4-BE49-F238E27FC236}">
                <a16:creationId xmlns:a16="http://schemas.microsoft.com/office/drawing/2014/main" id="{FAE2A273-9712-4C3F-02C7-2399A79906D2}"/>
              </a:ext>
            </a:extLst>
          </p:cNvPr>
          <p:cNvSpPr>
            <a:spLocks noGrp="1"/>
          </p:cNvSpPr>
          <p:nvPr>
            <p:ph type="sldNum" sz="quarter" idx="12"/>
          </p:nvPr>
        </p:nvSpPr>
        <p:spPr/>
        <p:txBody>
          <a:bodyPr/>
          <a:lstStyle/>
          <a:p>
            <a:fld id="{FD85A3AF-639B-47A7-B37E-FEBC6954B310}" type="slidenum">
              <a:rPr kumimoji="1" lang="ja-JP" altLang="en-US" smtClean="0"/>
              <a:t>4</a:t>
            </a:fld>
            <a:endParaRPr kumimoji="1" lang="ja-JP" altLang="en-US"/>
          </a:p>
        </p:txBody>
      </p:sp>
    </p:spTree>
    <p:extLst>
      <p:ext uri="{BB962C8B-B14F-4D97-AF65-F5344CB8AC3E}">
        <p14:creationId xmlns:p14="http://schemas.microsoft.com/office/powerpoint/2010/main" val="2844277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1A82F2-FEB9-2E6F-238F-A2CC97DB152B}"/>
              </a:ext>
            </a:extLst>
          </p:cNvPr>
          <p:cNvSpPr>
            <a:spLocks noGrp="1"/>
          </p:cNvSpPr>
          <p:nvPr>
            <p:ph type="title"/>
          </p:nvPr>
        </p:nvSpPr>
        <p:spPr/>
        <p:txBody>
          <a:bodyPr/>
          <a:lstStyle/>
          <a:p>
            <a:r>
              <a:rPr kumimoji="1" lang="ja-JP" altLang="en-US" dirty="0"/>
              <a:t>研究目的</a:t>
            </a:r>
            <a:r>
              <a:rPr lang="ja-JP" altLang="en-US" dirty="0"/>
              <a:t>と研究対象</a:t>
            </a:r>
            <a:endParaRPr kumimoji="1" lang="ja-JP" altLang="en-US" dirty="0"/>
          </a:p>
        </p:txBody>
      </p:sp>
      <p:sp>
        <p:nvSpPr>
          <p:cNvPr id="3" name="コンテンツ プレースホルダー 2">
            <a:extLst>
              <a:ext uri="{FF2B5EF4-FFF2-40B4-BE49-F238E27FC236}">
                <a16:creationId xmlns:a16="http://schemas.microsoft.com/office/drawing/2014/main" id="{7BF8F62C-6FBF-FD3E-91FB-8458ABA6CB3A}"/>
              </a:ext>
            </a:extLst>
          </p:cNvPr>
          <p:cNvSpPr>
            <a:spLocks noGrp="1"/>
          </p:cNvSpPr>
          <p:nvPr>
            <p:ph idx="1"/>
          </p:nvPr>
        </p:nvSpPr>
        <p:spPr>
          <a:xfrm>
            <a:off x="818712" y="1905001"/>
            <a:ext cx="10554574" cy="4953000"/>
          </a:xfrm>
        </p:spPr>
        <p:txBody>
          <a:bodyPr>
            <a:normAutofit fontScale="92500" lnSpcReduction="10000"/>
          </a:bodyPr>
          <a:lstStyle/>
          <a:p>
            <a:pPr marL="0" indent="0">
              <a:buNone/>
            </a:pPr>
            <a:r>
              <a:rPr kumimoji="1" lang="ja-JP" altLang="en-US" sz="3200" b="1" dirty="0">
                <a:solidFill>
                  <a:schemeClr val="tx1">
                    <a:lumMod val="85000"/>
                  </a:schemeClr>
                </a:solidFill>
              </a:rPr>
              <a:t>作品が「エタる」かを予測するモデル構築</a:t>
            </a:r>
            <a:endParaRPr kumimoji="1" lang="en-US" altLang="ja-JP" sz="3200" b="1" dirty="0">
              <a:solidFill>
                <a:schemeClr val="tx1">
                  <a:lumMod val="85000"/>
                </a:schemeClr>
              </a:solidFill>
            </a:endParaRPr>
          </a:p>
          <a:p>
            <a:pPr marL="0" indent="0">
              <a:buNone/>
            </a:pPr>
            <a:r>
              <a:rPr lang="ja-JP" altLang="en-US" sz="2600" b="1" dirty="0">
                <a:solidFill>
                  <a:schemeClr val="tx1">
                    <a:lumMod val="85000"/>
                  </a:schemeClr>
                </a:solidFill>
              </a:rPr>
              <a:t>　</a:t>
            </a:r>
            <a:r>
              <a:rPr lang="ja-JP" altLang="en-US" sz="2600" dirty="0">
                <a:solidFill>
                  <a:schemeClr val="tx1">
                    <a:lumMod val="85000"/>
                  </a:schemeClr>
                </a:solidFill>
              </a:rPr>
              <a:t>作品のメタデータのみを用いて将来的な連載状態を予測</a:t>
            </a:r>
            <a:br>
              <a:rPr lang="en-US" altLang="ja-JP" sz="2600" dirty="0">
                <a:solidFill>
                  <a:schemeClr val="tx1">
                    <a:lumMod val="85000"/>
                  </a:schemeClr>
                </a:solidFill>
              </a:rPr>
            </a:br>
            <a:r>
              <a:rPr lang="ja-JP" altLang="en-US" sz="2600" dirty="0">
                <a:solidFill>
                  <a:schemeClr val="tx1">
                    <a:lumMod val="85000"/>
                  </a:schemeClr>
                </a:solidFill>
              </a:rPr>
              <a:t>　</a:t>
            </a:r>
            <a:r>
              <a:rPr lang="en-US" altLang="ja-JP" sz="2600" dirty="0">
                <a:solidFill>
                  <a:schemeClr val="tx1">
                    <a:lumMod val="85000"/>
                  </a:schemeClr>
                </a:solidFill>
              </a:rPr>
              <a:t>※</a:t>
            </a:r>
            <a:r>
              <a:rPr lang="ja-JP" altLang="en-US" sz="2600" dirty="0">
                <a:solidFill>
                  <a:schemeClr val="tx1">
                    <a:lumMod val="85000"/>
                  </a:schemeClr>
                </a:solidFill>
              </a:rPr>
              <a:t>「小説家になろう」が公開しているのは作品メタデータのみ</a:t>
            </a:r>
            <a:endParaRPr lang="en-US" altLang="ja-JP" sz="2600" dirty="0">
              <a:solidFill>
                <a:schemeClr val="tx1">
                  <a:lumMod val="85000"/>
                </a:schemeClr>
              </a:solidFill>
            </a:endParaRPr>
          </a:p>
          <a:p>
            <a:pPr marL="0" indent="0">
              <a:buNone/>
            </a:pPr>
            <a:endParaRPr lang="en-US" altLang="ja-JP" sz="2600" dirty="0">
              <a:solidFill>
                <a:schemeClr val="tx1">
                  <a:lumMod val="85000"/>
                </a:schemeClr>
              </a:solidFill>
            </a:endParaRPr>
          </a:p>
          <a:p>
            <a:pPr marL="0" indent="0">
              <a:buNone/>
            </a:pPr>
            <a:r>
              <a:rPr lang="ja-JP" altLang="en-US" sz="2600" dirty="0">
                <a:solidFill>
                  <a:schemeClr val="tx1">
                    <a:lumMod val="85000"/>
                  </a:schemeClr>
                </a:solidFill>
              </a:rPr>
              <a:t>「エタる」の定義：</a:t>
            </a:r>
            <a:r>
              <a:rPr lang="ja-JP" altLang="en-US" sz="2600" b="1" dirty="0">
                <a:solidFill>
                  <a:schemeClr val="tx1">
                    <a:lumMod val="85000"/>
                  </a:schemeClr>
                </a:solidFill>
              </a:rPr>
              <a:t>未完結かつ最終更新から</a:t>
            </a:r>
            <a:r>
              <a:rPr lang="en-US" altLang="ja-JP" sz="2600" b="1" dirty="0">
                <a:solidFill>
                  <a:schemeClr val="tx1">
                    <a:lumMod val="85000"/>
                  </a:schemeClr>
                </a:solidFill>
              </a:rPr>
              <a:t>1</a:t>
            </a:r>
            <a:r>
              <a:rPr lang="ja-JP" altLang="en-US" sz="2600" b="1" dirty="0">
                <a:solidFill>
                  <a:schemeClr val="tx1">
                    <a:lumMod val="85000"/>
                  </a:schemeClr>
                </a:solidFill>
              </a:rPr>
              <a:t>年以上経過</a:t>
            </a:r>
            <a:endParaRPr lang="en-US" altLang="ja-JP" sz="2600" b="1" dirty="0">
              <a:solidFill>
                <a:schemeClr val="tx1">
                  <a:lumMod val="85000"/>
                </a:schemeClr>
              </a:solidFill>
            </a:endParaRPr>
          </a:p>
          <a:p>
            <a:pPr marL="0" indent="0">
              <a:buNone/>
            </a:pPr>
            <a:endParaRPr lang="en-US" altLang="ja-JP" sz="2600" b="1" dirty="0">
              <a:solidFill>
                <a:schemeClr val="tx1">
                  <a:lumMod val="85000"/>
                </a:schemeClr>
              </a:solidFill>
            </a:endParaRPr>
          </a:p>
          <a:p>
            <a:pPr>
              <a:lnSpc>
                <a:spcPct val="100000"/>
              </a:lnSpc>
            </a:pPr>
            <a:r>
              <a:rPr lang="ja-JP" altLang="en-US" sz="2600" dirty="0">
                <a:solidFill>
                  <a:schemeClr val="tx1">
                    <a:lumMod val="85000"/>
                  </a:schemeClr>
                </a:solidFill>
              </a:rPr>
              <a:t>対象</a:t>
            </a:r>
            <a:br>
              <a:rPr lang="en-US" altLang="ja-JP" sz="2600" dirty="0">
                <a:solidFill>
                  <a:schemeClr val="tx1">
                    <a:lumMod val="85000"/>
                  </a:schemeClr>
                </a:solidFill>
              </a:rPr>
            </a:br>
            <a:r>
              <a:rPr lang="ja-JP" altLang="en-US" sz="2600" dirty="0">
                <a:solidFill>
                  <a:schemeClr val="tx1">
                    <a:lumMod val="85000"/>
                  </a:schemeClr>
                </a:solidFill>
              </a:rPr>
              <a:t>完結済み作品、「エタった」作品</a:t>
            </a:r>
            <a:endParaRPr lang="en-US" altLang="ja-JP" sz="2600" dirty="0">
              <a:solidFill>
                <a:schemeClr val="tx1">
                  <a:lumMod val="85000"/>
                </a:schemeClr>
              </a:solidFill>
            </a:endParaRPr>
          </a:p>
          <a:p>
            <a:pPr>
              <a:lnSpc>
                <a:spcPct val="100000"/>
              </a:lnSpc>
            </a:pPr>
            <a:r>
              <a:rPr lang="ja-JP" altLang="en-US" sz="2600" dirty="0">
                <a:solidFill>
                  <a:schemeClr val="tx1">
                    <a:lumMod val="85000"/>
                  </a:schemeClr>
                </a:solidFill>
              </a:rPr>
              <a:t>除外対象</a:t>
            </a:r>
            <a:endParaRPr lang="en-US" altLang="ja-JP" sz="2600" dirty="0">
              <a:solidFill>
                <a:schemeClr val="tx1">
                  <a:lumMod val="85000"/>
                </a:schemeClr>
              </a:solidFill>
            </a:endParaRPr>
          </a:p>
          <a:p>
            <a:pPr lvl="1">
              <a:lnSpc>
                <a:spcPct val="100000"/>
              </a:lnSpc>
            </a:pPr>
            <a:r>
              <a:rPr lang="ja-JP" altLang="en-US" sz="2600" dirty="0">
                <a:solidFill>
                  <a:schemeClr val="tx1">
                    <a:lumMod val="85000"/>
                  </a:schemeClr>
                </a:solidFill>
              </a:rPr>
              <a:t>連載中（更新が</a:t>
            </a:r>
            <a:r>
              <a:rPr lang="en-US" altLang="ja-JP" sz="2600" dirty="0">
                <a:solidFill>
                  <a:schemeClr val="tx1">
                    <a:lumMod val="85000"/>
                  </a:schemeClr>
                </a:solidFill>
              </a:rPr>
              <a:t>1</a:t>
            </a:r>
            <a:r>
              <a:rPr lang="ja-JP" altLang="en-US" sz="2600" dirty="0">
                <a:solidFill>
                  <a:schemeClr val="tx1">
                    <a:lumMod val="85000"/>
                  </a:schemeClr>
                </a:solidFill>
              </a:rPr>
              <a:t>年以内）：学習時点で完結するかエタるか不明</a:t>
            </a:r>
            <a:endParaRPr lang="en-US" altLang="ja-JP" sz="2600" dirty="0">
              <a:solidFill>
                <a:schemeClr val="tx1">
                  <a:lumMod val="85000"/>
                </a:schemeClr>
              </a:solidFill>
            </a:endParaRPr>
          </a:p>
          <a:p>
            <a:pPr lvl="1">
              <a:lnSpc>
                <a:spcPct val="100000"/>
              </a:lnSpc>
            </a:pPr>
            <a:r>
              <a:rPr lang="ja-JP" altLang="en-US" sz="2600" dirty="0">
                <a:solidFill>
                  <a:schemeClr val="tx1">
                    <a:lumMod val="85000"/>
                  </a:schemeClr>
                </a:solidFill>
              </a:rPr>
              <a:t>短編：投稿時点で完結扱いとなるため研究対象外</a:t>
            </a:r>
            <a:endParaRPr lang="en-US" altLang="ja-JP" sz="2600" b="1" dirty="0">
              <a:solidFill>
                <a:schemeClr val="tx1">
                  <a:lumMod val="85000"/>
                </a:schemeClr>
              </a:solidFill>
            </a:endParaRPr>
          </a:p>
          <a:p>
            <a:pPr marL="0" indent="0">
              <a:buNone/>
            </a:pPr>
            <a:endParaRPr lang="en-US" altLang="ja-JP" dirty="0">
              <a:solidFill>
                <a:schemeClr val="tx1">
                  <a:lumMod val="85000"/>
                </a:schemeClr>
              </a:solidFill>
            </a:endParaRPr>
          </a:p>
        </p:txBody>
      </p:sp>
      <p:sp>
        <p:nvSpPr>
          <p:cNvPr id="4" name="スライド番号プレースホルダー 3">
            <a:extLst>
              <a:ext uri="{FF2B5EF4-FFF2-40B4-BE49-F238E27FC236}">
                <a16:creationId xmlns:a16="http://schemas.microsoft.com/office/drawing/2014/main" id="{C23262AA-4ED4-2F04-C870-34F94372CF91}"/>
              </a:ext>
            </a:extLst>
          </p:cNvPr>
          <p:cNvSpPr>
            <a:spLocks noGrp="1"/>
          </p:cNvSpPr>
          <p:nvPr>
            <p:ph type="sldNum" sz="quarter" idx="12"/>
          </p:nvPr>
        </p:nvSpPr>
        <p:spPr/>
        <p:txBody>
          <a:bodyPr/>
          <a:lstStyle/>
          <a:p>
            <a:fld id="{FD85A3AF-639B-47A7-B37E-FEBC6954B310}" type="slidenum">
              <a:rPr kumimoji="1" lang="ja-JP" altLang="en-US" smtClean="0"/>
              <a:t>5</a:t>
            </a:fld>
            <a:endParaRPr kumimoji="1" lang="ja-JP" altLang="en-US"/>
          </a:p>
        </p:txBody>
      </p:sp>
    </p:spTree>
    <p:extLst>
      <p:ext uri="{BB962C8B-B14F-4D97-AF65-F5344CB8AC3E}">
        <p14:creationId xmlns:p14="http://schemas.microsoft.com/office/powerpoint/2010/main" val="3321626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F96C019-A89F-57A0-BD28-B62B20975CCA}"/>
              </a:ext>
            </a:extLst>
          </p:cNvPr>
          <p:cNvSpPr/>
          <p:nvPr/>
        </p:nvSpPr>
        <p:spPr>
          <a:xfrm>
            <a:off x="8593837" y="1690688"/>
            <a:ext cx="2880002" cy="4896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35A161C-15ED-BEB3-EA21-2CFD730D9C75}"/>
              </a:ext>
            </a:extLst>
          </p:cNvPr>
          <p:cNvSpPr>
            <a:spLocks noGrp="1"/>
          </p:cNvSpPr>
          <p:nvPr>
            <p:ph type="title"/>
          </p:nvPr>
        </p:nvSpPr>
        <p:spPr/>
        <p:txBody>
          <a:bodyPr/>
          <a:lstStyle/>
          <a:p>
            <a:r>
              <a:rPr kumimoji="1" lang="ja-JP" altLang="en-US" dirty="0"/>
              <a:t>研究概要：</a:t>
            </a:r>
            <a:r>
              <a:rPr lang="ja-JP" altLang="en-US" dirty="0"/>
              <a:t>データセットの構築</a:t>
            </a:r>
            <a:endParaRPr kumimoji="1" lang="ja-JP" altLang="en-US" dirty="0"/>
          </a:p>
        </p:txBody>
      </p:sp>
      <p:grpSp>
        <p:nvGrpSpPr>
          <p:cNvPr id="11" name="グループ化 10">
            <a:extLst>
              <a:ext uri="{FF2B5EF4-FFF2-40B4-BE49-F238E27FC236}">
                <a16:creationId xmlns:a16="http://schemas.microsoft.com/office/drawing/2014/main" id="{4F86FE15-53C0-9D5A-B83E-513F3DE9AD10}"/>
              </a:ext>
            </a:extLst>
          </p:cNvPr>
          <p:cNvGrpSpPr/>
          <p:nvPr/>
        </p:nvGrpSpPr>
        <p:grpSpPr>
          <a:xfrm>
            <a:off x="838200" y="1690688"/>
            <a:ext cx="6111068" cy="5044160"/>
            <a:chOff x="838200" y="1690688"/>
            <a:chExt cx="6111068" cy="5044160"/>
          </a:xfrm>
        </p:grpSpPr>
        <p:grpSp>
          <p:nvGrpSpPr>
            <p:cNvPr id="79" name="グループ化 78">
              <a:extLst>
                <a:ext uri="{FF2B5EF4-FFF2-40B4-BE49-F238E27FC236}">
                  <a16:creationId xmlns:a16="http://schemas.microsoft.com/office/drawing/2014/main" id="{88B227D1-A377-6D56-F8C3-43CA56BE9370}"/>
                </a:ext>
              </a:extLst>
            </p:cNvPr>
            <p:cNvGrpSpPr/>
            <p:nvPr/>
          </p:nvGrpSpPr>
          <p:grpSpPr>
            <a:xfrm>
              <a:off x="838200" y="1690688"/>
              <a:ext cx="6111068" cy="4580276"/>
              <a:chOff x="2760783" y="1912599"/>
              <a:chExt cx="6111068" cy="4580276"/>
            </a:xfrm>
          </p:grpSpPr>
          <p:sp>
            <p:nvSpPr>
              <p:cNvPr id="8" name="四角形: 角を丸くする 7">
                <a:extLst>
                  <a:ext uri="{FF2B5EF4-FFF2-40B4-BE49-F238E27FC236}">
                    <a16:creationId xmlns:a16="http://schemas.microsoft.com/office/drawing/2014/main" id="{05EE9F00-1509-9A79-B36C-0718D92796B6}"/>
                  </a:ext>
                </a:extLst>
              </p:cNvPr>
              <p:cNvSpPr/>
              <p:nvPr/>
            </p:nvSpPr>
            <p:spPr>
              <a:xfrm>
                <a:off x="3349450" y="1939339"/>
                <a:ext cx="1644579" cy="59285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85000"/>
                      </a:schemeClr>
                    </a:solidFill>
                  </a:rPr>
                  <a:t>ジャンル</a:t>
                </a:r>
                <a:r>
                  <a:rPr kumimoji="1" lang="en-US" altLang="ja-JP" dirty="0">
                    <a:solidFill>
                      <a:schemeClr val="tx1">
                        <a:lumMod val="85000"/>
                      </a:schemeClr>
                    </a:solidFill>
                  </a:rPr>
                  <a:t>1</a:t>
                </a:r>
              </a:p>
            </p:txBody>
          </p:sp>
          <p:sp>
            <p:nvSpPr>
              <p:cNvPr id="9" name="四角形: 角を丸くする 8">
                <a:extLst>
                  <a:ext uri="{FF2B5EF4-FFF2-40B4-BE49-F238E27FC236}">
                    <a16:creationId xmlns:a16="http://schemas.microsoft.com/office/drawing/2014/main" id="{44523AF5-C2E0-83D7-1256-5A179571AF31}"/>
                  </a:ext>
                </a:extLst>
              </p:cNvPr>
              <p:cNvSpPr/>
              <p:nvPr/>
            </p:nvSpPr>
            <p:spPr>
              <a:xfrm>
                <a:off x="6638607" y="1939339"/>
                <a:ext cx="1644579" cy="59285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lumMod val="85000"/>
                      </a:schemeClr>
                    </a:solidFill>
                  </a:rPr>
                  <a:t>ジャンル</a:t>
                </a:r>
                <a:r>
                  <a:rPr lang="en-US" altLang="ja-JP" dirty="0">
                    <a:solidFill>
                      <a:schemeClr val="tx1">
                        <a:lumMod val="85000"/>
                      </a:schemeClr>
                    </a:solidFill>
                  </a:rPr>
                  <a:t>21</a:t>
                </a:r>
                <a:endParaRPr kumimoji="1" lang="en-US" altLang="ja-JP" dirty="0">
                  <a:solidFill>
                    <a:schemeClr val="tx1">
                      <a:lumMod val="85000"/>
                    </a:schemeClr>
                  </a:solidFill>
                </a:endParaRPr>
              </a:p>
            </p:txBody>
          </p:sp>
          <p:cxnSp>
            <p:nvCxnSpPr>
              <p:cNvPr id="12" name="直線コネクタ 11">
                <a:extLst>
                  <a:ext uri="{FF2B5EF4-FFF2-40B4-BE49-F238E27FC236}">
                    <a16:creationId xmlns:a16="http://schemas.microsoft.com/office/drawing/2014/main" id="{C934F335-5D4B-B8FC-011C-A9AE84333AAE}"/>
                  </a:ext>
                </a:extLst>
              </p:cNvPr>
              <p:cNvCxnSpPr>
                <a:cxnSpLocks/>
                <a:stCxn id="8" idx="2"/>
                <a:endCxn id="19" idx="0"/>
              </p:cNvCxnSpPr>
              <p:nvPr/>
            </p:nvCxnSpPr>
            <p:spPr>
              <a:xfrm flipH="1">
                <a:off x="3349450" y="2532191"/>
                <a:ext cx="822290" cy="49169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42AA6153-948E-993D-E1F5-E794E154EB71}"/>
                  </a:ext>
                </a:extLst>
              </p:cNvPr>
              <p:cNvCxnSpPr>
                <a:cxnSpLocks/>
                <a:stCxn id="8" idx="2"/>
                <a:endCxn id="21" idx="0"/>
              </p:cNvCxnSpPr>
              <p:nvPr/>
            </p:nvCxnSpPr>
            <p:spPr>
              <a:xfrm>
                <a:off x="4171740" y="2532191"/>
                <a:ext cx="822289" cy="4923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7DA6A141-FC2C-925F-BF8E-E4EAED8CA8E4}"/>
                  </a:ext>
                </a:extLst>
              </p:cNvPr>
              <p:cNvSpPr txBox="1"/>
              <p:nvPr/>
            </p:nvSpPr>
            <p:spPr>
              <a:xfrm>
                <a:off x="2760783" y="3023888"/>
                <a:ext cx="1177334" cy="276999"/>
              </a:xfrm>
              <a:prstGeom prst="rect">
                <a:avLst/>
              </a:prstGeom>
              <a:noFill/>
            </p:spPr>
            <p:txBody>
              <a:bodyPr wrap="square" rtlCol="0">
                <a:spAutoFit/>
              </a:bodyPr>
              <a:lstStyle/>
              <a:p>
                <a:pPr algn="ctr"/>
                <a:r>
                  <a:rPr lang="ja-JP" altLang="en-US" sz="1200" dirty="0">
                    <a:solidFill>
                      <a:schemeClr val="tx1">
                        <a:lumMod val="85000"/>
                      </a:schemeClr>
                    </a:solidFill>
                  </a:rPr>
                  <a:t>ソート条件</a:t>
                </a:r>
                <a:r>
                  <a:rPr lang="en-US" altLang="ja-JP" sz="1200" dirty="0">
                    <a:solidFill>
                      <a:schemeClr val="tx1">
                        <a:lumMod val="85000"/>
                      </a:schemeClr>
                    </a:solidFill>
                  </a:rPr>
                  <a:t>1</a:t>
                </a:r>
                <a:endParaRPr kumimoji="1" lang="ja-JP" altLang="en-US" sz="1200" dirty="0">
                  <a:solidFill>
                    <a:schemeClr val="tx1">
                      <a:lumMod val="85000"/>
                    </a:schemeClr>
                  </a:solidFill>
                </a:endParaRPr>
              </a:p>
            </p:txBody>
          </p:sp>
          <p:sp>
            <p:nvSpPr>
              <p:cNvPr id="21" name="テキスト ボックス 20">
                <a:extLst>
                  <a:ext uri="{FF2B5EF4-FFF2-40B4-BE49-F238E27FC236}">
                    <a16:creationId xmlns:a16="http://schemas.microsoft.com/office/drawing/2014/main" id="{A1A51574-082D-6DA8-8DDF-90B7509F248A}"/>
                  </a:ext>
                </a:extLst>
              </p:cNvPr>
              <p:cNvSpPr txBox="1"/>
              <p:nvPr/>
            </p:nvSpPr>
            <p:spPr>
              <a:xfrm>
                <a:off x="4405362" y="3024557"/>
                <a:ext cx="1177334" cy="276999"/>
              </a:xfrm>
              <a:prstGeom prst="rect">
                <a:avLst/>
              </a:prstGeom>
              <a:noFill/>
            </p:spPr>
            <p:txBody>
              <a:bodyPr wrap="square" rtlCol="0">
                <a:spAutoFit/>
              </a:bodyPr>
              <a:lstStyle/>
              <a:p>
                <a:pPr algn="ctr"/>
                <a:r>
                  <a:rPr lang="ja-JP" altLang="en-US" sz="1200" dirty="0">
                    <a:solidFill>
                      <a:schemeClr val="tx1">
                        <a:lumMod val="85000"/>
                      </a:schemeClr>
                    </a:solidFill>
                  </a:rPr>
                  <a:t>ソート条件</a:t>
                </a:r>
                <a:r>
                  <a:rPr lang="en-US" altLang="ja-JP" sz="1200" dirty="0">
                    <a:solidFill>
                      <a:schemeClr val="tx1">
                        <a:lumMod val="85000"/>
                      </a:schemeClr>
                    </a:solidFill>
                  </a:rPr>
                  <a:t>20</a:t>
                </a:r>
                <a:endParaRPr kumimoji="1" lang="ja-JP" altLang="en-US" sz="1200" dirty="0">
                  <a:solidFill>
                    <a:schemeClr val="tx1">
                      <a:lumMod val="85000"/>
                    </a:schemeClr>
                  </a:solidFill>
                </a:endParaRPr>
              </a:p>
            </p:txBody>
          </p:sp>
          <p:sp>
            <p:nvSpPr>
              <p:cNvPr id="30" name="テキスト ボックス 29">
                <a:extLst>
                  <a:ext uri="{FF2B5EF4-FFF2-40B4-BE49-F238E27FC236}">
                    <a16:creationId xmlns:a16="http://schemas.microsoft.com/office/drawing/2014/main" id="{A1A712B8-2499-18C6-929F-32582EABCE09}"/>
                  </a:ext>
                </a:extLst>
              </p:cNvPr>
              <p:cNvSpPr txBox="1"/>
              <p:nvPr/>
            </p:nvSpPr>
            <p:spPr>
              <a:xfrm>
                <a:off x="4994029" y="1912599"/>
                <a:ext cx="1644579" cy="646331"/>
              </a:xfrm>
              <a:prstGeom prst="rect">
                <a:avLst/>
              </a:prstGeom>
              <a:noFill/>
            </p:spPr>
            <p:txBody>
              <a:bodyPr wrap="square" rtlCol="0">
                <a:spAutoFit/>
              </a:bodyPr>
              <a:lstStyle/>
              <a:p>
                <a:pPr algn="ctr"/>
                <a:r>
                  <a:rPr lang="en-US" altLang="ja-JP" sz="3600" dirty="0">
                    <a:solidFill>
                      <a:schemeClr val="tx1">
                        <a:lumMod val="85000"/>
                      </a:schemeClr>
                    </a:solidFill>
                  </a:rPr>
                  <a:t>…</a:t>
                </a:r>
                <a:endParaRPr kumimoji="1" lang="ja-JP" altLang="en-US" sz="3600" dirty="0">
                  <a:solidFill>
                    <a:schemeClr val="tx1">
                      <a:lumMod val="85000"/>
                    </a:schemeClr>
                  </a:solidFill>
                </a:endParaRPr>
              </a:p>
            </p:txBody>
          </p:sp>
          <p:sp>
            <p:nvSpPr>
              <p:cNvPr id="31" name="テキスト ボックス 30">
                <a:extLst>
                  <a:ext uri="{FF2B5EF4-FFF2-40B4-BE49-F238E27FC236}">
                    <a16:creationId xmlns:a16="http://schemas.microsoft.com/office/drawing/2014/main" id="{B7EFFC36-5FBF-EBFF-1437-0DB375343515}"/>
                  </a:ext>
                </a:extLst>
              </p:cNvPr>
              <p:cNvSpPr txBox="1"/>
              <p:nvPr/>
            </p:nvSpPr>
            <p:spPr>
              <a:xfrm>
                <a:off x="3938115" y="2925194"/>
                <a:ext cx="467245" cy="369332"/>
              </a:xfrm>
              <a:prstGeom prst="rect">
                <a:avLst/>
              </a:prstGeom>
              <a:noFill/>
            </p:spPr>
            <p:txBody>
              <a:bodyPr wrap="square" rtlCol="0">
                <a:spAutoFit/>
              </a:bodyPr>
              <a:lstStyle/>
              <a:p>
                <a:pPr algn="ctr"/>
                <a:r>
                  <a:rPr lang="en-US" altLang="ja-JP" dirty="0">
                    <a:solidFill>
                      <a:schemeClr val="tx1">
                        <a:lumMod val="85000"/>
                      </a:schemeClr>
                    </a:solidFill>
                  </a:rPr>
                  <a:t>…</a:t>
                </a:r>
                <a:endParaRPr kumimoji="1" lang="ja-JP" altLang="en-US" dirty="0">
                  <a:solidFill>
                    <a:schemeClr val="tx1">
                      <a:lumMod val="85000"/>
                    </a:schemeClr>
                  </a:solidFill>
                </a:endParaRPr>
              </a:p>
            </p:txBody>
          </p:sp>
          <p:cxnSp>
            <p:nvCxnSpPr>
              <p:cNvPr id="33" name="直線矢印コネクタ 32">
                <a:extLst>
                  <a:ext uri="{FF2B5EF4-FFF2-40B4-BE49-F238E27FC236}">
                    <a16:creationId xmlns:a16="http://schemas.microsoft.com/office/drawing/2014/main" id="{755BD4D5-99F9-6E3B-129E-89F686B307AA}"/>
                  </a:ext>
                </a:extLst>
              </p:cNvPr>
              <p:cNvCxnSpPr>
                <a:cxnSpLocks/>
                <a:stCxn id="19" idx="2"/>
                <a:endCxn id="38" idx="0"/>
              </p:cNvCxnSpPr>
              <p:nvPr/>
            </p:nvCxnSpPr>
            <p:spPr>
              <a:xfrm>
                <a:off x="3349450" y="3300887"/>
                <a:ext cx="2" cy="457202"/>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直線矢印コネクタ 33">
                <a:extLst>
                  <a:ext uri="{FF2B5EF4-FFF2-40B4-BE49-F238E27FC236}">
                    <a16:creationId xmlns:a16="http://schemas.microsoft.com/office/drawing/2014/main" id="{54A4B832-963E-309F-54B5-438A14E0822B}"/>
                  </a:ext>
                </a:extLst>
              </p:cNvPr>
              <p:cNvCxnSpPr>
                <a:cxnSpLocks/>
                <a:stCxn id="21" idx="2"/>
                <a:endCxn id="40" idx="0"/>
              </p:cNvCxnSpPr>
              <p:nvPr/>
            </p:nvCxnSpPr>
            <p:spPr>
              <a:xfrm flipH="1">
                <a:off x="4994028" y="3301556"/>
                <a:ext cx="1" cy="45653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 name="四角形: 角を丸くする 37">
                <a:extLst>
                  <a:ext uri="{FF2B5EF4-FFF2-40B4-BE49-F238E27FC236}">
                    <a16:creationId xmlns:a16="http://schemas.microsoft.com/office/drawing/2014/main" id="{1E75A3A4-E0A7-FE58-8BFB-664776F37303}"/>
                  </a:ext>
                </a:extLst>
              </p:cNvPr>
              <p:cNvSpPr/>
              <p:nvPr/>
            </p:nvSpPr>
            <p:spPr>
              <a:xfrm>
                <a:off x="2760786" y="3758089"/>
                <a:ext cx="1177331" cy="45720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lumMod val="85000"/>
                      </a:schemeClr>
                    </a:solidFill>
                  </a:rPr>
                  <a:t>2000</a:t>
                </a:r>
                <a:r>
                  <a:rPr kumimoji="1" lang="ja-JP" altLang="en-US" sz="1600" dirty="0">
                    <a:solidFill>
                      <a:schemeClr val="tx1">
                        <a:lumMod val="85000"/>
                      </a:schemeClr>
                    </a:solidFill>
                  </a:rPr>
                  <a:t>件</a:t>
                </a:r>
                <a:endParaRPr kumimoji="1" lang="en-US" altLang="ja-JP" sz="1600" dirty="0">
                  <a:solidFill>
                    <a:schemeClr val="tx1">
                      <a:lumMod val="85000"/>
                    </a:schemeClr>
                  </a:solidFill>
                </a:endParaRPr>
              </a:p>
            </p:txBody>
          </p:sp>
          <p:sp>
            <p:nvSpPr>
              <p:cNvPr id="40" name="四角形: 角を丸くする 39">
                <a:extLst>
                  <a:ext uri="{FF2B5EF4-FFF2-40B4-BE49-F238E27FC236}">
                    <a16:creationId xmlns:a16="http://schemas.microsoft.com/office/drawing/2014/main" id="{A0F4DB7A-56E7-8A64-FCED-0F8330E7D251}"/>
                  </a:ext>
                </a:extLst>
              </p:cNvPr>
              <p:cNvSpPr/>
              <p:nvPr/>
            </p:nvSpPr>
            <p:spPr>
              <a:xfrm>
                <a:off x="4405362" y="3758089"/>
                <a:ext cx="1177331" cy="45720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lumMod val="85000"/>
                      </a:schemeClr>
                    </a:solidFill>
                  </a:rPr>
                  <a:t>2000</a:t>
                </a:r>
                <a:r>
                  <a:rPr kumimoji="1" lang="ja-JP" altLang="en-US" sz="1600" dirty="0">
                    <a:solidFill>
                      <a:schemeClr val="tx1">
                        <a:lumMod val="85000"/>
                      </a:schemeClr>
                    </a:solidFill>
                  </a:rPr>
                  <a:t>件</a:t>
                </a:r>
                <a:endParaRPr kumimoji="1" lang="en-US" altLang="ja-JP" sz="1600" dirty="0">
                  <a:solidFill>
                    <a:schemeClr val="tx1">
                      <a:lumMod val="85000"/>
                    </a:schemeClr>
                  </a:solidFill>
                </a:endParaRPr>
              </a:p>
            </p:txBody>
          </p:sp>
          <p:sp>
            <p:nvSpPr>
              <p:cNvPr id="43" name="テキスト ボックス 42">
                <a:extLst>
                  <a:ext uri="{FF2B5EF4-FFF2-40B4-BE49-F238E27FC236}">
                    <a16:creationId xmlns:a16="http://schemas.microsoft.com/office/drawing/2014/main" id="{B295FBBA-8712-8609-C119-091B4A1CF431}"/>
                  </a:ext>
                </a:extLst>
              </p:cNvPr>
              <p:cNvSpPr txBox="1"/>
              <p:nvPr/>
            </p:nvSpPr>
            <p:spPr>
              <a:xfrm>
                <a:off x="3938115" y="3745475"/>
                <a:ext cx="467245" cy="369332"/>
              </a:xfrm>
              <a:prstGeom prst="rect">
                <a:avLst/>
              </a:prstGeom>
              <a:noFill/>
            </p:spPr>
            <p:txBody>
              <a:bodyPr wrap="square" rtlCol="0">
                <a:spAutoFit/>
              </a:bodyPr>
              <a:lstStyle/>
              <a:p>
                <a:pPr algn="ctr"/>
                <a:r>
                  <a:rPr lang="en-US" altLang="ja-JP" dirty="0">
                    <a:solidFill>
                      <a:schemeClr val="tx1">
                        <a:lumMod val="85000"/>
                      </a:schemeClr>
                    </a:solidFill>
                  </a:rPr>
                  <a:t>…</a:t>
                </a:r>
                <a:endParaRPr kumimoji="1" lang="ja-JP" altLang="en-US" dirty="0">
                  <a:solidFill>
                    <a:schemeClr val="tx1">
                      <a:lumMod val="85000"/>
                    </a:schemeClr>
                  </a:solidFill>
                </a:endParaRPr>
              </a:p>
            </p:txBody>
          </p:sp>
          <p:sp>
            <p:nvSpPr>
              <p:cNvPr id="44" name="四角形: 角を丸くする 43">
                <a:extLst>
                  <a:ext uri="{FF2B5EF4-FFF2-40B4-BE49-F238E27FC236}">
                    <a16:creationId xmlns:a16="http://schemas.microsoft.com/office/drawing/2014/main" id="{3C29D66A-0E4A-3E97-4ABE-ECEBBEC2CD4D}"/>
                  </a:ext>
                </a:extLst>
              </p:cNvPr>
              <p:cNvSpPr/>
              <p:nvPr/>
            </p:nvSpPr>
            <p:spPr>
              <a:xfrm>
                <a:off x="3349448" y="4796754"/>
                <a:ext cx="1644579" cy="59285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85000"/>
                      </a:schemeClr>
                    </a:solidFill>
                  </a:rPr>
                  <a:t>重複削除</a:t>
                </a:r>
                <a:endParaRPr kumimoji="1" lang="en-US" altLang="ja-JP" dirty="0">
                  <a:solidFill>
                    <a:schemeClr val="tx1">
                      <a:lumMod val="85000"/>
                    </a:schemeClr>
                  </a:solidFill>
                </a:endParaRPr>
              </a:p>
            </p:txBody>
          </p:sp>
          <p:cxnSp>
            <p:nvCxnSpPr>
              <p:cNvPr id="46" name="直線矢印コネクタ 45">
                <a:extLst>
                  <a:ext uri="{FF2B5EF4-FFF2-40B4-BE49-F238E27FC236}">
                    <a16:creationId xmlns:a16="http://schemas.microsoft.com/office/drawing/2014/main" id="{B048A4D5-EAD9-0FC8-0D7D-C1E73771612D}"/>
                  </a:ext>
                </a:extLst>
              </p:cNvPr>
              <p:cNvCxnSpPr>
                <a:stCxn id="38" idx="2"/>
                <a:endCxn id="44" idx="0"/>
              </p:cNvCxnSpPr>
              <p:nvPr/>
            </p:nvCxnSpPr>
            <p:spPr>
              <a:xfrm>
                <a:off x="3349452" y="4215291"/>
                <a:ext cx="822286" cy="5814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直線矢印コネクタ 47">
                <a:extLst>
                  <a:ext uri="{FF2B5EF4-FFF2-40B4-BE49-F238E27FC236}">
                    <a16:creationId xmlns:a16="http://schemas.microsoft.com/office/drawing/2014/main" id="{71F7501A-968D-18C3-B0AD-E0DC8FE98163}"/>
                  </a:ext>
                </a:extLst>
              </p:cNvPr>
              <p:cNvCxnSpPr>
                <a:stCxn id="40" idx="2"/>
                <a:endCxn id="44" idx="0"/>
              </p:cNvCxnSpPr>
              <p:nvPr/>
            </p:nvCxnSpPr>
            <p:spPr>
              <a:xfrm flipH="1">
                <a:off x="4171738" y="4215291"/>
                <a:ext cx="822290" cy="5814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直線コネクタ 48">
                <a:extLst>
                  <a:ext uri="{FF2B5EF4-FFF2-40B4-BE49-F238E27FC236}">
                    <a16:creationId xmlns:a16="http://schemas.microsoft.com/office/drawing/2014/main" id="{BA584514-A4C4-066E-0576-028B225C7B85}"/>
                  </a:ext>
                </a:extLst>
              </p:cNvPr>
              <p:cNvCxnSpPr>
                <a:cxnSpLocks/>
                <a:stCxn id="9" idx="2"/>
                <a:endCxn id="51" idx="0"/>
              </p:cNvCxnSpPr>
              <p:nvPr/>
            </p:nvCxnSpPr>
            <p:spPr>
              <a:xfrm flipH="1">
                <a:off x="6638605" y="2532191"/>
                <a:ext cx="822292" cy="49102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直線コネクタ 49">
                <a:extLst>
                  <a:ext uri="{FF2B5EF4-FFF2-40B4-BE49-F238E27FC236}">
                    <a16:creationId xmlns:a16="http://schemas.microsoft.com/office/drawing/2014/main" id="{E0A75523-1694-AA9D-4B54-80E97300F96C}"/>
                  </a:ext>
                </a:extLst>
              </p:cNvPr>
              <p:cNvCxnSpPr>
                <a:cxnSpLocks/>
                <a:stCxn id="9" idx="2"/>
                <a:endCxn id="52" idx="0"/>
              </p:cNvCxnSpPr>
              <p:nvPr/>
            </p:nvCxnSpPr>
            <p:spPr>
              <a:xfrm>
                <a:off x="7460897" y="2532191"/>
                <a:ext cx="822287" cy="49169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1" name="テキスト ボックス 50">
                <a:extLst>
                  <a:ext uri="{FF2B5EF4-FFF2-40B4-BE49-F238E27FC236}">
                    <a16:creationId xmlns:a16="http://schemas.microsoft.com/office/drawing/2014/main" id="{5A4488D4-0358-F641-6403-B7F07EEE4072}"/>
                  </a:ext>
                </a:extLst>
              </p:cNvPr>
              <p:cNvSpPr txBox="1"/>
              <p:nvPr/>
            </p:nvSpPr>
            <p:spPr>
              <a:xfrm>
                <a:off x="6049938" y="3023219"/>
                <a:ext cx="1177334" cy="276999"/>
              </a:xfrm>
              <a:prstGeom prst="rect">
                <a:avLst/>
              </a:prstGeom>
              <a:noFill/>
            </p:spPr>
            <p:txBody>
              <a:bodyPr wrap="square" rtlCol="0">
                <a:spAutoFit/>
              </a:bodyPr>
              <a:lstStyle/>
              <a:p>
                <a:pPr algn="ctr"/>
                <a:r>
                  <a:rPr lang="ja-JP" altLang="en-US" sz="1200" dirty="0">
                    <a:solidFill>
                      <a:schemeClr val="tx1">
                        <a:lumMod val="85000"/>
                      </a:schemeClr>
                    </a:solidFill>
                  </a:rPr>
                  <a:t>ソート条件</a:t>
                </a:r>
                <a:r>
                  <a:rPr lang="en-US" altLang="ja-JP" sz="1200" dirty="0">
                    <a:solidFill>
                      <a:schemeClr val="tx1">
                        <a:lumMod val="85000"/>
                      </a:schemeClr>
                    </a:solidFill>
                  </a:rPr>
                  <a:t>1</a:t>
                </a:r>
                <a:endParaRPr kumimoji="1" lang="ja-JP" altLang="en-US" sz="1200" dirty="0">
                  <a:solidFill>
                    <a:schemeClr val="tx1">
                      <a:lumMod val="85000"/>
                    </a:schemeClr>
                  </a:solidFill>
                </a:endParaRPr>
              </a:p>
            </p:txBody>
          </p:sp>
          <p:sp>
            <p:nvSpPr>
              <p:cNvPr id="52" name="テキスト ボックス 51">
                <a:extLst>
                  <a:ext uri="{FF2B5EF4-FFF2-40B4-BE49-F238E27FC236}">
                    <a16:creationId xmlns:a16="http://schemas.microsoft.com/office/drawing/2014/main" id="{042E9B11-F1FC-2267-AC7B-0E46A409CF3B}"/>
                  </a:ext>
                </a:extLst>
              </p:cNvPr>
              <p:cNvSpPr txBox="1"/>
              <p:nvPr/>
            </p:nvSpPr>
            <p:spPr>
              <a:xfrm>
                <a:off x="7694517" y="3023888"/>
                <a:ext cx="1177334" cy="276999"/>
              </a:xfrm>
              <a:prstGeom prst="rect">
                <a:avLst/>
              </a:prstGeom>
              <a:noFill/>
            </p:spPr>
            <p:txBody>
              <a:bodyPr wrap="square" rtlCol="0">
                <a:spAutoFit/>
              </a:bodyPr>
              <a:lstStyle/>
              <a:p>
                <a:pPr algn="ctr"/>
                <a:r>
                  <a:rPr lang="ja-JP" altLang="en-US" sz="1200" dirty="0">
                    <a:solidFill>
                      <a:schemeClr val="tx1">
                        <a:lumMod val="85000"/>
                      </a:schemeClr>
                    </a:solidFill>
                  </a:rPr>
                  <a:t>ソート条件</a:t>
                </a:r>
                <a:r>
                  <a:rPr lang="en-US" altLang="ja-JP" sz="1200" dirty="0">
                    <a:solidFill>
                      <a:schemeClr val="tx1">
                        <a:lumMod val="85000"/>
                      </a:schemeClr>
                    </a:solidFill>
                  </a:rPr>
                  <a:t>20</a:t>
                </a:r>
                <a:endParaRPr kumimoji="1" lang="ja-JP" altLang="en-US" sz="1200" dirty="0">
                  <a:solidFill>
                    <a:schemeClr val="tx1">
                      <a:lumMod val="85000"/>
                    </a:schemeClr>
                  </a:solidFill>
                </a:endParaRPr>
              </a:p>
            </p:txBody>
          </p:sp>
          <p:sp>
            <p:nvSpPr>
              <p:cNvPr id="53" name="テキスト ボックス 52">
                <a:extLst>
                  <a:ext uri="{FF2B5EF4-FFF2-40B4-BE49-F238E27FC236}">
                    <a16:creationId xmlns:a16="http://schemas.microsoft.com/office/drawing/2014/main" id="{22CE66A7-B919-2507-0C27-387C1BE027CE}"/>
                  </a:ext>
                </a:extLst>
              </p:cNvPr>
              <p:cNvSpPr txBox="1"/>
              <p:nvPr/>
            </p:nvSpPr>
            <p:spPr>
              <a:xfrm>
                <a:off x="7227269" y="2841835"/>
                <a:ext cx="467245" cy="461665"/>
              </a:xfrm>
              <a:prstGeom prst="rect">
                <a:avLst/>
              </a:prstGeom>
              <a:noFill/>
            </p:spPr>
            <p:txBody>
              <a:bodyPr wrap="square" rtlCol="0">
                <a:spAutoFit/>
              </a:bodyPr>
              <a:lstStyle/>
              <a:p>
                <a:pPr algn="ctr"/>
                <a:r>
                  <a:rPr lang="en-US" altLang="ja-JP" sz="2400" dirty="0">
                    <a:solidFill>
                      <a:schemeClr val="tx1">
                        <a:lumMod val="85000"/>
                      </a:schemeClr>
                    </a:solidFill>
                  </a:rPr>
                  <a:t>…</a:t>
                </a:r>
                <a:endParaRPr kumimoji="1" lang="ja-JP" altLang="en-US" sz="2400" dirty="0">
                  <a:solidFill>
                    <a:schemeClr val="tx1">
                      <a:lumMod val="85000"/>
                    </a:schemeClr>
                  </a:solidFill>
                </a:endParaRPr>
              </a:p>
            </p:txBody>
          </p:sp>
          <p:sp>
            <p:nvSpPr>
              <p:cNvPr id="54" name="四角形: 角を丸くする 53">
                <a:extLst>
                  <a:ext uri="{FF2B5EF4-FFF2-40B4-BE49-F238E27FC236}">
                    <a16:creationId xmlns:a16="http://schemas.microsoft.com/office/drawing/2014/main" id="{8220AE68-1563-44C5-C571-B33B455E259B}"/>
                  </a:ext>
                </a:extLst>
              </p:cNvPr>
              <p:cNvSpPr/>
              <p:nvPr/>
            </p:nvSpPr>
            <p:spPr>
              <a:xfrm>
                <a:off x="6049941" y="3757420"/>
                <a:ext cx="1177331" cy="45720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lumMod val="85000"/>
                      </a:schemeClr>
                    </a:solidFill>
                  </a:rPr>
                  <a:t>2000</a:t>
                </a:r>
                <a:r>
                  <a:rPr kumimoji="1" lang="ja-JP" altLang="en-US" sz="1600" dirty="0">
                    <a:solidFill>
                      <a:schemeClr val="tx1">
                        <a:lumMod val="85000"/>
                      </a:schemeClr>
                    </a:solidFill>
                  </a:rPr>
                  <a:t>件</a:t>
                </a:r>
                <a:endParaRPr kumimoji="1" lang="en-US" altLang="ja-JP" sz="1600" dirty="0">
                  <a:solidFill>
                    <a:schemeClr val="tx1">
                      <a:lumMod val="85000"/>
                    </a:schemeClr>
                  </a:solidFill>
                </a:endParaRPr>
              </a:p>
            </p:txBody>
          </p:sp>
          <p:sp>
            <p:nvSpPr>
              <p:cNvPr id="55" name="四角形: 角を丸くする 54">
                <a:extLst>
                  <a:ext uri="{FF2B5EF4-FFF2-40B4-BE49-F238E27FC236}">
                    <a16:creationId xmlns:a16="http://schemas.microsoft.com/office/drawing/2014/main" id="{205F8A60-E9CC-D9DF-F788-7EEF8C8C714C}"/>
                  </a:ext>
                </a:extLst>
              </p:cNvPr>
              <p:cNvSpPr/>
              <p:nvPr/>
            </p:nvSpPr>
            <p:spPr>
              <a:xfrm>
                <a:off x="7694517" y="3757420"/>
                <a:ext cx="1177331" cy="45720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lumMod val="85000"/>
                      </a:schemeClr>
                    </a:solidFill>
                  </a:rPr>
                  <a:t>2000</a:t>
                </a:r>
                <a:r>
                  <a:rPr kumimoji="1" lang="ja-JP" altLang="en-US" sz="1600" dirty="0">
                    <a:solidFill>
                      <a:schemeClr val="tx1">
                        <a:lumMod val="85000"/>
                      </a:schemeClr>
                    </a:solidFill>
                  </a:rPr>
                  <a:t>件</a:t>
                </a:r>
                <a:endParaRPr kumimoji="1" lang="en-US" altLang="ja-JP" sz="1600" dirty="0">
                  <a:solidFill>
                    <a:schemeClr val="tx1">
                      <a:lumMod val="85000"/>
                    </a:schemeClr>
                  </a:solidFill>
                </a:endParaRPr>
              </a:p>
            </p:txBody>
          </p:sp>
          <p:sp>
            <p:nvSpPr>
              <p:cNvPr id="56" name="テキスト ボックス 55">
                <a:extLst>
                  <a:ext uri="{FF2B5EF4-FFF2-40B4-BE49-F238E27FC236}">
                    <a16:creationId xmlns:a16="http://schemas.microsoft.com/office/drawing/2014/main" id="{75F58AA7-17B4-1724-FE10-A12095B8B245}"/>
                  </a:ext>
                </a:extLst>
              </p:cNvPr>
              <p:cNvSpPr txBox="1"/>
              <p:nvPr/>
            </p:nvSpPr>
            <p:spPr>
              <a:xfrm>
                <a:off x="7227269" y="3734028"/>
                <a:ext cx="467245" cy="369332"/>
              </a:xfrm>
              <a:prstGeom prst="rect">
                <a:avLst/>
              </a:prstGeom>
              <a:noFill/>
            </p:spPr>
            <p:txBody>
              <a:bodyPr wrap="square" rtlCol="0">
                <a:spAutoFit/>
              </a:bodyPr>
              <a:lstStyle/>
              <a:p>
                <a:pPr algn="ctr"/>
                <a:r>
                  <a:rPr lang="en-US" altLang="ja-JP" dirty="0">
                    <a:solidFill>
                      <a:schemeClr val="tx1">
                        <a:lumMod val="85000"/>
                      </a:schemeClr>
                    </a:solidFill>
                  </a:rPr>
                  <a:t>…</a:t>
                </a:r>
                <a:endParaRPr kumimoji="1" lang="ja-JP" altLang="en-US" dirty="0">
                  <a:solidFill>
                    <a:schemeClr val="tx1">
                      <a:lumMod val="85000"/>
                    </a:schemeClr>
                  </a:solidFill>
                </a:endParaRPr>
              </a:p>
            </p:txBody>
          </p:sp>
          <p:sp>
            <p:nvSpPr>
              <p:cNvPr id="57" name="四角形: 角を丸くする 56">
                <a:extLst>
                  <a:ext uri="{FF2B5EF4-FFF2-40B4-BE49-F238E27FC236}">
                    <a16:creationId xmlns:a16="http://schemas.microsoft.com/office/drawing/2014/main" id="{487C6A77-7918-2771-29D3-6FB70E37BDBB}"/>
                  </a:ext>
                </a:extLst>
              </p:cNvPr>
              <p:cNvSpPr/>
              <p:nvPr/>
            </p:nvSpPr>
            <p:spPr>
              <a:xfrm>
                <a:off x="6638603" y="4796085"/>
                <a:ext cx="1644579" cy="59285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lumMod val="85000"/>
                      </a:schemeClr>
                    </a:solidFill>
                  </a:rPr>
                  <a:t>重複削除</a:t>
                </a:r>
                <a:endParaRPr kumimoji="1" lang="en-US" altLang="ja-JP" dirty="0">
                  <a:solidFill>
                    <a:schemeClr val="tx1">
                      <a:lumMod val="85000"/>
                    </a:schemeClr>
                  </a:solidFill>
                </a:endParaRPr>
              </a:p>
            </p:txBody>
          </p:sp>
          <p:cxnSp>
            <p:nvCxnSpPr>
              <p:cNvPr id="60" name="直線矢印コネクタ 59">
                <a:extLst>
                  <a:ext uri="{FF2B5EF4-FFF2-40B4-BE49-F238E27FC236}">
                    <a16:creationId xmlns:a16="http://schemas.microsoft.com/office/drawing/2014/main" id="{DC8FBFAF-98DA-1222-FA8D-EAD84109C38C}"/>
                  </a:ext>
                </a:extLst>
              </p:cNvPr>
              <p:cNvCxnSpPr>
                <a:cxnSpLocks/>
                <a:stCxn id="51" idx="2"/>
                <a:endCxn id="54" idx="0"/>
              </p:cNvCxnSpPr>
              <p:nvPr/>
            </p:nvCxnSpPr>
            <p:spPr>
              <a:xfrm>
                <a:off x="6638605" y="3300218"/>
                <a:ext cx="2" cy="457202"/>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直線矢印コネクタ 62">
                <a:extLst>
                  <a:ext uri="{FF2B5EF4-FFF2-40B4-BE49-F238E27FC236}">
                    <a16:creationId xmlns:a16="http://schemas.microsoft.com/office/drawing/2014/main" id="{3B3F5002-CB1E-484C-25B1-AD42B2357F45}"/>
                  </a:ext>
                </a:extLst>
              </p:cNvPr>
              <p:cNvCxnSpPr>
                <a:cxnSpLocks/>
                <a:stCxn id="52" idx="2"/>
                <a:endCxn id="55" idx="0"/>
              </p:cNvCxnSpPr>
              <p:nvPr/>
            </p:nvCxnSpPr>
            <p:spPr>
              <a:xfrm flipH="1">
                <a:off x="8283183" y="3300887"/>
                <a:ext cx="1" cy="45653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直線矢印コネクタ 63">
                <a:extLst>
                  <a:ext uri="{FF2B5EF4-FFF2-40B4-BE49-F238E27FC236}">
                    <a16:creationId xmlns:a16="http://schemas.microsoft.com/office/drawing/2014/main" id="{1C55E807-D978-B359-7D6D-A14C06015A51}"/>
                  </a:ext>
                </a:extLst>
              </p:cNvPr>
              <p:cNvCxnSpPr>
                <a:cxnSpLocks/>
                <a:stCxn id="54" idx="2"/>
                <a:endCxn id="57" idx="0"/>
              </p:cNvCxnSpPr>
              <p:nvPr/>
            </p:nvCxnSpPr>
            <p:spPr>
              <a:xfrm>
                <a:off x="6638607" y="4214622"/>
                <a:ext cx="822286" cy="58146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直線矢印コネクタ 64">
                <a:extLst>
                  <a:ext uri="{FF2B5EF4-FFF2-40B4-BE49-F238E27FC236}">
                    <a16:creationId xmlns:a16="http://schemas.microsoft.com/office/drawing/2014/main" id="{73CFBA6B-65A2-4923-A097-3419CC28B432}"/>
                  </a:ext>
                </a:extLst>
              </p:cNvPr>
              <p:cNvCxnSpPr>
                <a:cxnSpLocks/>
                <a:stCxn id="55" idx="2"/>
                <a:endCxn id="57" idx="0"/>
              </p:cNvCxnSpPr>
              <p:nvPr/>
            </p:nvCxnSpPr>
            <p:spPr>
              <a:xfrm flipH="1">
                <a:off x="7460893" y="4214622"/>
                <a:ext cx="822290" cy="58146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2" name="四角形: 角を丸くする 71">
                <a:extLst>
                  <a:ext uri="{FF2B5EF4-FFF2-40B4-BE49-F238E27FC236}">
                    <a16:creationId xmlns:a16="http://schemas.microsoft.com/office/drawing/2014/main" id="{11AF4EF2-5A95-3A0A-AD38-868B9B756AC8}"/>
                  </a:ext>
                </a:extLst>
              </p:cNvPr>
              <p:cNvSpPr/>
              <p:nvPr/>
            </p:nvSpPr>
            <p:spPr>
              <a:xfrm>
                <a:off x="4932061" y="5900023"/>
                <a:ext cx="1768513" cy="59285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chemeClr val="tx1">
                        <a:lumMod val="85000"/>
                      </a:schemeClr>
                    </a:solidFill>
                  </a:rPr>
                  <a:t>データセット</a:t>
                </a:r>
                <a:endParaRPr kumimoji="1" lang="en-US" altLang="ja-JP" sz="2000" b="1" dirty="0">
                  <a:solidFill>
                    <a:schemeClr val="tx1">
                      <a:lumMod val="85000"/>
                    </a:schemeClr>
                  </a:solidFill>
                </a:endParaRPr>
              </a:p>
            </p:txBody>
          </p:sp>
          <p:cxnSp>
            <p:nvCxnSpPr>
              <p:cNvPr id="73" name="直線矢印コネクタ 72">
                <a:extLst>
                  <a:ext uri="{FF2B5EF4-FFF2-40B4-BE49-F238E27FC236}">
                    <a16:creationId xmlns:a16="http://schemas.microsoft.com/office/drawing/2014/main" id="{EC23A075-9384-7C26-3F94-B1AC78F1DB70}"/>
                  </a:ext>
                </a:extLst>
              </p:cNvPr>
              <p:cNvCxnSpPr>
                <a:cxnSpLocks/>
                <a:stCxn id="57" idx="2"/>
                <a:endCxn id="72" idx="0"/>
              </p:cNvCxnSpPr>
              <p:nvPr/>
            </p:nvCxnSpPr>
            <p:spPr>
              <a:xfrm flipH="1">
                <a:off x="5816318" y="5388937"/>
                <a:ext cx="1644575" cy="51108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4" name="直線矢印コネクタ 73">
                <a:extLst>
                  <a:ext uri="{FF2B5EF4-FFF2-40B4-BE49-F238E27FC236}">
                    <a16:creationId xmlns:a16="http://schemas.microsoft.com/office/drawing/2014/main" id="{C47BA38C-0F86-42E7-6C17-6E5A78D23A58}"/>
                  </a:ext>
                </a:extLst>
              </p:cNvPr>
              <p:cNvCxnSpPr>
                <a:cxnSpLocks/>
                <a:stCxn id="44" idx="2"/>
                <a:endCxn id="72" idx="0"/>
              </p:cNvCxnSpPr>
              <p:nvPr/>
            </p:nvCxnSpPr>
            <p:spPr>
              <a:xfrm>
                <a:off x="4171738" y="5389606"/>
                <a:ext cx="1644580" cy="5104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0" name="テキスト ボックス 9">
              <a:extLst>
                <a:ext uri="{FF2B5EF4-FFF2-40B4-BE49-F238E27FC236}">
                  <a16:creationId xmlns:a16="http://schemas.microsoft.com/office/drawing/2014/main" id="{E748C20E-9691-7A90-763F-FDF5DAE6AE4D}"/>
                </a:ext>
              </a:extLst>
            </p:cNvPr>
            <p:cNvSpPr txBox="1"/>
            <p:nvPr/>
          </p:nvSpPr>
          <p:spPr>
            <a:xfrm>
              <a:off x="838200" y="6365516"/>
              <a:ext cx="6111065" cy="369332"/>
            </a:xfrm>
            <a:prstGeom prst="rect">
              <a:avLst/>
            </a:prstGeom>
            <a:noFill/>
          </p:spPr>
          <p:txBody>
            <a:bodyPr wrap="square" rtlCol="0">
              <a:spAutoFit/>
            </a:bodyPr>
            <a:lstStyle/>
            <a:p>
              <a:pPr algn="ctr"/>
              <a:r>
                <a:rPr kumimoji="1" lang="ja-JP" altLang="en-US" dirty="0">
                  <a:solidFill>
                    <a:schemeClr val="tx1">
                      <a:lumMod val="85000"/>
                    </a:schemeClr>
                  </a:solidFill>
                </a:rPr>
                <a:t>図</a:t>
              </a:r>
              <a:r>
                <a:rPr kumimoji="1" lang="en-US" altLang="ja-JP" dirty="0">
                  <a:solidFill>
                    <a:schemeClr val="tx1">
                      <a:lumMod val="85000"/>
                    </a:schemeClr>
                  </a:solidFill>
                </a:rPr>
                <a:t>2. </a:t>
              </a:r>
              <a:r>
                <a:rPr kumimoji="1" lang="ja-JP" altLang="en-US" dirty="0">
                  <a:solidFill>
                    <a:schemeClr val="tx1">
                      <a:lumMod val="85000"/>
                    </a:schemeClr>
                  </a:solidFill>
                </a:rPr>
                <a:t>データセットの構築手順</a:t>
              </a:r>
            </a:p>
          </p:txBody>
        </p:sp>
      </p:grpSp>
      <p:graphicFrame>
        <p:nvGraphicFramePr>
          <p:cNvPr id="14" name="表 13">
            <a:extLst>
              <a:ext uri="{FF2B5EF4-FFF2-40B4-BE49-F238E27FC236}">
                <a16:creationId xmlns:a16="http://schemas.microsoft.com/office/drawing/2014/main" id="{608F1AE0-99F0-5398-C25C-1510A56CC620}"/>
              </a:ext>
            </a:extLst>
          </p:cNvPr>
          <p:cNvGraphicFramePr>
            <a:graphicFrameLocks noGrp="1"/>
          </p:cNvGraphicFramePr>
          <p:nvPr>
            <p:extLst>
              <p:ext uri="{D42A27DB-BD31-4B8C-83A1-F6EECF244321}">
                <p14:modId xmlns:p14="http://schemas.microsoft.com/office/powerpoint/2010/main" val="2250401800"/>
              </p:ext>
            </p:extLst>
          </p:nvPr>
        </p:nvGraphicFramePr>
        <p:xfrm>
          <a:off x="8593840" y="1690688"/>
          <a:ext cx="2880000" cy="4896000"/>
        </p:xfrm>
        <a:graphic>
          <a:graphicData uri="http://schemas.openxmlformats.org/drawingml/2006/table">
            <a:tbl>
              <a:tblPr firstRow="1" bandRow="1">
                <a:effectLst/>
                <a:tableStyleId>{9D7B26C5-4107-4FEC-AEDC-1716B250A1EF}</a:tableStyleId>
              </a:tblPr>
              <a:tblGrid>
                <a:gridCol w="2880000">
                  <a:extLst>
                    <a:ext uri="{9D8B030D-6E8A-4147-A177-3AD203B41FA5}">
                      <a16:colId xmlns:a16="http://schemas.microsoft.com/office/drawing/2014/main" val="650126446"/>
                    </a:ext>
                  </a:extLst>
                </a:gridCol>
              </a:tblGrid>
              <a:tr h="288000">
                <a:tc>
                  <a:txBody>
                    <a:bodyPr/>
                    <a:lstStyle/>
                    <a:p>
                      <a:pPr algn="ctr"/>
                      <a:r>
                        <a:rPr kumimoji="1" lang="ja-JP" altLang="en-US" sz="1200" dirty="0">
                          <a:solidFill>
                            <a:schemeClr val="tx1">
                              <a:lumMod val="85000"/>
                            </a:schemeClr>
                          </a:solidFill>
                        </a:rPr>
                        <a:t>ラベル名</a:t>
                      </a:r>
                    </a:p>
                  </a:txBody>
                  <a:tcPr/>
                </a:tc>
                <a:extLst>
                  <a:ext uri="{0D108BD9-81ED-4DB2-BD59-A6C34878D82A}">
                    <a16:rowId xmlns:a16="http://schemas.microsoft.com/office/drawing/2014/main" val="2097845648"/>
                  </a:ext>
                </a:extLst>
              </a:tr>
              <a:tr h="288000">
                <a:tc>
                  <a:txBody>
                    <a:bodyPr/>
                    <a:lstStyle/>
                    <a:p>
                      <a:pPr algn="ctr"/>
                      <a:r>
                        <a:rPr kumimoji="1" lang="ja-JP" altLang="en-US" sz="1200" dirty="0">
                          <a:solidFill>
                            <a:schemeClr val="tx1">
                              <a:lumMod val="85000"/>
                            </a:schemeClr>
                          </a:solidFill>
                        </a:rPr>
                        <a:t>タイトル</a:t>
                      </a:r>
                    </a:p>
                  </a:txBody>
                  <a:tcPr/>
                </a:tc>
                <a:extLst>
                  <a:ext uri="{0D108BD9-81ED-4DB2-BD59-A6C34878D82A}">
                    <a16:rowId xmlns:a16="http://schemas.microsoft.com/office/drawing/2014/main" val="2441502726"/>
                  </a:ext>
                </a:extLst>
              </a:tr>
              <a:tr h="288000">
                <a:tc>
                  <a:txBody>
                    <a:bodyPr/>
                    <a:lstStyle/>
                    <a:p>
                      <a:pPr algn="ctr"/>
                      <a:r>
                        <a:rPr kumimoji="1" lang="en-US" altLang="ja-JP" sz="1200" dirty="0">
                          <a:solidFill>
                            <a:schemeClr val="tx1">
                              <a:lumMod val="85000"/>
                            </a:schemeClr>
                          </a:solidFill>
                        </a:rPr>
                        <a:t>N</a:t>
                      </a:r>
                      <a:r>
                        <a:rPr kumimoji="1" lang="ja-JP" altLang="en-US" sz="1200" dirty="0">
                          <a:solidFill>
                            <a:schemeClr val="tx1">
                              <a:lumMod val="85000"/>
                            </a:schemeClr>
                          </a:solidFill>
                        </a:rPr>
                        <a:t>コード</a:t>
                      </a:r>
                    </a:p>
                  </a:txBody>
                  <a:tcPr/>
                </a:tc>
                <a:extLst>
                  <a:ext uri="{0D108BD9-81ED-4DB2-BD59-A6C34878D82A}">
                    <a16:rowId xmlns:a16="http://schemas.microsoft.com/office/drawing/2014/main" val="2072203308"/>
                  </a:ext>
                </a:extLst>
              </a:tr>
              <a:tr h="288000">
                <a:tc>
                  <a:txBody>
                    <a:bodyPr/>
                    <a:lstStyle/>
                    <a:p>
                      <a:pPr algn="ctr"/>
                      <a:r>
                        <a:rPr kumimoji="1" lang="ja-JP" altLang="en-US" sz="1200" dirty="0">
                          <a:solidFill>
                            <a:schemeClr val="tx1">
                              <a:lumMod val="85000"/>
                            </a:schemeClr>
                          </a:solidFill>
                        </a:rPr>
                        <a:t>作者</a:t>
                      </a:r>
                    </a:p>
                  </a:txBody>
                  <a:tcPr/>
                </a:tc>
                <a:extLst>
                  <a:ext uri="{0D108BD9-81ED-4DB2-BD59-A6C34878D82A}">
                    <a16:rowId xmlns:a16="http://schemas.microsoft.com/office/drawing/2014/main" val="812169130"/>
                  </a:ext>
                </a:extLst>
              </a:tr>
              <a:tr h="288000">
                <a:tc>
                  <a:txBody>
                    <a:bodyPr/>
                    <a:lstStyle/>
                    <a:p>
                      <a:pPr algn="ctr"/>
                      <a:r>
                        <a:rPr kumimoji="1" lang="ja-JP" altLang="en-US" sz="1200" b="1" dirty="0">
                          <a:solidFill>
                            <a:schemeClr val="tx1">
                              <a:lumMod val="85000"/>
                            </a:schemeClr>
                          </a:solidFill>
                        </a:rPr>
                        <a:t>あらすじ</a:t>
                      </a:r>
                    </a:p>
                  </a:txBody>
                  <a:tcPr/>
                </a:tc>
                <a:extLst>
                  <a:ext uri="{0D108BD9-81ED-4DB2-BD59-A6C34878D82A}">
                    <a16:rowId xmlns:a16="http://schemas.microsoft.com/office/drawing/2014/main" val="1447162099"/>
                  </a:ext>
                </a:extLst>
              </a:tr>
              <a:tr h="288000">
                <a:tc>
                  <a:txBody>
                    <a:bodyPr/>
                    <a:lstStyle/>
                    <a:p>
                      <a:pPr algn="ctr"/>
                      <a:r>
                        <a:rPr kumimoji="1" lang="ja-JP" altLang="en-US" sz="1200" b="1" dirty="0">
                          <a:solidFill>
                            <a:schemeClr val="tx1">
                              <a:lumMod val="85000"/>
                            </a:schemeClr>
                          </a:solidFill>
                        </a:rPr>
                        <a:t>キーワード</a:t>
                      </a:r>
                    </a:p>
                  </a:txBody>
                  <a:tcPr/>
                </a:tc>
                <a:extLst>
                  <a:ext uri="{0D108BD9-81ED-4DB2-BD59-A6C34878D82A}">
                    <a16:rowId xmlns:a16="http://schemas.microsoft.com/office/drawing/2014/main" val="243628787"/>
                  </a:ext>
                </a:extLst>
              </a:tr>
              <a:tr h="288000">
                <a:tc>
                  <a:txBody>
                    <a:bodyPr/>
                    <a:lstStyle/>
                    <a:p>
                      <a:pPr algn="ctr"/>
                      <a:r>
                        <a:rPr kumimoji="1" lang="ja-JP" altLang="en-US" sz="1200" b="1" dirty="0">
                          <a:solidFill>
                            <a:schemeClr val="tx1">
                              <a:lumMod val="85000"/>
                            </a:schemeClr>
                          </a:solidFill>
                        </a:rPr>
                        <a:t>初回投稿日</a:t>
                      </a:r>
                    </a:p>
                  </a:txBody>
                  <a:tcPr/>
                </a:tc>
                <a:extLst>
                  <a:ext uri="{0D108BD9-81ED-4DB2-BD59-A6C34878D82A}">
                    <a16:rowId xmlns:a16="http://schemas.microsoft.com/office/drawing/2014/main" val="325417039"/>
                  </a:ext>
                </a:extLst>
              </a:tr>
              <a:tr h="288000">
                <a:tc>
                  <a:txBody>
                    <a:bodyPr/>
                    <a:lstStyle/>
                    <a:p>
                      <a:pPr algn="ctr"/>
                      <a:r>
                        <a:rPr kumimoji="1" lang="ja-JP" altLang="en-US" sz="1200" b="1" dirty="0">
                          <a:solidFill>
                            <a:schemeClr val="tx1">
                              <a:lumMod val="85000"/>
                            </a:schemeClr>
                          </a:solidFill>
                        </a:rPr>
                        <a:t>最終更新日</a:t>
                      </a:r>
                    </a:p>
                  </a:txBody>
                  <a:tcPr/>
                </a:tc>
                <a:extLst>
                  <a:ext uri="{0D108BD9-81ED-4DB2-BD59-A6C34878D82A}">
                    <a16:rowId xmlns:a16="http://schemas.microsoft.com/office/drawing/2014/main" val="1408800824"/>
                  </a:ext>
                </a:extLst>
              </a:tr>
              <a:tr h="288000">
                <a:tc>
                  <a:txBody>
                    <a:bodyPr/>
                    <a:lstStyle/>
                    <a:p>
                      <a:pPr algn="ctr"/>
                      <a:r>
                        <a:rPr kumimoji="1" lang="ja-JP" altLang="en-US" sz="1200" dirty="0">
                          <a:solidFill>
                            <a:schemeClr val="tx1">
                              <a:lumMod val="85000"/>
                            </a:schemeClr>
                          </a:solidFill>
                        </a:rPr>
                        <a:t>小説タイプ</a:t>
                      </a:r>
                    </a:p>
                  </a:txBody>
                  <a:tcPr/>
                </a:tc>
                <a:extLst>
                  <a:ext uri="{0D108BD9-81ED-4DB2-BD59-A6C34878D82A}">
                    <a16:rowId xmlns:a16="http://schemas.microsoft.com/office/drawing/2014/main" val="2166193964"/>
                  </a:ext>
                </a:extLst>
              </a:tr>
              <a:tr h="288000">
                <a:tc>
                  <a:txBody>
                    <a:bodyPr/>
                    <a:lstStyle/>
                    <a:p>
                      <a:pPr algn="ctr"/>
                      <a:r>
                        <a:rPr kumimoji="1" lang="ja-JP" altLang="en-US" sz="1200" dirty="0">
                          <a:solidFill>
                            <a:schemeClr val="tx1">
                              <a:lumMod val="85000"/>
                            </a:schemeClr>
                          </a:solidFill>
                        </a:rPr>
                        <a:t>完結フラグ</a:t>
                      </a:r>
                    </a:p>
                  </a:txBody>
                  <a:tcPr/>
                </a:tc>
                <a:extLst>
                  <a:ext uri="{0D108BD9-81ED-4DB2-BD59-A6C34878D82A}">
                    <a16:rowId xmlns:a16="http://schemas.microsoft.com/office/drawing/2014/main" val="712348916"/>
                  </a:ext>
                </a:extLst>
              </a:tr>
              <a:tr h="288000">
                <a:tc>
                  <a:txBody>
                    <a:bodyPr/>
                    <a:lstStyle/>
                    <a:p>
                      <a:pPr algn="ctr"/>
                      <a:r>
                        <a:rPr kumimoji="1" lang="ja-JP" altLang="en-US" sz="1200" b="1" dirty="0">
                          <a:solidFill>
                            <a:schemeClr val="tx1">
                              <a:lumMod val="85000"/>
                            </a:schemeClr>
                          </a:solidFill>
                        </a:rPr>
                        <a:t>投稿話数</a:t>
                      </a:r>
                    </a:p>
                  </a:txBody>
                  <a:tcPr/>
                </a:tc>
                <a:extLst>
                  <a:ext uri="{0D108BD9-81ED-4DB2-BD59-A6C34878D82A}">
                    <a16:rowId xmlns:a16="http://schemas.microsoft.com/office/drawing/2014/main" val="2320033031"/>
                  </a:ext>
                </a:extLst>
              </a:tr>
              <a:tr h="288000">
                <a:tc>
                  <a:txBody>
                    <a:bodyPr/>
                    <a:lstStyle/>
                    <a:p>
                      <a:pPr algn="ctr"/>
                      <a:r>
                        <a:rPr kumimoji="1" lang="ja-JP" altLang="en-US" sz="1200" b="1" dirty="0">
                          <a:solidFill>
                            <a:schemeClr val="tx1">
                              <a:lumMod val="85000"/>
                            </a:schemeClr>
                          </a:solidFill>
                        </a:rPr>
                        <a:t>文字数</a:t>
                      </a:r>
                    </a:p>
                  </a:txBody>
                  <a:tcPr/>
                </a:tc>
                <a:extLst>
                  <a:ext uri="{0D108BD9-81ED-4DB2-BD59-A6C34878D82A}">
                    <a16:rowId xmlns:a16="http://schemas.microsoft.com/office/drawing/2014/main" val="3699723314"/>
                  </a:ext>
                </a:extLst>
              </a:tr>
              <a:tr h="288000">
                <a:tc>
                  <a:txBody>
                    <a:bodyPr/>
                    <a:lstStyle/>
                    <a:p>
                      <a:pPr algn="ctr"/>
                      <a:r>
                        <a:rPr kumimoji="1" lang="ja-JP" altLang="en-US" sz="1200" b="1" dirty="0">
                          <a:solidFill>
                            <a:schemeClr val="tx1">
                              <a:lumMod val="85000"/>
                            </a:schemeClr>
                          </a:solidFill>
                        </a:rPr>
                        <a:t>ブックマーク数</a:t>
                      </a:r>
                    </a:p>
                  </a:txBody>
                  <a:tcPr/>
                </a:tc>
                <a:extLst>
                  <a:ext uri="{0D108BD9-81ED-4DB2-BD59-A6C34878D82A}">
                    <a16:rowId xmlns:a16="http://schemas.microsoft.com/office/drawing/2014/main" val="2529947565"/>
                  </a:ext>
                </a:extLst>
              </a:tr>
              <a:tr h="288000">
                <a:tc>
                  <a:txBody>
                    <a:bodyPr/>
                    <a:lstStyle/>
                    <a:p>
                      <a:pPr algn="ctr"/>
                      <a:r>
                        <a:rPr kumimoji="1" lang="ja-JP" altLang="en-US" sz="1200" b="1" dirty="0">
                          <a:solidFill>
                            <a:schemeClr val="tx1">
                              <a:lumMod val="85000"/>
                            </a:schemeClr>
                          </a:solidFill>
                        </a:rPr>
                        <a:t>総合評価ポイント</a:t>
                      </a:r>
                    </a:p>
                  </a:txBody>
                  <a:tcPr/>
                </a:tc>
                <a:extLst>
                  <a:ext uri="{0D108BD9-81ED-4DB2-BD59-A6C34878D82A}">
                    <a16:rowId xmlns:a16="http://schemas.microsoft.com/office/drawing/2014/main" val="2247494583"/>
                  </a:ext>
                </a:extLst>
              </a:tr>
              <a:tr h="288000">
                <a:tc>
                  <a:txBody>
                    <a:bodyPr/>
                    <a:lstStyle/>
                    <a:p>
                      <a:pPr algn="ctr"/>
                      <a:r>
                        <a:rPr kumimoji="1" lang="ja-JP" altLang="en-US" sz="1200" b="1" dirty="0">
                          <a:solidFill>
                            <a:schemeClr val="tx1">
                              <a:lumMod val="85000"/>
                            </a:schemeClr>
                          </a:solidFill>
                        </a:rPr>
                        <a:t>作品ジャンル</a:t>
                      </a:r>
                    </a:p>
                  </a:txBody>
                  <a:tcPr/>
                </a:tc>
                <a:extLst>
                  <a:ext uri="{0D108BD9-81ED-4DB2-BD59-A6C34878D82A}">
                    <a16:rowId xmlns:a16="http://schemas.microsoft.com/office/drawing/2014/main" val="3096518459"/>
                  </a:ext>
                </a:extLst>
              </a:tr>
              <a:tr h="288000">
                <a:tc>
                  <a:txBody>
                    <a:bodyPr/>
                    <a:lstStyle/>
                    <a:p>
                      <a:pPr algn="ctr"/>
                      <a:r>
                        <a:rPr kumimoji="1" lang="ja-JP" altLang="en-US" sz="1200" b="1" dirty="0">
                          <a:solidFill>
                            <a:schemeClr val="tx1">
                              <a:lumMod val="85000"/>
                            </a:schemeClr>
                          </a:solidFill>
                        </a:rPr>
                        <a:t>更新頻度</a:t>
                      </a:r>
                    </a:p>
                  </a:txBody>
                  <a:tcPr/>
                </a:tc>
                <a:extLst>
                  <a:ext uri="{0D108BD9-81ED-4DB2-BD59-A6C34878D82A}">
                    <a16:rowId xmlns:a16="http://schemas.microsoft.com/office/drawing/2014/main" val="179843829"/>
                  </a:ext>
                </a:extLst>
              </a:tr>
              <a:tr h="288000">
                <a:tc>
                  <a:txBody>
                    <a:bodyPr/>
                    <a:lstStyle/>
                    <a:p>
                      <a:pPr algn="ctr"/>
                      <a:r>
                        <a:rPr kumimoji="1" lang="ja-JP" altLang="en-US" sz="1200" b="1" dirty="0">
                          <a:solidFill>
                            <a:schemeClr val="tx1">
                              <a:lumMod val="85000"/>
                            </a:schemeClr>
                          </a:solidFill>
                        </a:rPr>
                        <a:t>エタりラベル</a:t>
                      </a:r>
                    </a:p>
                  </a:txBody>
                  <a:tcPr/>
                </a:tc>
                <a:extLst>
                  <a:ext uri="{0D108BD9-81ED-4DB2-BD59-A6C34878D82A}">
                    <a16:rowId xmlns:a16="http://schemas.microsoft.com/office/drawing/2014/main" val="3633465792"/>
                  </a:ext>
                </a:extLst>
              </a:tr>
            </a:tbl>
          </a:graphicData>
        </a:graphic>
      </p:graphicFrame>
      <p:sp>
        <p:nvSpPr>
          <p:cNvPr id="15" name="テキスト ボックス 14">
            <a:extLst>
              <a:ext uri="{FF2B5EF4-FFF2-40B4-BE49-F238E27FC236}">
                <a16:creationId xmlns:a16="http://schemas.microsoft.com/office/drawing/2014/main" id="{28F9C99C-0012-44D1-5CA2-D1AC4000507B}"/>
              </a:ext>
            </a:extLst>
          </p:cNvPr>
          <p:cNvSpPr txBox="1"/>
          <p:nvPr/>
        </p:nvSpPr>
        <p:spPr>
          <a:xfrm>
            <a:off x="8593838" y="1382911"/>
            <a:ext cx="2880000" cy="307777"/>
          </a:xfrm>
          <a:prstGeom prst="rect">
            <a:avLst/>
          </a:prstGeom>
          <a:noFill/>
        </p:spPr>
        <p:txBody>
          <a:bodyPr wrap="square" rtlCol="0">
            <a:spAutoFit/>
          </a:bodyPr>
          <a:lstStyle/>
          <a:p>
            <a:pPr algn="ctr"/>
            <a:r>
              <a:rPr kumimoji="1" lang="ja-JP" altLang="en-US" sz="1400" dirty="0"/>
              <a:t>表</a:t>
            </a:r>
            <a:r>
              <a:rPr lang="en-US" altLang="ja-JP" sz="1400" dirty="0"/>
              <a:t>1</a:t>
            </a:r>
            <a:r>
              <a:rPr kumimoji="1" lang="en-US" altLang="ja-JP" sz="1400" dirty="0"/>
              <a:t>. </a:t>
            </a:r>
            <a:r>
              <a:rPr kumimoji="1" lang="ja-JP" altLang="en-US" sz="1400" dirty="0"/>
              <a:t>データセットの中身</a:t>
            </a:r>
          </a:p>
        </p:txBody>
      </p:sp>
      <p:sp>
        <p:nvSpPr>
          <p:cNvPr id="4" name="スライド番号プレースホルダー 3">
            <a:extLst>
              <a:ext uri="{FF2B5EF4-FFF2-40B4-BE49-F238E27FC236}">
                <a16:creationId xmlns:a16="http://schemas.microsoft.com/office/drawing/2014/main" id="{287ACFE1-0F6A-11DB-3EBF-08B4851C6215}"/>
              </a:ext>
            </a:extLst>
          </p:cNvPr>
          <p:cNvSpPr>
            <a:spLocks noGrp="1"/>
          </p:cNvSpPr>
          <p:nvPr>
            <p:ph type="sldNum" sz="quarter" idx="12"/>
          </p:nvPr>
        </p:nvSpPr>
        <p:spPr/>
        <p:txBody>
          <a:bodyPr/>
          <a:lstStyle/>
          <a:p>
            <a:fld id="{FD85A3AF-639B-47A7-B37E-FEBC6954B310}" type="slidenum">
              <a:rPr kumimoji="1" lang="ja-JP" altLang="en-US" smtClean="0"/>
              <a:t>6</a:t>
            </a:fld>
            <a:endParaRPr kumimoji="1" lang="ja-JP" altLang="en-US"/>
          </a:p>
        </p:txBody>
      </p:sp>
    </p:spTree>
    <p:extLst>
      <p:ext uri="{BB962C8B-B14F-4D97-AF65-F5344CB8AC3E}">
        <p14:creationId xmlns:p14="http://schemas.microsoft.com/office/powerpoint/2010/main" val="2286908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6C43A932-4A66-BFB5-ED34-55C10FA12035}"/>
              </a:ext>
            </a:extLst>
          </p:cNvPr>
          <p:cNvSpPr/>
          <p:nvPr/>
        </p:nvSpPr>
        <p:spPr>
          <a:xfrm>
            <a:off x="551695" y="2301381"/>
            <a:ext cx="11088608" cy="4306475"/>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F4FD125-71D6-7CB5-A5F2-4DED0652522E}"/>
              </a:ext>
            </a:extLst>
          </p:cNvPr>
          <p:cNvSpPr>
            <a:spLocks noGrp="1"/>
          </p:cNvSpPr>
          <p:nvPr>
            <p:ph type="title"/>
          </p:nvPr>
        </p:nvSpPr>
        <p:spPr/>
        <p:txBody>
          <a:bodyPr/>
          <a:lstStyle/>
          <a:p>
            <a:r>
              <a:rPr kumimoji="1" lang="ja-JP" altLang="en-US" dirty="0"/>
              <a:t>研究概要：分析対象</a:t>
            </a:r>
          </a:p>
        </p:txBody>
      </p:sp>
      <p:graphicFrame>
        <p:nvGraphicFramePr>
          <p:cNvPr id="4" name="表 3">
            <a:extLst>
              <a:ext uri="{FF2B5EF4-FFF2-40B4-BE49-F238E27FC236}">
                <a16:creationId xmlns:a16="http://schemas.microsoft.com/office/drawing/2014/main" id="{7E229D33-BF57-137D-3399-9F7D05A07597}"/>
              </a:ext>
            </a:extLst>
          </p:cNvPr>
          <p:cNvGraphicFramePr>
            <a:graphicFrameLocks noGrp="1"/>
          </p:cNvGraphicFramePr>
          <p:nvPr>
            <p:extLst>
              <p:ext uri="{D42A27DB-BD31-4B8C-83A1-F6EECF244321}">
                <p14:modId xmlns:p14="http://schemas.microsoft.com/office/powerpoint/2010/main" val="4232844926"/>
              </p:ext>
            </p:extLst>
          </p:nvPr>
        </p:nvGraphicFramePr>
        <p:xfrm>
          <a:off x="551695" y="2287856"/>
          <a:ext cx="11088604" cy="4320000"/>
        </p:xfrm>
        <a:graphic>
          <a:graphicData uri="http://schemas.openxmlformats.org/drawingml/2006/table">
            <a:tbl>
              <a:tblPr firstRow="1" bandRow="1">
                <a:tableStyleId>{9D7B26C5-4107-4FEC-AEDC-1716B250A1EF}</a:tableStyleId>
              </a:tblPr>
              <a:tblGrid>
                <a:gridCol w="3515717">
                  <a:extLst>
                    <a:ext uri="{9D8B030D-6E8A-4147-A177-3AD203B41FA5}">
                      <a16:colId xmlns:a16="http://schemas.microsoft.com/office/drawing/2014/main" val="4259741067"/>
                    </a:ext>
                  </a:extLst>
                </a:gridCol>
                <a:gridCol w="1025968">
                  <a:extLst>
                    <a:ext uri="{9D8B030D-6E8A-4147-A177-3AD203B41FA5}">
                      <a16:colId xmlns:a16="http://schemas.microsoft.com/office/drawing/2014/main" val="145752297"/>
                    </a:ext>
                  </a:extLst>
                </a:gridCol>
                <a:gridCol w="1178772">
                  <a:extLst>
                    <a:ext uri="{9D8B030D-6E8A-4147-A177-3AD203B41FA5}">
                      <a16:colId xmlns:a16="http://schemas.microsoft.com/office/drawing/2014/main" val="628217362"/>
                    </a:ext>
                  </a:extLst>
                </a:gridCol>
                <a:gridCol w="3132480">
                  <a:extLst>
                    <a:ext uri="{9D8B030D-6E8A-4147-A177-3AD203B41FA5}">
                      <a16:colId xmlns:a16="http://schemas.microsoft.com/office/drawing/2014/main" val="3899671646"/>
                    </a:ext>
                  </a:extLst>
                </a:gridCol>
                <a:gridCol w="1058712">
                  <a:extLst>
                    <a:ext uri="{9D8B030D-6E8A-4147-A177-3AD203B41FA5}">
                      <a16:colId xmlns:a16="http://schemas.microsoft.com/office/drawing/2014/main" val="4223714487"/>
                    </a:ext>
                  </a:extLst>
                </a:gridCol>
                <a:gridCol w="1176955">
                  <a:extLst>
                    <a:ext uri="{9D8B030D-6E8A-4147-A177-3AD203B41FA5}">
                      <a16:colId xmlns:a16="http://schemas.microsoft.com/office/drawing/2014/main" val="1844189719"/>
                    </a:ext>
                  </a:extLst>
                </a:gridCol>
              </a:tblGrid>
              <a:tr h="360000">
                <a:tc>
                  <a:txBody>
                    <a:bodyPr/>
                    <a:lstStyle/>
                    <a:p>
                      <a:pPr algn="ctr"/>
                      <a:r>
                        <a:rPr kumimoji="1" lang="ja-JP" altLang="en-US" sz="1600" dirty="0">
                          <a:solidFill>
                            <a:schemeClr val="tx1">
                              <a:lumMod val="85000"/>
                            </a:schemeClr>
                          </a:solidFill>
                        </a:rPr>
                        <a:t>ジャンル</a:t>
                      </a:r>
                    </a:p>
                  </a:txBody>
                  <a:tcPr anchor="ctr"/>
                </a:tc>
                <a:tc>
                  <a:txBody>
                    <a:bodyPr/>
                    <a:lstStyle/>
                    <a:p>
                      <a:pPr algn="ctr"/>
                      <a:r>
                        <a:rPr kumimoji="1" lang="ja-JP" altLang="en-US" sz="1600" dirty="0">
                          <a:solidFill>
                            <a:schemeClr val="tx1">
                              <a:lumMod val="85000"/>
                            </a:schemeClr>
                          </a:solidFill>
                        </a:rPr>
                        <a:t>作品数</a:t>
                      </a:r>
                    </a:p>
                  </a:txBody>
                  <a:tcPr anchor="ctr"/>
                </a:tc>
                <a:tc>
                  <a:txBody>
                    <a:bodyPr/>
                    <a:lstStyle/>
                    <a:p>
                      <a:pPr algn="ctr"/>
                      <a:r>
                        <a:rPr kumimoji="1" lang="ja-JP" altLang="en-US" sz="1600" dirty="0">
                          <a:solidFill>
                            <a:schemeClr val="tx1">
                              <a:lumMod val="85000"/>
                            </a:schemeClr>
                          </a:solidFill>
                        </a:rPr>
                        <a:t>エタり率</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600" dirty="0">
                          <a:solidFill>
                            <a:schemeClr val="tx1">
                              <a:lumMod val="85000"/>
                            </a:schemeClr>
                          </a:solidFill>
                        </a:rPr>
                        <a:t>ジャンル</a:t>
                      </a:r>
                    </a:p>
                  </a:txBody>
                  <a:tcPr anchor="ctr">
                    <a:lnL w="12700" cap="flat" cmpd="sng" algn="ctr">
                      <a:solidFill>
                        <a:schemeClr val="tx1"/>
                      </a:solidFill>
                      <a:prstDash val="solid"/>
                      <a:round/>
                      <a:headEnd type="none" w="med" len="med"/>
                      <a:tailEnd type="none" w="med" len="med"/>
                    </a:lnL>
                  </a:tcPr>
                </a:tc>
                <a:tc>
                  <a:txBody>
                    <a:bodyPr/>
                    <a:lstStyle/>
                    <a:p>
                      <a:pPr algn="ctr"/>
                      <a:r>
                        <a:rPr kumimoji="1" lang="ja-JP" altLang="en-US" sz="1600" dirty="0">
                          <a:solidFill>
                            <a:schemeClr val="tx1">
                              <a:lumMod val="85000"/>
                            </a:schemeClr>
                          </a:solidFill>
                        </a:rPr>
                        <a:t>作品数</a:t>
                      </a:r>
                    </a:p>
                  </a:txBody>
                  <a:tcPr anchor="ctr"/>
                </a:tc>
                <a:tc>
                  <a:txBody>
                    <a:bodyPr/>
                    <a:lstStyle/>
                    <a:p>
                      <a:pPr algn="ctr"/>
                      <a:r>
                        <a:rPr kumimoji="1" lang="ja-JP" altLang="en-US" sz="1600" dirty="0">
                          <a:solidFill>
                            <a:schemeClr val="tx1">
                              <a:lumMod val="85000"/>
                            </a:schemeClr>
                          </a:solidFill>
                        </a:rPr>
                        <a:t>エタり率</a:t>
                      </a:r>
                    </a:p>
                  </a:txBody>
                  <a:tcPr anchor="ctr"/>
                </a:tc>
                <a:extLst>
                  <a:ext uri="{0D108BD9-81ED-4DB2-BD59-A6C34878D82A}">
                    <a16:rowId xmlns:a16="http://schemas.microsoft.com/office/drawing/2014/main" val="4018706633"/>
                  </a:ext>
                </a:extLst>
              </a:tr>
              <a:tr h="360000">
                <a:tc>
                  <a:txBody>
                    <a:bodyPr/>
                    <a:lstStyle/>
                    <a:p>
                      <a:pPr algn="ctr" fontAlgn="ctr">
                        <a:buNone/>
                      </a:pPr>
                      <a:r>
                        <a:rPr lang="ja-JP" altLang="en-US" sz="1600" b="0" u="none" strike="noStrike" dirty="0">
                          <a:solidFill>
                            <a:schemeClr val="tx1">
                              <a:lumMod val="85000"/>
                            </a:schemeClr>
                          </a:solidFill>
                          <a:effectLst/>
                        </a:rPr>
                        <a:t>異世界</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恋愛</a:t>
                      </a:r>
                      <a:r>
                        <a:rPr lang="en-US" altLang="ja-JP" sz="1600" b="0" u="none" strike="noStrike" dirty="0">
                          <a:solidFill>
                            <a:schemeClr val="tx1">
                              <a:lumMod val="85000"/>
                            </a:schemeClr>
                          </a:solidFill>
                          <a:effectLst/>
                        </a:rPr>
                        <a:t>)</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defTabSz="808038" fontAlgn="b">
                        <a:buNone/>
                        <a:tabLst/>
                      </a:pPr>
                      <a:r>
                        <a:rPr lang="en-US" altLang="ja-JP" sz="1600" b="0" u="none" strike="noStrike" dirty="0">
                          <a:solidFill>
                            <a:schemeClr val="tx1">
                              <a:lumMod val="85000"/>
                            </a:schemeClr>
                          </a:solidFill>
                          <a:effectLst/>
                        </a:rPr>
                        <a:t>10022</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0.3707</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en-US" sz="1600" b="0" u="none" strike="noStrike" dirty="0">
                          <a:solidFill>
                            <a:schemeClr val="tx1">
                              <a:lumMod val="85000"/>
                            </a:schemeClr>
                          </a:solidFill>
                          <a:effectLst/>
                        </a:rPr>
                        <a:t>VR</a:t>
                      </a:r>
                      <a:r>
                        <a:rPr lang="ja-JP" altLang="en-US" sz="1600" b="0" u="none" strike="noStrike" dirty="0">
                          <a:solidFill>
                            <a:schemeClr val="tx1">
                              <a:lumMod val="85000"/>
                            </a:schemeClr>
                          </a:solidFill>
                          <a:effectLst/>
                        </a:rPr>
                        <a:t>ゲーム</a:t>
                      </a:r>
                      <a:r>
                        <a:rPr lang="en-US" altLang="ja-JP" sz="1600" b="0" u="none" strike="noStrike" dirty="0">
                          <a:solidFill>
                            <a:schemeClr val="tx1">
                              <a:lumMod val="85000"/>
                            </a:schemeClr>
                          </a:solidFill>
                          <a:effectLst/>
                        </a:rPr>
                        <a:t>(SF)</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marL="0" indent="0" algn="r" defTabSz="1073150" fontAlgn="ctr">
                        <a:buNone/>
                        <a:tabLst>
                          <a:tab pos="1169988" algn="l"/>
                        </a:tabLst>
                      </a:pPr>
                      <a:r>
                        <a:rPr lang="en-US" altLang="ja-JP" sz="1600" b="0" u="none" strike="noStrike" dirty="0">
                          <a:solidFill>
                            <a:schemeClr val="tx1">
                              <a:lumMod val="85000"/>
                            </a:schemeClr>
                          </a:solidFill>
                          <a:effectLst/>
                        </a:rPr>
                        <a:t>5799</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1" u="none" strike="noStrike" dirty="0">
                          <a:solidFill>
                            <a:schemeClr val="tx1">
                              <a:lumMod val="85000"/>
                            </a:schemeClr>
                          </a:solidFill>
                          <a:effectLst/>
                        </a:rPr>
                        <a:t>0.1885</a:t>
                      </a:r>
                      <a:endParaRPr lang="en-US" altLang="ja-JP" sz="1600" b="1"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2616730332"/>
                  </a:ext>
                </a:extLst>
              </a:tr>
              <a:tr h="360000">
                <a:tc>
                  <a:txBody>
                    <a:bodyPr/>
                    <a:lstStyle/>
                    <a:p>
                      <a:pPr algn="ctr" fontAlgn="ctr">
                        <a:buNone/>
                      </a:pPr>
                      <a:r>
                        <a:rPr lang="zh-TW" altLang="en-US" sz="1600" b="0" u="none" strike="noStrike" dirty="0">
                          <a:solidFill>
                            <a:schemeClr val="tx1">
                              <a:lumMod val="85000"/>
                            </a:schemeClr>
                          </a:solidFill>
                          <a:effectLst/>
                        </a:rPr>
                        <a:t>現実世界</a:t>
                      </a:r>
                      <a:r>
                        <a:rPr lang="en-US" altLang="zh-TW" sz="1600" b="0" u="none" strike="noStrike" dirty="0">
                          <a:solidFill>
                            <a:schemeClr val="tx1">
                              <a:lumMod val="85000"/>
                            </a:schemeClr>
                          </a:solidFill>
                          <a:effectLst/>
                        </a:rPr>
                        <a:t>(</a:t>
                      </a:r>
                      <a:r>
                        <a:rPr lang="zh-TW" altLang="en-US" sz="1600" b="0" u="none" strike="noStrike" dirty="0">
                          <a:solidFill>
                            <a:schemeClr val="tx1">
                              <a:lumMod val="85000"/>
                            </a:schemeClr>
                          </a:solidFill>
                          <a:effectLst/>
                        </a:rPr>
                        <a:t>恋愛</a:t>
                      </a:r>
                      <a:r>
                        <a:rPr lang="en-US" altLang="zh-TW" sz="1600" b="0" u="none" strike="noStrike" dirty="0">
                          <a:solidFill>
                            <a:schemeClr val="tx1">
                              <a:lumMod val="85000"/>
                            </a:schemeClr>
                          </a:solidFill>
                          <a:effectLst/>
                        </a:rPr>
                        <a:t>)</a:t>
                      </a:r>
                      <a:endParaRPr lang="en-US" altLang="zh-TW"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7786</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0.4003</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宇宙</a:t>
                      </a:r>
                      <a:r>
                        <a:rPr lang="en-US" altLang="ja-JP" sz="1600" b="0" u="none" strike="noStrike" dirty="0">
                          <a:solidFill>
                            <a:schemeClr val="tx1">
                              <a:lumMod val="85000"/>
                            </a:schemeClr>
                          </a:solidFill>
                          <a:effectLst/>
                        </a:rPr>
                        <a:t>(SF)</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0" u="none" strike="noStrike" dirty="0">
                          <a:solidFill>
                            <a:schemeClr val="tx1">
                              <a:lumMod val="85000"/>
                            </a:schemeClr>
                          </a:solidFill>
                          <a:effectLst/>
                        </a:rPr>
                        <a:t>3243</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0.3420</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3152332538"/>
                  </a:ext>
                </a:extLst>
              </a:tr>
              <a:tr h="360000">
                <a:tc>
                  <a:txBody>
                    <a:bodyPr/>
                    <a:lstStyle/>
                    <a:p>
                      <a:pPr algn="ctr" fontAlgn="ctr">
                        <a:buNone/>
                      </a:pPr>
                      <a:r>
                        <a:rPr lang="ja-JP" altLang="en-US" sz="1600" b="0" u="none" strike="noStrike" dirty="0">
                          <a:solidFill>
                            <a:schemeClr val="tx1">
                              <a:lumMod val="85000"/>
                            </a:schemeClr>
                          </a:solidFill>
                          <a:effectLst/>
                        </a:rPr>
                        <a:t>ハイファンタジー</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ファンタジー</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1" u="none" strike="noStrike" dirty="0">
                          <a:solidFill>
                            <a:schemeClr val="tx1">
                              <a:lumMod val="85000"/>
                            </a:schemeClr>
                          </a:solidFill>
                          <a:effectLst/>
                        </a:rPr>
                        <a:t>12085</a:t>
                      </a:r>
                      <a:endParaRPr lang="en-US" altLang="ja-JP" sz="1600" b="1"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0.2532</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空想科学</a:t>
                      </a:r>
                      <a:r>
                        <a:rPr lang="en-US" altLang="ja-JP" sz="1600" b="0" u="none" strike="noStrike" dirty="0">
                          <a:solidFill>
                            <a:schemeClr val="tx1">
                              <a:lumMod val="85000"/>
                            </a:schemeClr>
                          </a:solidFill>
                          <a:effectLst/>
                        </a:rPr>
                        <a:t>(SF)</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0" u="none" strike="noStrike" dirty="0">
                          <a:solidFill>
                            <a:schemeClr val="tx1">
                              <a:lumMod val="85000"/>
                            </a:schemeClr>
                          </a:solidFill>
                          <a:effectLst/>
                        </a:rPr>
                        <a:t>5594</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0.3670</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4262480828"/>
                  </a:ext>
                </a:extLst>
              </a:tr>
              <a:tr h="360000">
                <a:tc>
                  <a:txBody>
                    <a:bodyPr/>
                    <a:lstStyle/>
                    <a:p>
                      <a:pPr algn="ctr" fontAlgn="ctr">
                        <a:buNone/>
                      </a:pPr>
                      <a:r>
                        <a:rPr lang="ja-JP" altLang="en-US" sz="1600" b="0" u="none" strike="noStrike" dirty="0">
                          <a:solidFill>
                            <a:schemeClr val="tx1">
                              <a:lumMod val="85000"/>
                            </a:schemeClr>
                          </a:solidFill>
                          <a:effectLst/>
                        </a:rPr>
                        <a:t>ローファンタジー</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ファンタジー</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9760</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0.2842</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パニック</a:t>
                      </a:r>
                      <a:r>
                        <a:rPr lang="en-US" altLang="ja-JP" sz="1600" b="0" u="none" strike="noStrike" dirty="0">
                          <a:solidFill>
                            <a:schemeClr val="tx1">
                              <a:lumMod val="85000"/>
                            </a:schemeClr>
                          </a:solidFill>
                          <a:effectLst/>
                        </a:rPr>
                        <a:t>(SF)</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0" u="none" strike="noStrike" dirty="0">
                          <a:solidFill>
                            <a:schemeClr val="tx1">
                              <a:lumMod val="85000"/>
                            </a:schemeClr>
                          </a:solidFill>
                          <a:effectLst/>
                        </a:rPr>
                        <a:t>3134</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0.2502</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3691394191"/>
                  </a:ext>
                </a:extLst>
              </a:tr>
              <a:tr h="360000">
                <a:tc>
                  <a:txBody>
                    <a:bodyPr/>
                    <a:lstStyle/>
                    <a:p>
                      <a:pPr algn="ctr" fontAlgn="ctr">
                        <a:buNone/>
                      </a:pPr>
                      <a:r>
                        <a:rPr lang="ja-JP" altLang="en-US" sz="1600" b="0" u="none" strike="noStrike" dirty="0">
                          <a:solidFill>
                            <a:schemeClr val="tx1">
                              <a:lumMod val="85000"/>
                            </a:schemeClr>
                          </a:solidFill>
                          <a:effectLst/>
                        </a:rPr>
                        <a:t>純文学</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文芸</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2747</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0.5359</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童話</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その他</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0" u="none" strike="noStrike" dirty="0">
                          <a:solidFill>
                            <a:schemeClr val="tx1">
                              <a:lumMod val="85000"/>
                            </a:schemeClr>
                          </a:solidFill>
                          <a:effectLst/>
                        </a:rPr>
                        <a:t>2254</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1" u="none" strike="noStrike" dirty="0">
                          <a:solidFill>
                            <a:schemeClr val="tx1">
                              <a:lumMod val="85000"/>
                            </a:schemeClr>
                          </a:solidFill>
                          <a:effectLst/>
                        </a:rPr>
                        <a:t>0.6278</a:t>
                      </a:r>
                      <a:endParaRPr lang="en-US" altLang="ja-JP" sz="1600" b="1"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3854030057"/>
                  </a:ext>
                </a:extLst>
              </a:tr>
              <a:tr h="360000">
                <a:tc>
                  <a:txBody>
                    <a:bodyPr/>
                    <a:lstStyle/>
                    <a:p>
                      <a:pPr algn="ctr" fontAlgn="ctr">
                        <a:buNone/>
                      </a:pPr>
                      <a:r>
                        <a:rPr lang="ja-JP" altLang="en-US" sz="1600" b="0" u="none" strike="noStrike" dirty="0">
                          <a:solidFill>
                            <a:schemeClr val="tx1">
                              <a:lumMod val="85000"/>
                            </a:schemeClr>
                          </a:solidFill>
                          <a:effectLst/>
                        </a:rPr>
                        <a:t>ヒューマンドラマ</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文芸</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5590</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0.4896</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詩</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その他</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0" u="none" strike="noStrike" dirty="0">
                          <a:solidFill>
                            <a:schemeClr val="tx1">
                              <a:lumMod val="85000"/>
                            </a:schemeClr>
                          </a:solidFill>
                          <a:effectLst/>
                        </a:rPr>
                        <a:t>1699</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0.4097</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1326061026"/>
                  </a:ext>
                </a:extLst>
              </a:tr>
              <a:tr h="360000">
                <a:tc>
                  <a:txBody>
                    <a:bodyPr/>
                    <a:lstStyle/>
                    <a:p>
                      <a:pPr algn="ctr" fontAlgn="ctr">
                        <a:buNone/>
                      </a:pPr>
                      <a:r>
                        <a:rPr lang="ja-JP" altLang="en-US" sz="1600" b="0" u="none" strike="noStrike" dirty="0">
                          <a:solidFill>
                            <a:schemeClr val="tx1">
                              <a:lumMod val="85000"/>
                            </a:schemeClr>
                          </a:solidFill>
                          <a:effectLst/>
                        </a:rPr>
                        <a:t>歴史</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文芸</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5309</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0.3569</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エッセイ</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その他</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0" u="none" strike="noStrike" dirty="0">
                          <a:solidFill>
                            <a:schemeClr val="tx1">
                              <a:lumMod val="85000"/>
                            </a:schemeClr>
                          </a:solidFill>
                          <a:effectLst/>
                        </a:rPr>
                        <a:t>3690</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0.3257</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2806908589"/>
                  </a:ext>
                </a:extLst>
              </a:tr>
              <a:tr h="360000">
                <a:tc>
                  <a:txBody>
                    <a:bodyPr/>
                    <a:lstStyle/>
                    <a:p>
                      <a:pPr algn="ctr" fontAlgn="ctr">
                        <a:buNone/>
                      </a:pPr>
                      <a:r>
                        <a:rPr lang="ja-JP" altLang="en-US" sz="1600" b="0" u="none" strike="noStrike" dirty="0">
                          <a:solidFill>
                            <a:schemeClr val="tx1">
                              <a:lumMod val="85000"/>
                            </a:schemeClr>
                          </a:solidFill>
                          <a:effectLst/>
                        </a:rPr>
                        <a:t>推理</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文芸</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5593</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0.5480</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リプレイ</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その他</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1" u="none" strike="noStrike" dirty="0">
                          <a:solidFill>
                            <a:schemeClr val="tx1">
                              <a:lumMod val="85000"/>
                            </a:schemeClr>
                          </a:solidFill>
                          <a:effectLst/>
                        </a:rPr>
                        <a:t>506</a:t>
                      </a:r>
                      <a:endParaRPr lang="en-US" altLang="ja-JP" sz="1600" b="1"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0.3162</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2389488624"/>
                  </a:ext>
                </a:extLst>
              </a:tr>
              <a:tr h="360000">
                <a:tc>
                  <a:txBody>
                    <a:bodyPr/>
                    <a:lstStyle/>
                    <a:p>
                      <a:pPr algn="ctr" fontAlgn="ctr">
                        <a:buNone/>
                      </a:pPr>
                      <a:r>
                        <a:rPr lang="ja-JP" altLang="en-US" sz="1600" b="0" u="none" strike="noStrike" dirty="0">
                          <a:solidFill>
                            <a:schemeClr val="tx1">
                              <a:lumMod val="85000"/>
                            </a:schemeClr>
                          </a:solidFill>
                          <a:effectLst/>
                        </a:rPr>
                        <a:t>ホラー</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文芸</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3614</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0.5537</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その他</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その他</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0" u="none" strike="noStrike" dirty="0">
                          <a:solidFill>
                            <a:schemeClr val="tx1">
                              <a:lumMod val="85000"/>
                            </a:schemeClr>
                          </a:solidFill>
                          <a:effectLst/>
                        </a:rPr>
                        <a:t>4379</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0.3503</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3411262567"/>
                  </a:ext>
                </a:extLst>
              </a:tr>
              <a:tr h="360000">
                <a:tc>
                  <a:txBody>
                    <a:bodyPr/>
                    <a:lstStyle/>
                    <a:p>
                      <a:pPr algn="ctr" fontAlgn="ctr">
                        <a:buNone/>
                      </a:pPr>
                      <a:r>
                        <a:rPr lang="ja-JP" altLang="en-US" sz="1600" b="0" u="none" strike="noStrike" dirty="0">
                          <a:solidFill>
                            <a:schemeClr val="tx1">
                              <a:lumMod val="85000"/>
                            </a:schemeClr>
                          </a:solidFill>
                          <a:effectLst/>
                        </a:rPr>
                        <a:t>アクション</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文芸</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8357</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0.2649</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ノンジャンル</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ノンジャンル</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tabLst>
                          <a:tab pos="1169988" algn="l"/>
                        </a:tabLst>
                      </a:pPr>
                      <a:r>
                        <a:rPr lang="en-US" altLang="ja-JP" sz="1600" b="0" u="none" strike="noStrike" dirty="0">
                          <a:solidFill>
                            <a:schemeClr val="tx1">
                              <a:lumMod val="85000"/>
                            </a:schemeClr>
                          </a:solidFill>
                          <a:effectLst/>
                        </a:rPr>
                        <a:t>10567</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0.2487</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617966600"/>
                  </a:ext>
                </a:extLst>
              </a:tr>
              <a:tr h="360000">
                <a:tc>
                  <a:txBody>
                    <a:bodyPr/>
                    <a:lstStyle/>
                    <a:p>
                      <a:pPr algn="ctr" fontAlgn="ctr">
                        <a:buNone/>
                      </a:pPr>
                      <a:r>
                        <a:rPr lang="ja-JP" altLang="en-US" sz="1600" b="0" u="none" strike="noStrike" dirty="0">
                          <a:solidFill>
                            <a:schemeClr val="tx1">
                              <a:lumMod val="85000"/>
                            </a:schemeClr>
                          </a:solidFill>
                          <a:effectLst/>
                        </a:rPr>
                        <a:t>コメディー</a:t>
                      </a:r>
                      <a:r>
                        <a:rPr lang="en-US" altLang="ja-JP" sz="1600" b="0" u="none" strike="noStrike" dirty="0">
                          <a:solidFill>
                            <a:schemeClr val="tx1">
                              <a:lumMod val="85000"/>
                            </a:schemeClr>
                          </a:solidFill>
                          <a:effectLst/>
                        </a:rPr>
                        <a:t>(</a:t>
                      </a:r>
                      <a:r>
                        <a:rPr lang="ja-JP" altLang="en-US" sz="1600" b="0" u="none" strike="noStrike" dirty="0">
                          <a:solidFill>
                            <a:schemeClr val="tx1">
                              <a:lumMod val="85000"/>
                            </a:schemeClr>
                          </a:solidFill>
                          <a:effectLst/>
                        </a:rPr>
                        <a:t>文芸</a:t>
                      </a:r>
                      <a:r>
                        <a:rPr lang="en-US" altLang="ja-JP" sz="1600" b="0" u="none" strike="noStrike" dirty="0">
                          <a:solidFill>
                            <a:schemeClr val="tx1">
                              <a:lumMod val="85000"/>
                            </a:schemeClr>
                          </a:solidFill>
                          <a:effectLst/>
                        </a:rPr>
                        <a:t>)</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tc>
                  <a:txBody>
                    <a:bodyPr/>
                    <a:lstStyle/>
                    <a:p>
                      <a:pPr algn="r" fontAlgn="b">
                        <a:buNone/>
                        <a:tabLst/>
                      </a:pPr>
                      <a:r>
                        <a:rPr lang="en-US" altLang="ja-JP" sz="1600" b="0" u="none" strike="noStrike" dirty="0">
                          <a:solidFill>
                            <a:schemeClr val="tx1">
                              <a:lumMod val="85000"/>
                            </a:schemeClr>
                          </a:solidFill>
                          <a:effectLst/>
                        </a:rPr>
                        <a:t>4875</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altLang="ja-JP" sz="1600" b="0" u="none" strike="noStrike" dirty="0">
                          <a:solidFill>
                            <a:schemeClr val="tx1">
                              <a:lumMod val="85000"/>
                            </a:schemeClr>
                          </a:solidFill>
                          <a:effectLst/>
                        </a:rPr>
                        <a:t>0.4219</a:t>
                      </a:r>
                      <a:endParaRPr lang="en-US" altLang="ja-JP"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R w="12700" cap="flat" cmpd="sng" algn="ctr">
                      <a:solidFill>
                        <a:schemeClr val="tx1"/>
                      </a:solidFill>
                      <a:prstDash val="solid"/>
                      <a:round/>
                      <a:headEnd type="none" w="med" len="med"/>
                      <a:tailEnd type="none" w="med" len="med"/>
                    </a:lnR>
                  </a:tcPr>
                </a:tc>
                <a:tc>
                  <a:txBody>
                    <a:bodyPr/>
                    <a:lstStyle/>
                    <a:p>
                      <a:pPr algn="ctr" fontAlgn="ctr">
                        <a:buNone/>
                      </a:pPr>
                      <a:r>
                        <a:rPr lang="ja-JP" altLang="en-US" sz="1600" b="0" u="none" strike="noStrike" dirty="0">
                          <a:solidFill>
                            <a:schemeClr val="tx1">
                              <a:lumMod val="85000"/>
                            </a:schemeClr>
                          </a:solidFill>
                          <a:effectLst/>
                        </a:rPr>
                        <a:t>合計</a:t>
                      </a:r>
                      <a:endParaRPr lang="ja-JP" alt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r" fontAlgn="ctr">
                        <a:buNone/>
                      </a:pPr>
                      <a:r>
                        <a:rPr lang="en-US" sz="1600" b="0" u="none" strike="noStrike" dirty="0">
                          <a:solidFill>
                            <a:schemeClr val="tx1">
                              <a:lumMod val="85000"/>
                            </a:schemeClr>
                          </a:solidFill>
                          <a:effectLst/>
                        </a:rPr>
                        <a:t>116603</a:t>
                      </a:r>
                      <a:endParaRPr lang="en-US" sz="1600" b="0" i="0" u="none" strike="noStrike" dirty="0">
                        <a:solidFill>
                          <a:schemeClr val="tx1">
                            <a:lumMod val="85000"/>
                          </a:schemeClr>
                        </a:solidFill>
                        <a:effectLst/>
                        <a:latin typeface="+mn-lt"/>
                        <a:ea typeface="游ゴシック" panose="020B0400000000000000" pitchFamily="50" charset="-128"/>
                      </a:endParaRPr>
                    </a:p>
                  </a:txBody>
                  <a:tcPr marL="9525" marR="144000" marT="9525" marB="0" anchor="ctr"/>
                </a:tc>
                <a:tc>
                  <a:txBody>
                    <a:bodyPr/>
                    <a:lstStyle/>
                    <a:p>
                      <a:pPr algn="ctr" fontAlgn="ctr">
                        <a:buNone/>
                      </a:pPr>
                      <a:r>
                        <a:rPr lang="en-US" sz="1600" b="0" u="none" strike="noStrike" dirty="0">
                          <a:solidFill>
                            <a:schemeClr val="tx1">
                              <a:lumMod val="85000"/>
                            </a:schemeClr>
                          </a:solidFill>
                          <a:effectLst/>
                        </a:rPr>
                        <a:t>0.3497</a:t>
                      </a:r>
                      <a:endParaRPr lang="en-US" sz="1600" b="0" i="0" u="none" strike="noStrike" dirty="0">
                        <a:solidFill>
                          <a:schemeClr val="tx1">
                            <a:lumMod val="85000"/>
                          </a:schemeClr>
                        </a:solidFill>
                        <a:effectLst/>
                        <a:latin typeface="+mn-lt"/>
                        <a:ea typeface="游ゴシック" panose="020B0400000000000000" pitchFamily="50" charset="-128"/>
                      </a:endParaRPr>
                    </a:p>
                  </a:txBody>
                  <a:tcPr marL="9525" marR="9525" marT="9525" marB="0" anchor="ctr"/>
                </a:tc>
                <a:extLst>
                  <a:ext uri="{0D108BD9-81ED-4DB2-BD59-A6C34878D82A}">
                    <a16:rowId xmlns:a16="http://schemas.microsoft.com/office/drawing/2014/main" val="3395535982"/>
                  </a:ext>
                </a:extLst>
              </a:tr>
            </a:tbl>
          </a:graphicData>
        </a:graphic>
      </p:graphicFrame>
      <p:sp>
        <p:nvSpPr>
          <p:cNvPr id="3" name="テキスト ボックス 2">
            <a:extLst>
              <a:ext uri="{FF2B5EF4-FFF2-40B4-BE49-F238E27FC236}">
                <a16:creationId xmlns:a16="http://schemas.microsoft.com/office/drawing/2014/main" id="{EC11F0AC-00E4-1893-DA06-C560184FE029}"/>
              </a:ext>
            </a:extLst>
          </p:cNvPr>
          <p:cNvSpPr txBox="1"/>
          <p:nvPr/>
        </p:nvSpPr>
        <p:spPr>
          <a:xfrm>
            <a:off x="551697" y="1918525"/>
            <a:ext cx="11088607" cy="369332"/>
          </a:xfrm>
          <a:prstGeom prst="rect">
            <a:avLst/>
          </a:prstGeom>
          <a:noFill/>
        </p:spPr>
        <p:txBody>
          <a:bodyPr wrap="square" rtlCol="0">
            <a:spAutoFit/>
          </a:bodyPr>
          <a:lstStyle/>
          <a:p>
            <a:pPr algn="ctr"/>
            <a:r>
              <a:rPr lang="ja-JP" altLang="en-US" dirty="0"/>
              <a:t>表</a:t>
            </a:r>
            <a:r>
              <a:rPr lang="en-US" altLang="ja-JP" dirty="0"/>
              <a:t>2. </a:t>
            </a:r>
            <a:r>
              <a:rPr lang="ja-JP" altLang="en-US" dirty="0"/>
              <a:t>作品数とエタり率の内訳</a:t>
            </a:r>
            <a:endParaRPr kumimoji="1" lang="ja-JP" altLang="en-US" dirty="0"/>
          </a:p>
        </p:txBody>
      </p:sp>
      <p:sp>
        <p:nvSpPr>
          <p:cNvPr id="5" name="テキスト ボックス 4">
            <a:extLst>
              <a:ext uri="{FF2B5EF4-FFF2-40B4-BE49-F238E27FC236}">
                <a16:creationId xmlns:a16="http://schemas.microsoft.com/office/drawing/2014/main" id="{B9367AB6-7DDE-4883-9989-D725DA6FE048}"/>
              </a:ext>
            </a:extLst>
          </p:cNvPr>
          <p:cNvSpPr txBox="1"/>
          <p:nvPr/>
        </p:nvSpPr>
        <p:spPr>
          <a:xfrm>
            <a:off x="8425466" y="1044357"/>
            <a:ext cx="3214837" cy="646331"/>
          </a:xfrm>
          <a:prstGeom prst="rect">
            <a:avLst/>
          </a:prstGeom>
          <a:noFill/>
        </p:spPr>
        <p:txBody>
          <a:bodyPr wrap="square" rtlCol="0">
            <a:spAutoFit/>
          </a:bodyPr>
          <a:lstStyle/>
          <a:p>
            <a:r>
              <a:rPr kumimoji="1" lang="ja-JP" altLang="en-US" b="1" dirty="0">
                <a:solidFill>
                  <a:schemeClr val="tx1">
                    <a:lumMod val="85000"/>
                  </a:schemeClr>
                </a:solidFill>
              </a:rPr>
              <a:t>太字</a:t>
            </a:r>
            <a:r>
              <a:rPr kumimoji="1" lang="ja-JP" altLang="en-US" dirty="0">
                <a:solidFill>
                  <a:schemeClr val="tx1">
                    <a:lumMod val="85000"/>
                  </a:schemeClr>
                </a:solidFill>
              </a:rPr>
              <a:t>は作品数</a:t>
            </a:r>
            <a:r>
              <a:rPr lang="ja-JP" altLang="en-US" dirty="0">
                <a:solidFill>
                  <a:schemeClr val="tx1">
                    <a:lumMod val="85000"/>
                  </a:schemeClr>
                </a:solidFill>
              </a:rPr>
              <a:t>と</a:t>
            </a:r>
            <a:r>
              <a:rPr kumimoji="1" lang="ja-JP" altLang="en-US" dirty="0">
                <a:solidFill>
                  <a:schemeClr val="tx1">
                    <a:lumMod val="85000"/>
                  </a:schemeClr>
                </a:solidFill>
              </a:rPr>
              <a:t>エタり率</a:t>
            </a:r>
            <a:endParaRPr kumimoji="1" lang="en-US" altLang="ja-JP" dirty="0">
              <a:solidFill>
                <a:schemeClr val="tx1">
                  <a:lumMod val="85000"/>
                </a:schemeClr>
              </a:solidFill>
            </a:endParaRPr>
          </a:p>
          <a:p>
            <a:r>
              <a:rPr kumimoji="1" lang="ja-JP" altLang="en-US" dirty="0">
                <a:solidFill>
                  <a:schemeClr val="tx1">
                    <a:lumMod val="85000"/>
                  </a:schemeClr>
                </a:solidFill>
              </a:rPr>
              <a:t>それぞれの</a:t>
            </a:r>
            <a:r>
              <a:rPr kumimoji="1" lang="en-US" altLang="ja-JP" dirty="0">
                <a:solidFill>
                  <a:schemeClr val="tx1">
                    <a:lumMod val="85000"/>
                  </a:schemeClr>
                </a:solidFill>
              </a:rPr>
              <a:t>max, min</a:t>
            </a:r>
            <a:endParaRPr kumimoji="1" lang="ja-JP" altLang="en-US" dirty="0">
              <a:solidFill>
                <a:schemeClr val="tx1">
                  <a:lumMod val="85000"/>
                </a:schemeClr>
              </a:solidFill>
            </a:endParaRPr>
          </a:p>
        </p:txBody>
      </p:sp>
      <p:sp>
        <p:nvSpPr>
          <p:cNvPr id="7" name="スライド番号プレースホルダー 6">
            <a:extLst>
              <a:ext uri="{FF2B5EF4-FFF2-40B4-BE49-F238E27FC236}">
                <a16:creationId xmlns:a16="http://schemas.microsoft.com/office/drawing/2014/main" id="{87BE0C29-8C9D-0A24-01B2-F875DAF40F63}"/>
              </a:ext>
            </a:extLst>
          </p:cNvPr>
          <p:cNvSpPr>
            <a:spLocks noGrp="1"/>
          </p:cNvSpPr>
          <p:nvPr>
            <p:ph type="sldNum" sz="quarter" idx="12"/>
          </p:nvPr>
        </p:nvSpPr>
        <p:spPr/>
        <p:txBody>
          <a:bodyPr/>
          <a:lstStyle/>
          <a:p>
            <a:fld id="{FD85A3AF-639B-47A7-B37E-FEBC6954B310}" type="slidenum">
              <a:rPr kumimoji="1" lang="ja-JP" altLang="en-US" smtClean="0"/>
              <a:t>7</a:t>
            </a:fld>
            <a:endParaRPr kumimoji="1" lang="ja-JP" altLang="en-US"/>
          </a:p>
        </p:txBody>
      </p:sp>
    </p:spTree>
    <p:extLst>
      <p:ext uri="{BB962C8B-B14F-4D97-AF65-F5344CB8AC3E}">
        <p14:creationId xmlns:p14="http://schemas.microsoft.com/office/powerpoint/2010/main" val="4458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C4F46A-0FCA-BF0F-C09B-41EC84A40429}"/>
              </a:ext>
            </a:extLst>
          </p:cNvPr>
          <p:cNvSpPr>
            <a:spLocks noGrp="1"/>
          </p:cNvSpPr>
          <p:nvPr>
            <p:ph type="title"/>
          </p:nvPr>
        </p:nvSpPr>
        <p:spPr/>
        <p:txBody>
          <a:bodyPr/>
          <a:lstStyle/>
          <a:p>
            <a:r>
              <a:rPr kumimoji="1" lang="ja-JP" altLang="en-US" dirty="0"/>
              <a:t>分析手法</a:t>
            </a:r>
          </a:p>
        </p:txBody>
      </p:sp>
      <p:sp>
        <p:nvSpPr>
          <p:cNvPr id="3" name="コンテンツ プレースホルダー 2">
            <a:extLst>
              <a:ext uri="{FF2B5EF4-FFF2-40B4-BE49-F238E27FC236}">
                <a16:creationId xmlns:a16="http://schemas.microsoft.com/office/drawing/2014/main" id="{5AD524EB-A4B8-A419-18F2-214CC6C351D7}"/>
              </a:ext>
            </a:extLst>
          </p:cNvPr>
          <p:cNvSpPr>
            <a:spLocks noGrp="1"/>
          </p:cNvSpPr>
          <p:nvPr>
            <p:ph idx="1"/>
          </p:nvPr>
        </p:nvSpPr>
        <p:spPr>
          <a:xfrm>
            <a:off x="2470310" y="2445488"/>
            <a:ext cx="8911688" cy="3997842"/>
          </a:xfrm>
        </p:spPr>
        <p:txBody>
          <a:bodyPr>
            <a:normAutofit/>
          </a:bodyPr>
          <a:lstStyle/>
          <a:p>
            <a:r>
              <a:rPr kumimoji="1" lang="ja-JP" altLang="en-US" sz="2400" dirty="0">
                <a:solidFill>
                  <a:schemeClr val="tx1">
                    <a:lumMod val="85000"/>
                  </a:schemeClr>
                </a:solidFill>
              </a:rPr>
              <a:t>分析</a:t>
            </a:r>
            <a:r>
              <a:rPr kumimoji="1" lang="en-US" altLang="ja-JP" sz="2400" dirty="0">
                <a:solidFill>
                  <a:schemeClr val="tx1">
                    <a:lumMod val="85000"/>
                  </a:schemeClr>
                </a:solidFill>
              </a:rPr>
              <a:t>1</a:t>
            </a:r>
            <a:r>
              <a:rPr kumimoji="1" lang="ja-JP" altLang="en-US" sz="2400" dirty="0">
                <a:solidFill>
                  <a:schemeClr val="tx1">
                    <a:lumMod val="85000"/>
                  </a:schemeClr>
                </a:solidFill>
              </a:rPr>
              <a:t>：量的メタデータのみを学習対象とした分析</a:t>
            </a:r>
            <a:endParaRPr kumimoji="1" lang="en-US" altLang="ja-JP" sz="2400" dirty="0">
              <a:solidFill>
                <a:schemeClr val="tx1">
                  <a:lumMod val="85000"/>
                </a:schemeClr>
              </a:solidFill>
            </a:endParaRPr>
          </a:p>
          <a:p>
            <a:pPr lvl="1"/>
            <a:r>
              <a:rPr kumimoji="1" lang="ja-JP" altLang="en-US" sz="2000" dirty="0">
                <a:solidFill>
                  <a:schemeClr val="tx1">
                    <a:lumMod val="85000"/>
                  </a:schemeClr>
                </a:solidFill>
              </a:rPr>
              <a:t>特徴量：文字数、ブックマーク数、総合評価ポイントなど</a:t>
            </a:r>
            <a:endParaRPr lang="en-US" altLang="ja-JP" sz="2000" dirty="0">
              <a:solidFill>
                <a:schemeClr val="tx1">
                  <a:lumMod val="85000"/>
                </a:schemeClr>
              </a:solidFill>
            </a:endParaRPr>
          </a:p>
          <a:p>
            <a:pPr lvl="1"/>
            <a:r>
              <a:rPr kumimoji="1" lang="ja-JP" altLang="en-US" sz="2000" dirty="0">
                <a:solidFill>
                  <a:schemeClr val="tx1">
                    <a:lumMod val="85000"/>
                  </a:schemeClr>
                </a:solidFill>
              </a:rPr>
              <a:t>モデル：</a:t>
            </a:r>
            <a:r>
              <a:rPr kumimoji="1" lang="en-US" altLang="ja-JP" sz="2000" dirty="0">
                <a:solidFill>
                  <a:schemeClr val="tx1">
                    <a:lumMod val="85000"/>
                  </a:schemeClr>
                </a:solidFill>
              </a:rPr>
              <a:t>LightGBM</a:t>
            </a:r>
            <a:r>
              <a:rPr kumimoji="1" lang="ja-JP" altLang="en-US" sz="2000" dirty="0">
                <a:solidFill>
                  <a:schemeClr val="tx1">
                    <a:lumMod val="85000"/>
                  </a:schemeClr>
                </a:solidFill>
              </a:rPr>
              <a:t>、ランダムフォレスト</a:t>
            </a:r>
            <a:endParaRPr lang="en-US" altLang="ja-JP" sz="2000" dirty="0">
              <a:solidFill>
                <a:schemeClr val="tx1">
                  <a:lumMod val="85000"/>
                </a:schemeClr>
              </a:solidFill>
            </a:endParaRPr>
          </a:p>
          <a:p>
            <a:pPr lvl="1"/>
            <a:r>
              <a:rPr kumimoji="1" lang="ja-JP" altLang="en-US" sz="2000" dirty="0">
                <a:solidFill>
                  <a:schemeClr val="tx1">
                    <a:lumMod val="85000"/>
                  </a:schemeClr>
                </a:solidFill>
              </a:rPr>
              <a:t>検証方法：</a:t>
            </a:r>
            <a:r>
              <a:rPr kumimoji="1" lang="en-US" altLang="ja-JP" sz="2000" dirty="0">
                <a:solidFill>
                  <a:schemeClr val="tx1">
                    <a:lumMod val="85000"/>
                  </a:schemeClr>
                </a:solidFill>
              </a:rPr>
              <a:t>5</a:t>
            </a:r>
            <a:r>
              <a:rPr kumimoji="1" lang="ja-JP" altLang="en-US" sz="2000" dirty="0">
                <a:solidFill>
                  <a:schemeClr val="tx1">
                    <a:lumMod val="85000"/>
                  </a:schemeClr>
                </a:solidFill>
              </a:rPr>
              <a:t>分割交差検証</a:t>
            </a:r>
            <a:endParaRPr kumimoji="1" lang="en-US" altLang="ja-JP" sz="2000" dirty="0">
              <a:solidFill>
                <a:schemeClr val="tx1">
                  <a:lumMod val="85000"/>
                </a:schemeClr>
              </a:solidFill>
            </a:endParaRPr>
          </a:p>
          <a:p>
            <a:endParaRPr lang="en-US" altLang="ja-JP" dirty="0">
              <a:solidFill>
                <a:schemeClr val="tx1">
                  <a:lumMod val="85000"/>
                </a:schemeClr>
              </a:solidFill>
            </a:endParaRPr>
          </a:p>
          <a:p>
            <a:r>
              <a:rPr kumimoji="1" lang="ja-JP" altLang="en-US" sz="2400" dirty="0">
                <a:solidFill>
                  <a:schemeClr val="tx1">
                    <a:lumMod val="85000"/>
                  </a:schemeClr>
                </a:solidFill>
              </a:rPr>
              <a:t>分析</a:t>
            </a:r>
            <a:r>
              <a:rPr kumimoji="1" lang="en-US" altLang="ja-JP" sz="2400" dirty="0">
                <a:solidFill>
                  <a:schemeClr val="tx1">
                    <a:lumMod val="85000"/>
                  </a:schemeClr>
                </a:solidFill>
              </a:rPr>
              <a:t>2</a:t>
            </a:r>
            <a:r>
              <a:rPr kumimoji="1" lang="ja-JP" altLang="en-US" sz="2400" dirty="0">
                <a:solidFill>
                  <a:schemeClr val="tx1">
                    <a:lumMod val="85000"/>
                  </a:schemeClr>
                </a:solidFill>
              </a:rPr>
              <a:t>：あらすじ</a:t>
            </a:r>
            <a:r>
              <a:rPr kumimoji="1" lang="en-US" altLang="ja-JP" sz="2400" dirty="0">
                <a:solidFill>
                  <a:schemeClr val="tx1">
                    <a:lumMod val="85000"/>
                  </a:schemeClr>
                </a:solidFill>
              </a:rPr>
              <a:t>(</a:t>
            </a:r>
            <a:r>
              <a:rPr kumimoji="1" lang="ja-JP" altLang="en-US" sz="2400" dirty="0">
                <a:solidFill>
                  <a:schemeClr val="tx1">
                    <a:lumMod val="85000"/>
                  </a:schemeClr>
                </a:solidFill>
              </a:rPr>
              <a:t>質的メタデータ</a:t>
            </a:r>
            <a:r>
              <a:rPr kumimoji="1" lang="en-US" altLang="ja-JP" sz="2400" dirty="0">
                <a:solidFill>
                  <a:schemeClr val="tx1">
                    <a:lumMod val="85000"/>
                  </a:schemeClr>
                </a:solidFill>
              </a:rPr>
              <a:t>)</a:t>
            </a:r>
            <a:r>
              <a:rPr kumimoji="1" lang="ja-JP" altLang="en-US" sz="2400" dirty="0">
                <a:solidFill>
                  <a:schemeClr val="tx1">
                    <a:lumMod val="85000"/>
                  </a:schemeClr>
                </a:solidFill>
              </a:rPr>
              <a:t>を学習対象とした分析</a:t>
            </a:r>
            <a:endParaRPr kumimoji="1" lang="en-US" altLang="ja-JP" sz="2400" dirty="0">
              <a:solidFill>
                <a:schemeClr val="tx1">
                  <a:lumMod val="85000"/>
                </a:schemeClr>
              </a:solidFill>
            </a:endParaRPr>
          </a:p>
          <a:p>
            <a:pPr lvl="1"/>
            <a:r>
              <a:rPr lang="ja-JP" altLang="en-US" sz="2000" dirty="0">
                <a:solidFill>
                  <a:schemeClr val="tx1">
                    <a:lumMod val="85000"/>
                  </a:schemeClr>
                </a:solidFill>
              </a:rPr>
              <a:t>特徴量：</a:t>
            </a:r>
            <a:r>
              <a:rPr lang="en-US" altLang="ja-JP" sz="2000" dirty="0">
                <a:solidFill>
                  <a:schemeClr val="tx1">
                    <a:lumMod val="85000"/>
                  </a:schemeClr>
                </a:solidFill>
              </a:rPr>
              <a:t>Janome</a:t>
            </a:r>
            <a:r>
              <a:rPr lang="ja-JP" altLang="en-US" sz="2000" dirty="0">
                <a:solidFill>
                  <a:schemeClr val="tx1">
                    <a:lumMod val="85000"/>
                  </a:schemeClr>
                </a:solidFill>
              </a:rPr>
              <a:t>と</a:t>
            </a:r>
            <a:r>
              <a:rPr lang="en-US" altLang="ja-JP" sz="2000" dirty="0">
                <a:solidFill>
                  <a:schemeClr val="tx1">
                    <a:lumMod val="85000"/>
                  </a:schemeClr>
                </a:solidFill>
              </a:rPr>
              <a:t>TF-IDF</a:t>
            </a:r>
            <a:r>
              <a:rPr lang="ja-JP" altLang="en-US" sz="2000" dirty="0">
                <a:solidFill>
                  <a:schemeClr val="tx1">
                    <a:lumMod val="85000"/>
                  </a:schemeClr>
                </a:solidFill>
              </a:rPr>
              <a:t>を用いてベクトル化したもの</a:t>
            </a:r>
            <a:endParaRPr lang="en-US" altLang="ja-JP" sz="2000" dirty="0">
              <a:solidFill>
                <a:schemeClr val="tx1">
                  <a:lumMod val="85000"/>
                </a:schemeClr>
              </a:solidFill>
            </a:endParaRPr>
          </a:p>
          <a:p>
            <a:pPr lvl="1"/>
            <a:r>
              <a:rPr lang="ja-JP" altLang="en-US" sz="2000" dirty="0">
                <a:solidFill>
                  <a:schemeClr val="tx1">
                    <a:lumMod val="85000"/>
                  </a:schemeClr>
                </a:solidFill>
              </a:rPr>
              <a:t>モデル：</a:t>
            </a:r>
            <a:r>
              <a:rPr lang="en-US" altLang="ja-JP" sz="2000" dirty="0">
                <a:solidFill>
                  <a:schemeClr val="tx1">
                    <a:lumMod val="85000"/>
                  </a:schemeClr>
                </a:solidFill>
              </a:rPr>
              <a:t>LightGBM</a:t>
            </a:r>
            <a:r>
              <a:rPr lang="ja-JP" altLang="en-US" sz="2000" dirty="0">
                <a:solidFill>
                  <a:schemeClr val="tx1">
                    <a:lumMod val="85000"/>
                  </a:schemeClr>
                </a:solidFill>
              </a:rPr>
              <a:t>、ランダムフォレスト、ロジスティック回帰</a:t>
            </a:r>
            <a:endParaRPr lang="en-US" altLang="ja-JP" sz="2000" dirty="0">
              <a:solidFill>
                <a:schemeClr val="tx1">
                  <a:lumMod val="85000"/>
                </a:schemeClr>
              </a:solidFill>
            </a:endParaRPr>
          </a:p>
          <a:p>
            <a:pPr lvl="1"/>
            <a:r>
              <a:rPr lang="ja-JP" altLang="en-US" sz="2000" dirty="0">
                <a:solidFill>
                  <a:schemeClr val="tx1">
                    <a:lumMod val="85000"/>
                  </a:schemeClr>
                </a:solidFill>
              </a:rPr>
              <a:t>検証方法：</a:t>
            </a:r>
            <a:r>
              <a:rPr lang="en-US" altLang="ja-JP" sz="2000" dirty="0">
                <a:solidFill>
                  <a:schemeClr val="tx1">
                    <a:lumMod val="85000"/>
                  </a:schemeClr>
                </a:solidFill>
              </a:rPr>
              <a:t>5</a:t>
            </a:r>
            <a:r>
              <a:rPr lang="ja-JP" altLang="en-US" sz="2000" dirty="0">
                <a:solidFill>
                  <a:schemeClr val="tx1">
                    <a:lumMod val="85000"/>
                  </a:schemeClr>
                </a:solidFill>
              </a:rPr>
              <a:t>分割交差検証</a:t>
            </a:r>
            <a:endParaRPr lang="en-US" altLang="ja-JP" sz="2000" dirty="0">
              <a:solidFill>
                <a:schemeClr val="tx1">
                  <a:lumMod val="85000"/>
                </a:schemeClr>
              </a:solidFill>
            </a:endParaRPr>
          </a:p>
        </p:txBody>
      </p:sp>
      <p:sp>
        <p:nvSpPr>
          <p:cNvPr id="4" name="スライド番号プレースホルダー 3">
            <a:extLst>
              <a:ext uri="{FF2B5EF4-FFF2-40B4-BE49-F238E27FC236}">
                <a16:creationId xmlns:a16="http://schemas.microsoft.com/office/drawing/2014/main" id="{F6F53262-B445-E4C3-8DD2-812FFDFAD4E8}"/>
              </a:ext>
            </a:extLst>
          </p:cNvPr>
          <p:cNvSpPr>
            <a:spLocks noGrp="1"/>
          </p:cNvSpPr>
          <p:nvPr>
            <p:ph type="sldNum" sz="quarter" idx="12"/>
          </p:nvPr>
        </p:nvSpPr>
        <p:spPr/>
        <p:txBody>
          <a:bodyPr/>
          <a:lstStyle/>
          <a:p>
            <a:fld id="{FD85A3AF-639B-47A7-B37E-FEBC6954B310}" type="slidenum">
              <a:rPr kumimoji="1" lang="ja-JP" altLang="en-US" smtClean="0"/>
              <a:t>8</a:t>
            </a:fld>
            <a:endParaRPr kumimoji="1" lang="ja-JP" altLang="en-US"/>
          </a:p>
        </p:txBody>
      </p:sp>
    </p:spTree>
    <p:extLst>
      <p:ext uri="{BB962C8B-B14F-4D97-AF65-F5344CB8AC3E}">
        <p14:creationId xmlns:p14="http://schemas.microsoft.com/office/powerpoint/2010/main" val="3796641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E62D3F4-4CDC-F83F-DC82-2EBC1B546824}"/>
              </a:ext>
            </a:extLst>
          </p:cNvPr>
          <p:cNvSpPr/>
          <p:nvPr/>
        </p:nvSpPr>
        <p:spPr>
          <a:xfrm>
            <a:off x="838198" y="3798331"/>
            <a:ext cx="10515599" cy="259588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596811C4-1F8B-308A-3229-9B8D01E53775}"/>
              </a:ext>
            </a:extLst>
          </p:cNvPr>
          <p:cNvSpPr/>
          <p:nvPr/>
        </p:nvSpPr>
        <p:spPr>
          <a:xfrm>
            <a:off x="838198" y="2262043"/>
            <a:ext cx="10515599" cy="1102827"/>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w="0"/>
              <a:solidFill>
                <a:schemeClr val="tx1"/>
              </a:solidFill>
              <a:effectLst>
                <a:outerShdw blurRad="38100" dist="19050" dir="2700000" algn="tl" rotWithShape="0">
                  <a:schemeClr val="dk1">
                    <a:alpha val="40000"/>
                  </a:schemeClr>
                </a:outerShdw>
              </a:effectLst>
            </a:endParaRPr>
          </a:p>
        </p:txBody>
      </p:sp>
      <p:sp>
        <p:nvSpPr>
          <p:cNvPr id="2" name="タイトル 1">
            <a:extLst>
              <a:ext uri="{FF2B5EF4-FFF2-40B4-BE49-F238E27FC236}">
                <a16:creationId xmlns:a16="http://schemas.microsoft.com/office/drawing/2014/main" id="{986CAEC5-6ACD-4EAB-AA38-23CE4CFC4559}"/>
              </a:ext>
            </a:extLst>
          </p:cNvPr>
          <p:cNvSpPr>
            <a:spLocks noGrp="1"/>
          </p:cNvSpPr>
          <p:nvPr>
            <p:ph type="title"/>
          </p:nvPr>
        </p:nvSpPr>
        <p:spPr/>
        <p:txBody>
          <a:bodyPr/>
          <a:lstStyle/>
          <a:p>
            <a:r>
              <a:rPr kumimoji="1" lang="ja-JP" altLang="en-US" dirty="0"/>
              <a:t>分析</a:t>
            </a:r>
            <a:r>
              <a:rPr kumimoji="1" lang="en-US" altLang="ja-JP" dirty="0"/>
              <a:t>1</a:t>
            </a:r>
            <a:r>
              <a:rPr kumimoji="1" lang="ja-JP" altLang="en-US" dirty="0"/>
              <a:t>：結果</a:t>
            </a:r>
          </a:p>
        </p:txBody>
      </p:sp>
      <p:graphicFrame>
        <p:nvGraphicFramePr>
          <p:cNvPr id="4" name="コンテンツ プレースホルダー 3">
            <a:extLst>
              <a:ext uri="{FF2B5EF4-FFF2-40B4-BE49-F238E27FC236}">
                <a16:creationId xmlns:a16="http://schemas.microsoft.com/office/drawing/2014/main" id="{601E1742-CC18-64D1-09F5-E3A9E323AF68}"/>
              </a:ext>
            </a:extLst>
          </p:cNvPr>
          <p:cNvGraphicFramePr>
            <a:graphicFrameLocks noGrp="1"/>
          </p:cNvGraphicFramePr>
          <p:nvPr>
            <p:ph idx="1"/>
            <p:extLst>
              <p:ext uri="{D42A27DB-BD31-4B8C-83A1-F6EECF244321}">
                <p14:modId xmlns:p14="http://schemas.microsoft.com/office/powerpoint/2010/main" val="749470125"/>
              </p:ext>
            </p:extLst>
          </p:nvPr>
        </p:nvGraphicFramePr>
        <p:xfrm>
          <a:off x="838198" y="2252350"/>
          <a:ext cx="10515600" cy="1112520"/>
        </p:xfrm>
        <a:graphic>
          <a:graphicData uri="http://schemas.openxmlformats.org/drawingml/2006/table">
            <a:tbl>
              <a:tblPr firstRow="1" bandRow="1">
                <a:tableStyleId>{9D7B26C5-4107-4FEC-AEDC-1716B250A1EF}</a:tableStyleId>
              </a:tblPr>
              <a:tblGrid>
                <a:gridCol w="2241884">
                  <a:extLst>
                    <a:ext uri="{9D8B030D-6E8A-4147-A177-3AD203B41FA5}">
                      <a16:colId xmlns:a16="http://schemas.microsoft.com/office/drawing/2014/main" val="64698765"/>
                    </a:ext>
                  </a:extLst>
                </a:gridCol>
                <a:gridCol w="2068429">
                  <a:extLst>
                    <a:ext uri="{9D8B030D-6E8A-4147-A177-3AD203B41FA5}">
                      <a16:colId xmlns:a16="http://schemas.microsoft.com/office/drawing/2014/main" val="1963312987"/>
                    </a:ext>
                  </a:extLst>
                </a:gridCol>
                <a:gridCol w="2068429">
                  <a:extLst>
                    <a:ext uri="{9D8B030D-6E8A-4147-A177-3AD203B41FA5}">
                      <a16:colId xmlns:a16="http://schemas.microsoft.com/office/drawing/2014/main" val="2809817049"/>
                    </a:ext>
                  </a:extLst>
                </a:gridCol>
                <a:gridCol w="2068429">
                  <a:extLst>
                    <a:ext uri="{9D8B030D-6E8A-4147-A177-3AD203B41FA5}">
                      <a16:colId xmlns:a16="http://schemas.microsoft.com/office/drawing/2014/main" val="2792353215"/>
                    </a:ext>
                  </a:extLst>
                </a:gridCol>
                <a:gridCol w="2068429">
                  <a:extLst>
                    <a:ext uri="{9D8B030D-6E8A-4147-A177-3AD203B41FA5}">
                      <a16:colId xmlns:a16="http://schemas.microsoft.com/office/drawing/2014/main" val="3069991257"/>
                    </a:ext>
                  </a:extLst>
                </a:gridCol>
              </a:tblGrid>
              <a:tr h="370840">
                <a:tc>
                  <a:txBody>
                    <a:bodyPr/>
                    <a:lstStyle/>
                    <a:p>
                      <a:pPr algn="ctr">
                        <a:lnSpc>
                          <a:spcPts val="1800"/>
                        </a:lnSpc>
                        <a:buNone/>
                      </a:pPr>
                      <a:r>
                        <a:rPr lang="ja-JP" sz="1800" kern="0" dirty="0">
                          <a:solidFill>
                            <a:schemeClr val="tx1">
                              <a:lumMod val="85000"/>
                            </a:schemeClr>
                          </a:solidFill>
                          <a:effectLst/>
                        </a:rPr>
                        <a:t>モデル</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ja-JP" sz="1800" kern="0" dirty="0">
                          <a:solidFill>
                            <a:schemeClr val="tx1">
                              <a:lumMod val="85000"/>
                            </a:schemeClr>
                          </a:solidFill>
                          <a:effectLst/>
                        </a:rPr>
                        <a:t>正解率</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ja-JP" sz="1800" kern="0">
                          <a:solidFill>
                            <a:schemeClr val="tx1">
                              <a:lumMod val="85000"/>
                            </a:schemeClr>
                          </a:solidFill>
                          <a:effectLst/>
                        </a:rPr>
                        <a:t>適合率</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ja-JP" sz="1800" kern="0">
                          <a:solidFill>
                            <a:schemeClr val="tx1">
                              <a:lumMod val="85000"/>
                            </a:schemeClr>
                          </a:solidFill>
                          <a:effectLst/>
                        </a:rPr>
                        <a:t>再現率</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a:solidFill>
                            <a:schemeClr val="tx1">
                              <a:lumMod val="85000"/>
                            </a:schemeClr>
                          </a:solidFill>
                          <a:effectLst/>
                        </a:rPr>
                        <a:t>F</a:t>
                      </a:r>
                      <a:r>
                        <a:rPr lang="ja-JP" sz="1800" kern="0">
                          <a:solidFill>
                            <a:schemeClr val="tx1">
                              <a:lumMod val="85000"/>
                            </a:schemeClr>
                          </a:solidFill>
                          <a:effectLst/>
                        </a:rPr>
                        <a:t>値</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2477747166"/>
                  </a:ext>
                </a:extLst>
              </a:tr>
              <a:tr h="370840">
                <a:tc>
                  <a:txBody>
                    <a:bodyPr/>
                    <a:lstStyle/>
                    <a:p>
                      <a:pPr algn="ctr">
                        <a:lnSpc>
                          <a:spcPts val="1800"/>
                        </a:lnSpc>
                        <a:buNone/>
                      </a:pPr>
                      <a:r>
                        <a:rPr lang="en-US" sz="1800" kern="0">
                          <a:solidFill>
                            <a:schemeClr val="tx1">
                              <a:lumMod val="85000"/>
                            </a:schemeClr>
                          </a:solidFill>
                          <a:effectLst/>
                        </a:rPr>
                        <a:t>LightGBM</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rPr>
                        <a:t>0.7308</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rPr>
                        <a:t>0.6428</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0.5183</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rPr>
                        <a:t>0.5739</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2123767791"/>
                  </a:ext>
                </a:extLst>
              </a:tr>
              <a:tr h="370840">
                <a:tc>
                  <a:txBody>
                    <a:bodyPr/>
                    <a:lstStyle/>
                    <a:p>
                      <a:pPr algn="ctr">
                        <a:lnSpc>
                          <a:spcPts val="1800"/>
                        </a:lnSpc>
                        <a:buNone/>
                      </a:pPr>
                      <a:r>
                        <a:rPr lang="ja-JP" sz="1800" kern="0" dirty="0">
                          <a:solidFill>
                            <a:schemeClr val="tx1">
                              <a:lumMod val="85000"/>
                            </a:schemeClr>
                          </a:solidFill>
                          <a:effectLst/>
                        </a:rPr>
                        <a:t>ランダムフォレスト</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0.7182</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0.6105</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rPr>
                        <a:t>0.5368</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0.5712</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979315704"/>
                  </a:ext>
                </a:extLst>
              </a:tr>
            </a:tbl>
          </a:graphicData>
        </a:graphic>
      </p:graphicFrame>
      <p:sp>
        <p:nvSpPr>
          <p:cNvPr id="3" name="テキスト ボックス 2">
            <a:extLst>
              <a:ext uri="{FF2B5EF4-FFF2-40B4-BE49-F238E27FC236}">
                <a16:creationId xmlns:a16="http://schemas.microsoft.com/office/drawing/2014/main" id="{CFAE53AB-0E33-3924-93BD-FF65957F2C42}"/>
              </a:ext>
            </a:extLst>
          </p:cNvPr>
          <p:cNvSpPr txBox="1"/>
          <p:nvPr/>
        </p:nvSpPr>
        <p:spPr>
          <a:xfrm>
            <a:off x="551696" y="1892712"/>
            <a:ext cx="11088607" cy="369332"/>
          </a:xfrm>
          <a:prstGeom prst="rect">
            <a:avLst/>
          </a:prstGeom>
          <a:noFill/>
        </p:spPr>
        <p:txBody>
          <a:bodyPr wrap="square" rtlCol="0">
            <a:spAutoFit/>
          </a:bodyPr>
          <a:lstStyle/>
          <a:p>
            <a:pPr algn="ctr"/>
            <a:r>
              <a:rPr lang="ja-JP" altLang="en-US" dirty="0"/>
              <a:t>表</a:t>
            </a:r>
            <a:r>
              <a:rPr lang="en-US" altLang="ja-JP" dirty="0"/>
              <a:t>3. </a:t>
            </a:r>
            <a:r>
              <a:rPr lang="ja-JP" altLang="en-US" dirty="0"/>
              <a:t>各モデルの性能平均</a:t>
            </a:r>
            <a:endParaRPr kumimoji="1" lang="ja-JP" altLang="en-US" dirty="0"/>
          </a:p>
        </p:txBody>
      </p:sp>
      <p:graphicFrame>
        <p:nvGraphicFramePr>
          <p:cNvPr id="5" name="コンテンツ プレースホルダー 3">
            <a:extLst>
              <a:ext uri="{FF2B5EF4-FFF2-40B4-BE49-F238E27FC236}">
                <a16:creationId xmlns:a16="http://schemas.microsoft.com/office/drawing/2014/main" id="{D4C1778B-04CB-79FD-D0DC-56BFA1FDEACA}"/>
              </a:ext>
            </a:extLst>
          </p:cNvPr>
          <p:cNvGraphicFramePr>
            <a:graphicFrameLocks/>
          </p:cNvGraphicFramePr>
          <p:nvPr>
            <p:extLst>
              <p:ext uri="{D42A27DB-BD31-4B8C-83A1-F6EECF244321}">
                <p14:modId xmlns:p14="http://schemas.microsoft.com/office/powerpoint/2010/main" val="1555161907"/>
              </p:ext>
            </p:extLst>
          </p:nvPr>
        </p:nvGraphicFramePr>
        <p:xfrm>
          <a:off x="838200" y="3798331"/>
          <a:ext cx="10515597" cy="2595880"/>
        </p:xfrm>
        <a:graphic>
          <a:graphicData uri="http://schemas.openxmlformats.org/drawingml/2006/table">
            <a:tbl>
              <a:tblPr firstRow="1" bandRow="1">
                <a:tableStyleId>{9D7B26C5-4107-4FEC-AEDC-1716B250A1EF}</a:tableStyleId>
              </a:tblPr>
              <a:tblGrid>
                <a:gridCol w="3505199">
                  <a:extLst>
                    <a:ext uri="{9D8B030D-6E8A-4147-A177-3AD203B41FA5}">
                      <a16:colId xmlns:a16="http://schemas.microsoft.com/office/drawing/2014/main" val="1393318976"/>
                    </a:ext>
                  </a:extLst>
                </a:gridCol>
                <a:gridCol w="3505199">
                  <a:extLst>
                    <a:ext uri="{9D8B030D-6E8A-4147-A177-3AD203B41FA5}">
                      <a16:colId xmlns:a16="http://schemas.microsoft.com/office/drawing/2014/main" val="2783372629"/>
                    </a:ext>
                  </a:extLst>
                </a:gridCol>
                <a:gridCol w="3505199">
                  <a:extLst>
                    <a:ext uri="{9D8B030D-6E8A-4147-A177-3AD203B41FA5}">
                      <a16:colId xmlns:a16="http://schemas.microsoft.com/office/drawing/2014/main" val="3731530101"/>
                    </a:ext>
                  </a:extLst>
                </a:gridCol>
              </a:tblGrid>
              <a:tr h="370840">
                <a:tc>
                  <a:txBody>
                    <a:bodyPr/>
                    <a:lstStyle/>
                    <a:p>
                      <a:pPr algn="ctr"/>
                      <a:r>
                        <a:rPr kumimoji="1" lang="ja-JP" altLang="en-US" dirty="0">
                          <a:solidFill>
                            <a:schemeClr val="tx1">
                              <a:lumMod val="85000"/>
                            </a:schemeClr>
                          </a:solidFill>
                        </a:rPr>
                        <a:t>特徴量</a:t>
                      </a:r>
                    </a:p>
                  </a:txBody>
                  <a:tcPr anchor="ctr"/>
                </a:tc>
                <a:tc>
                  <a:txBody>
                    <a:bodyPr/>
                    <a:lstStyle/>
                    <a:p>
                      <a:pPr algn="ctr"/>
                      <a:r>
                        <a:rPr kumimoji="1" lang="en-US" altLang="ja-JP" dirty="0">
                          <a:solidFill>
                            <a:schemeClr val="tx1">
                              <a:lumMod val="85000"/>
                            </a:schemeClr>
                          </a:solidFill>
                        </a:rPr>
                        <a:t>LightGBM </a:t>
                      </a:r>
                      <a:r>
                        <a:rPr kumimoji="1" lang="ja-JP" altLang="en-US" dirty="0">
                          <a:solidFill>
                            <a:schemeClr val="tx1">
                              <a:lumMod val="85000"/>
                            </a:schemeClr>
                          </a:solidFill>
                        </a:rPr>
                        <a:t>重要度</a:t>
                      </a:r>
                    </a:p>
                  </a:txBody>
                  <a:tcPr anchor="ctr"/>
                </a:tc>
                <a:tc>
                  <a:txBody>
                    <a:bodyPr/>
                    <a:lstStyle/>
                    <a:p>
                      <a:pPr algn="ctr"/>
                      <a:r>
                        <a:rPr kumimoji="1" lang="ja-JP" altLang="en-US" dirty="0">
                          <a:solidFill>
                            <a:schemeClr val="tx1">
                              <a:lumMod val="85000"/>
                            </a:schemeClr>
                          </a:solidFill>
                        </a:rPr>
                        <a:t>ランダムフォレスト 重要度</a:t>
                      </a:r>
                    </a:p>
                  </a:txBody>
                  <a:tcPr anchor="ctr"/>
                </a:tc>
                <a:extLst>
                  <a:ext uri="{0D108BD9-81ED-4DB2-BD59-A6C34878D82A}">
                    <a16:rowId xmlns:a16="http://schemas.microsoft.com/office/drawing/2014/main" val="3086712696"/>
                  </a:ext>
                </a:extLst>
              </a:tr>
              <a:tr h="370840">
                <a:tc>
                  <a:txBody>
                    <a:bodyPr/>
                    <a:lstStyle/>
                    <a:p>
                      <a:pPr algn="ctr"/>
                      <a:r>
                        <a:rPr kumimoji="1" lang="ja-JP" altLang="en-US" dirty="0">
                          <a:solidFill>
                            <a:schemeClr val="tx1">
                              <a:lumMod val="85000"/>
                            </a:schemeClr>
                          </a:solidFill>
                        </a:rPr>
                        <a:t>文字数</a:t>
                      </a:r>
                      <a:endParaRPr kumimoji="1" lang="en-US" altLang="ja-JP" dirty="0">
                        <a:solidFill>
                          <a:schemeClr val="tx1">
                            <a:lumMod val="85000"/>
                          </a:schemeClr>
                        </a:solidFill>
                      </a:endParaRPr>
                    </a:p>
                  </a:txBody>
                  <a:tcPr anchor="ctr"/>
                </a:tc>
                <a:tc>
                  <a:txBody>
                    <a:bodyPr/>
                    <a:lstStyle/>
                    <a:p>
                      <a:pPr algn="ctr">
                        <a:lnSpc>
                          <a:spcPts val="1800"/>
                        </a:lnSpc>
                        <a:buNone/>
                      </a:pPr>
                      <a:r>
                        <a:rPr lang="en-US" sz="1800" b="1"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2443.4</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0.2503</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1383423691"/>
                  </a:ext>
                </a:extLst>
              </a:tr>
              <a:tr h="370840">
                <a:tc>
                  <a:txBody>
                    <a:bodyPr/>
                    <a:lstStyle/>
                    <a:p>
                      <a:pPr algn="ctr"/>
                      <a:r>
                        <a:rPr kumimoji="1" lang="ja-JP" altLang="en-US" dirty="0">
                          <a:solidFill>
                            <a:schemeClr val="tx1">
                              <a:lumMod val="85000"/>
                            </a:schemeClr>
                          </a:solidFill>
                        </a:rPr>
                        <a:t>総合評価ポイント</a:t>
                      </a:r>
                    </a:p>
                  </a:txBody>
                  <a:tcPr anchor="ctr"/>
                </a:tc>
                <a:tc>
                  <a:txBody>
                    <a:bodyPr/>
                    <a:lstStyle/>
                    <a:p>
                      <a:pPr algn="ctr">
                        <a:lnSpc>
                          <a:spcPts val="1800"/>
                        </a:lnSpc>
                        <a:buNone/>
                      </a:pPr>
                      <a:r>
                        <a:rPr lang="en-US" sz="1800"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2346.2</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0.4349</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3978820365"/>
                  </a:ext>
                </a:extLst>
              </a:tr>
              <a:tr h="370840">
                <a:tc>
                  <a:txBody>
                    <a:bodyPr/>
                    <a:lstStyle/>
                    <a:p>
                      <a:pPr algn="ctr"/>
                      <a:r>
                        <a:rPr kumimoji="1" lang="ja-JP" altLang="en-US" dirty="0">
                          <a:solidFill>
                            <a:schemeClr val="tx1">
                              <a:lumMod val="85000"/>
                            </a:schemeClr>
                          </a:solidFill>
                        </a:rPr>
                        <a:t>ブックマーク数</a:t>
                      </a:r>
                    </a:p>
                  </a:txBody>
                  <a:tcPr anchor="ctr"/>
                </a:tc>
                <a:tc>
                  <a:txBody>
                    <a:bodyPr/>
                    <a:lstStyle/>
                    <a:p>
                      <a:pPr algn="ctr">
                        <a:lnSpc>
                          <a:spcPts val="1800"/>
                        </a:lnSpc>
                        <a:buNone/>
                      </a:pPr>
                      <a:r>
                        <a:rPr lang="en-US" sz="1800"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2016.8</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a:solidFill>
                            <a:schemeClr val="tx1">
                              <a:lumMod val="85000"/>
                            </a:schemeClr>
                          </a:solidFill>
                          <a:effectLst/>
                          <a:latin typeface="+mn-lt"/>
                          <a:ea typeface="游明朝" panose="02020400000000000000" pitchFamily="18" charset="-128"/>
                          <a:cs typeface="ＭＳ Ｐゴシック" panose="020B0600070205080204" pitchFamily="50" charset="-128"/>
                        </a:rPr>
                        <a:t>0.2123</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4107713081"/>
                  </a:ext>
                </a:extLst>
              </a:tr>
              <a:tr h="370840">
                <a:tc>
                  <a:txBody>
                    <a:bodyPr/>
                    <a:lstStyle/>
                    <a:p>
                      <a:pPr algn="ctr"/>
                      <a:r>
                        <a:rPr kumimoji="1" lang="ja-JP" altLang="en-US" dirty="0">
                          <a:solidFill>
                            <a:schemeClr val="tx1">
                              <a:lumMod val="85000"/>
                            </a:schemeClr>
                          </a:solidFill>
                        </a:rPr>
                        <a:t>話数</a:t>
                      </a:r>
                    </a:p>
                  </a:txBody>
                  <a:tcPr anchor="ctr"/>
                </a:tc>
                <a:tc>
                  <a:txBody>
                    <a:bodyPr/>
                    <a:lstStyle/>
                    <a:p>
                      <a:pPr algn="ctr">
                        <a:lnSpc>
                          <a:spcPts val="1800"/>
                        </a:lnSpc>
                        <a:buNone/>
                      </a:pPr>
                      <a:r>
                        <a:rPr lang="en-US" sz="1800"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1790.8</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a:solidFill>
                            <a:schemeClr val="tx1">
                              <a:lumMod val="85000"/>
                            </a:schemeClr>
                          </a:solidFill>
                          <a:effectLst/>
                          <a:latin typeface="+mn-lt"/>
                          <a:ea typeface="游明朝" panose="02020400000000000000" pitchFamily="18" charset="-128"/>
                          <a:cs typeface="ＭＳ Ｐゴシック" panose="020B0600070205080204" pitchFamily="50" charset="-128"/>
                        </a:rPr>
                        <a:t>0.0245</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897190498"/>
                  </a:ext>
                </a:extLst>
              </a:tr>
              <a:tr h="370840">
                <a:tc>
                  <a:txBody>
                    <a:bodyPr/>
                    <a:lstStyle/>
                    <a:p>
                      <a:pPr algn="ctr"/>
                      <a:r>
                        <a:rPr kumimoji="1" lang="ja-JP" altLang="en-US" dirty="0">
                          <a:solidFill>
                            <a:schemeClr val="tx1">
                              <a:lumMod val="85000"/>
                            </a:schemeClr>
                          </a:solidFill>
                        </a:rPr>
                        <a:t>更新頻度</a:t>
                      </a:r>
                    </a:p>
                  </a:txBody>
                  <a:tcPr anchor="ctr"/>
                </a:tc>
                <a:tc>
                  <a:txBody>
                    <a:bodyPr/>
                    <a:lstStyle/>
                    <a:p>
                      <a:pPr algn="ctr">
                        <a:lnSpc>
                          <a:spcPts val="1800"/>
                        </a:lnSpc>
                        <a:buNone/>
                      </a:pPr>
                      <a:r>
                        <a:rPr lang="en-US" sz="1800"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1739.0</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0.0270</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3493789283"/>
                  </a:ext>
                </a:extLst>
              </a:tr>
              <a:tr h="370840">
                <a:tc>
                  <a:txBody>
                    <a:bodyPr/>
                    <a:lstStyle/>
                    <a:p>
                      <a:pPr algn="ctr"/>
                      <a:r>
                        <a:rPr kumimoji="1" lang="ja-JP" altLang="en-US" dirty="0">
                          <a:solidFill>
                            <a:schemeClr val="tx1">
                              <a:lumMod val="85000"/>
                            </a:schemeClr>
                          </a:solidFill>
                        </a:rPr>
                        <a:t>キーワード</a:t>
                      </a:r>
                    </a:p>
                  </a:txBody>
                  <a:tcPr anchor="ctr"/>
                </a:tc>
                <a:tc>
                  <a:txBody>
                    <a:bodyPr/>
                    <a:lstStyle/>
                    <a:p>
                      <a:pPr algn="ctr">
                        <a:lnSpc>
                          <a:spcPts val="1800"/>
                        </a:lnSpc>
                        <a:buNone/>
                      </a:pPr>
                      <a:r>
                        <a:rPr lang="en-US" sz="1800"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1267.8</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latin typeface="+mn-lt"/>
                          <a:ea typeface="游明朝" panose="02020400000000000000" pitchFamily="18" charset="-128"/>
                          <a:cs typeface="ＭＳ Ｐゴシック" panose="020B0600070205080204" pitchFamily="50" charset="-128"/>
                        </a:rPr>
                        <a:t>0.0510</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972699185"/>
                  </a:ext>
                </a:extLst>
              </a:tr>
            </a:tbl>
          </a:graphicData>
        </a:graphic>
      </p:graphicFrame>
      <p:sp>
        <p:nvSpPr>
          <p:cNvPr id="7" name="テキスト ボックス 6">
            <a:extLst>
              <a:ext uri="{FF2B5EF4-FFF2-40B4-BE49-F238E27FC236}">
                <a16:creationId xmlns:a16="http://schemas.microsoft.com/office/drawing/2014/main" id="{814A1BF3-B101-8A25-3336-FA3EF69E2277}"/>
              </a:ext>
            </a:extLst>
          </p:cNvPr>
          <p:cNvSpPr txBox="1"/>
          <p:nvPr/>
        </p:nvSpPr>
        <p:spPr>
          <a:xfrm>
            <a:off x="551694" y="3429000"/>
            <a:ext cx="11088607" cy="369332"/>
          </a:xfrm>
          <a:prstGeom prst="rect">
            <a:avLst/>
          </a:prstGeom>
          <a:noFill/>
        </p:spPr>
        <p:txBody>
          <a:bodyPr wrap="square" rtlCol="0">
            <a:spAutoFit/>
          </a:bodyPr>
          <a:lstStyle/>
          <a:p>
            <a:pPr algn="ctr"/>
            <a:r>
              <a:rPr lang="ja-JP" altLang="en-US" dirty="0"/>
              <a:t>表</a:t>
            </a:r>
            <a:r>
              <a:rPr lang="en-US" altLang="ja-JP" dirty="0"/>
              <a:t>4. </a:t>
            </a:r>
            <a:r>
              <a:rPr lang="ja-JP" altLang="en-US" dirty="0"/>
              <a:t>各モデルの特徴量重要度</a:t>
            </a:r>
            <a:endParaRPr kumimoji="1" lang="ja-JP" altLang="en-US" dirty="0"/>
          </a:p>
        </p:txBody>
      </p:sp>
      <p:sp>
        <p:nvSpPr>
          <p:cNvPr id="9" name="スライド番号プレースホルダー 8">
            <a:extLst>
              <a:ext uri="{FF2B5EF4-FFF2-40B4-BE49-F238E27FC236}">
                <a16:creationId xmlns:a16="http://schemas.microsoft.com/office/drawing/2014/main" id="{A10972A8-9AF6-C505-8B10-6571B4EAC42E}"/>
              </a:ext>
            </a:extLst>
          </p:cNvPr>
          <p:cNvSpPr>
            <a:spLocks noGrp="1"/>
          </p:cNvSpPr>
          <p:nvPr>
            <p:ph type="sldNum" sz="quarter" idx="12"/>
          </p:nvPr>
        </p:nvSpPr>
        <p:spPr/>
        <p:txBody>
          <a:bodyPr/>
          <a:lstStyle/>
          <a:p>
            <a:fld id="{FD85A3AF-639B-47A7-B37E-FEBC6954B310}" type="slidenum">
              <a:rPr kumimoji="1" lang="ja-JP" altLang="en-US" smtClean="0"/>
              <a:t>9</a:t>
            </a:fld>
            <a:endParaRPr kumimoji="1" lang="ja-JP" altLang="en-US"/>
          </a:p>
        </p:txBody>
      </p:sp>
    </p:spTree>
    <p:extLst>
      <p:ext uri="{BB962C8B-B14F-4D97-AF65-F5344CB8AC3E}">
        <p14:creationId xmlns:p14="http://schemas.microsoft.com/office/powerpoint/2010/main" val="213478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DAF7AB-8F77-66C8-4EB2-9C8D2209CC39}"/>
              </a:ext>
            </a:extLst>
          </p:cNvPr>
          <p:cNvSpPr>
            <a:spLocks noGrp="1"/>
          </p:cNvSpPr>
          <p:nvPr>
            <p:ph type="title"/>
          </p:nvPr>
        </p:nvSpPr>
        <p:spPr/>
        <p:txBody>
          <a:bodyPr/>
          <a:lstStyle/>
          <a:p>
            <a:r>
              <a:rPr lang="ja-JP" altLang="en-US" dirty="0"/>
              <a:t>分析</a:t>
            </a:r>
            <a:r>
              <a:rPr lang="en-US" altLang="ja-JP" dirty="0"/>
              <a:t>1</a:t>
            </a:r>
            <a:r>
              <a:rPr lang="ja-JP" altLang="en-US" dirty="0"/>
              <a:t> ：考察</a:t>
            </a:r>
            <a:endParaRPr kumimoji="1" lang="ja-JP" altLang="en-US" dirty="0"/>
          </a:p>
        </p:txBody>
      </p:sp>
      <p:sp>
        <p:nvSpPr>
          <p:cNvPr id="3" name="コンテンツ プレースホルダー 2">
            <a:extLst>
              <a:ext uri="{FF2B5EF4-FFF2-40B4-BE49-F238E27FC236}">
                <a16:creationId xmlns:a16="http://schemas.microsoft.com/office/drawing/2014/main" id="{C49BBE11-7B72-5AD2-557B-22C4D7221C05}"/>
              </a:ext>
            </a:extLst>
          </p:cNvPr>
          <p:cNvSpPr>
            <a:spLocks noGrp="1"/>
          </p:cNvSpPr>
          <p:nvPr>
            <p:ph idx="1"/>
          </p:nvPr>
        </p:nvSpPr>
        <p:spPr>
          <a:xfrm>
            <a:off x="2592925" y="2008505"/>
            <a:ext cx="8760875" cy="4408265"/>
          </a:xfrm>
        </p:spPr>
        <p:txBody>
          <a:bodyPr>
            <a:normAutofit/>
          </a:bodyPr>
          <a:lstStyle/>
          <a:p>
            <a:r>
              <a:rPr lang="ja-JP" altLang="en-US" sz="3200" dirty="0">
                <a:solidFill>
                  <a:schemeClr val="tx1">
                    <a:lumMod val="85000"/>
                  </a:schemeClr>
                </a:solidFill>
              </a:rPr>
              <a:t>両モデルはほぼ同等の性能</a:t>
            </a:r>
            <a:endParaRPr lang="en-US" altLang="ja-JP" sz="3200" dirty="0">
              <a:solidFill>
                <a:schemeClr val="tx1">
                  <a:lumMod val="85000"/>
                </a:schemeClr>
              </a:solidFill>
            </a:endParaRPr>
          </a:p>
          <a:p>
            <a:endParaRPr lang="en-US" altLang="ja-JP" sz="3200" dirty="0">
              <a:solidFill>
                <a:schemeClr val="tx1">
                  <a:lumMod val="85000"/>
                </a:schemeClr>
              </a:solidFill>
            </a:endParaRPr>
          </a:p>
          <a:p>
            <a:r>
              <a:rPr lang="ja-JP" altLang="en-US" sz="3200" dirty="0">
                <a:solidFill>
                  <a:schemeClr val="tx1">
                    <a:lumMod val="85000"/>
                  </a:schemeClr>
                </a:solidFill>
              </a:rPr>
              <a:t>各スコアの中では再現率が低い</a:t>
            </a:r>
            <a:endParaRPr lang="en-US" altLang="ja-JP" sz="3200" dirty="0">
              <a:solidFill>
                <a:schemeClr val="tx1">
                  <a:lumMod val="85000"/>
                </a:schemeClr>
              </a:solidFill>
            </a:endParaRPr>
          </a:p>
          <a:p>
            <a:endParaRPr lang="en-US" altLang="ja-JP" sz="3200" dirty="0">
              <a:solidFill>
                <a:schemeClr val="tx1">
                  <a:lumMod val="85000"/>
                </a:schemeClr>
              </a:solidFill>
            </a:endParaRPr>
          </a:p>
          <a:p>
            <a:r>
              <a:rPr lang="ja-JP" altLang="en-US" sz="3200" dirty="0">
                <a:solidFill>
                  <a:schemeClr val="tx1">
                    <a:lumMod val="85000"/>
                  </a:schemeClr>
                </a:solidFill>
              </a:rPr>
              <a:t>両モデルにおいて上位</a:t>
            </a:r>
            <a:r>
              <a:rPr lang="en-US" altLang="ja-JP" sz="3200" dirty="0">
                <a:solidFill>
                  <a:schemeClr val="tx1">
                    <a:lumMod val="85000"/>
                  </a:schemeClr>
                </a:solidFill>
              </a:rPr>
              <a:t>3</a:t>
            </a:r>
            <a:r>
              <a:rPr lang="ja-JP" altLang="en-US" sz="3200" dirty="0">
                <a:solidFill>
                  <a:schemeClr val="tx1">
                    <a:lumMod val="85000"/>
                  </a:schemeClr>
                </a:solidFill>
              </a:rPr>
              <a:t>つは同じ</a:t>
            </a:r>
            <a:endParaRPr lang="en-US" altLang="ja-JP" sz="3200" dirty="0">
              <a:solidFill>
                <a:schemeClr val="tx1">
                  <a:lumMod val="85000"/>
                </a:schemeClr>
              </a:solidFill>
            </a:endParaRPr>
          </a:p>
        </p:txBody>
      </p:sp>
      <p:sp>
        <p:nvSpPr>
          <p:cNvPr id="4" name="スライド番号プレースホルダー 3">
            <a:extLst>
              <a:ext uri="{FF2B5EF4-FFF2-40B4-BE49-F238E27FC236}">
                <a16:creationId xmlns:a16="http://schemas.microsoft.com/office/drawing/2014/main" id="{5C48E460-096A-06BB-D1FE-794F9DA08E2C}"/>
              </a:ext>
            </a:extLst>
          </p:cNvPr>
          <p:cNvSpPr>
            <a:spLocks noGrp="1"/>
          </p:cNvSpPr>
          <p:nvPr>
            <p:ph type="sldNum" sz="quarter" idx="12"/>
          </p:nvPr>
        </p:nvSpPr>
        <p:spPr/>
        <p:txBody>
          <a:bodyPr/>
          <a:lstStyle/>
          <a:p>
            <a:fld id="{FD85A3AF-639B-47A7-B37E-FEBC6954B310}" type="slidenum">
              <a:rPr kumimoji="1" lang="ja-JP" altLang="en-US" smtClean="0"/>
              <a:t>10</a:t>
            </a:fld>
            <a:endParaRPr kumimoji="1" lang="ja-JP" altLang="en-US"/>
          </a:p>
        </p:txBody>
      </p:sp>
    </p:spTree>
    <p:extLst>
      <p:ext uri="{BB962C8B-B14F-4D97-AF65-F5344CB8AC3E}">
        <p14:creationId xmlns:p14="http://schemas.microsoft.com/office/powerpoint/2010/main" val="3157772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2214A7F-4C93-1CB4-1368-3AF17CC77990}"/>
              </a:ext>
            </a:extLst>
          </p:cNvPr>
          <p:cNvSpPr/>
          <p:nvPr/>
        </p:nvSpPr>
        <p:spPr>
          <a:xfrm>
            <a:off x="838199" y="2333070"/>
            <a:ext cx="10515600" cy="148336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B46D045-0689-F83E-DFE4-4F56CCE764E3}"/>
              </a:ext>
            </a:extLst>
          </p:cNvPr>
          <p:cNvSpPr>
            <a:spLocks noGrp="1"/>
          </p:cNvSpPr>
          <p:nvPr>
            <p:ph type="title"/>
          </p:nvPr>
        </p:nvSpPr>
        <p:spPr/>
        <p:txBody>
          <a:bodyPr/>
          <a:lstStyle/>
          <a:p>
            <a:r>
              <a:rPr lang="ja-JP" altLang="en-US" dirty="0">
                <a:solidFill>
                  <a:schemeClr val="tx1">
                    <a:lumMod val="85000"/>
                  </a:schemeClr>
                </a:solidFill>
              </a:rPr>
              <a:t>分析</a:t>
            </a:r>
            <a:r>
              <a:rPr lang="en-US" altLang="ja-JP" dirty="0">
                <a:solidFill>
                  <a:schemeClr val="tx1">
                    <a:lumMod val="85000"/>
                  </a:schemeClr>
                </a:solidFill>
              </a:rPr>
              <a:t>2</a:t>
            </a:r>
            <a:r>
              <a:rPr lang="ja-JP" altLang="en-US" dirty="0">
                <a:solidFill>
                  <a:schemeClr val="tx1">
                    <a:lumMod val="85000"/>
                  </a:schemeClr>
                </a:solidFill>
              </a:rPr>
              <a:t>：結果と考察</a:t>
            </a:r>
            <a:endParaRPr kumimoji="1" lang="ja-JP" altLang="en-US" dirty="0">
              <a:solidFill>
                <a:schemeClr val="tx1">
                  <a:lumMod val="85000"/>
                </a:schemeClr>
              </a:solidFill>
            </a:endParaRPr>
          </a:p>
        </p:txBody>
      </p:sp>
      <p:graphicFrame>
        <p:nvGraphicFramePr>
          <p:cNvPr id="6" name="コンテンツ プレースホルダー 5">
            <a:extLst>
              <a:ext uri="{FF2B5EF4-FFF2-40B4-BE49-F238E27FC236}">
                <a16:creationId xmlns:a16="http://schemas.microsoft.com/office/drawing/2014/main" id="{B4D82050-22A5-2CE1-CB71-3A9B9D74C41A}"/>
              </a:ext>
            </a:extLst>
          </p:cNvPr>
          <p:cNvGraphicFramePr>
            <a:graphicFrameLocks noGrp="1"/>
          </p:cNvGraphicFramePr>
          <p:nvPr>
            <p:ph idx="1"/>
            <p:extLst>
              <p:ext uri="{D42A27DB-BD31-4B8C-83A1-F6EECF244321}">
                <p14:modId xmlns:p14="http://schemas.microsoft.com/office/powerpoint/2010/main" val="1517838155"/>
              </p:ext>
            </p:extLst>
          </p:nvPr>
        </p:nvGraphicFramePr>
        <p:xfrm>
          <a:off x="838199" y="2333070"/>
          <a:ext cx="10515600" cy="1483360"/>
        </p:xfrm>
        <a:graphic>
          <a:graphicData uri="http://schemas.openxmlformats.org/drawingml/2006/table">
            <a:tbl>
              <a:tblPr firstRow="1" bandRow="1">
                <a:tableStyleId>{9D7B26C5-4107-4FEC-AEDC-1716B250A1EF}</a:tableStyleId>
              </a:tblPr>
              <a:tblGrid>
                <a:gridCol w="2273968">
                  <a:extLst>
                    <a:ext uri="{9D8B030D-6E8A-4147-A177-3AD203B41FA5}">
                      <a16:colId xmlns:a16="http://schemas.microsoft.com/office/drawing/2014/main" val="3629006692"/>
                    </a:ext>
                  </a:extLst>
                </a:gridCol>
                <a:gridCol w="2060408">
                  <a:extLst>
                    <a:ext uri="{9D8B030D-6E8A-4147-A177-3AD203B41FA5}">
                      <a16:colId xmlns:a16="http://schemas.microsoft.com/office/drawing/2014/main" val="3969323220"/>
                    </a:ext>
                  </a:extLst>
                </a:gridCol>
                <a:gridCol w="2060408">
                  <a:extLst>
                    <a:ext uri="{9D8B030D-6E8A-4147-A177-3AD203B41FA5}">
                      <a16:colId xmlns:a16="http://schemas.microsoft.com/office/drawing/2014/main" val="2034764686"/>
                    </a:ext>
                  </a:extLst>
                </a:gridCol>
                <a:gridCol w="2060408">
                  <a:extLst>
                    <a:ext uri="{9D8B030D-6E8A-4147-A177-3AD203B41FA5}">
                      <a16:colId xmlns:a16="http://schemas.microsoft.com/office/drawing/2014/main" val="655451940"/>
                    </a:ext>
                  </a:extLst>
                </a:gridCol>
                <a:gridCol w="2060408">
                  <a:extLst>
                    <a:ext uri="{9D8B030D-6E8A-4147-A177-3AD203B41FA5}">
                      <a16:colId xmlns:a16="http://schemas.microsoft.com/office/drawing/2014/main" val="1577616538"/>
                    </a:ext>
                  </a:extLst>
                </a:gridCol>
              </a:tblGrid>
              <a:tr h="370840">
                <a:tc>
                  <a:txBody>
                    <a:bodyPr/>
                    <a:lstStyle/>
                    <a:p>
                      <a:pPr algn="ctr">
                        <a:lnSpc>
                          <a:spcPts val="1800"/>
                        </a:lnSpc>
                        <a:buNone/>
                      </a:pPr>
                      <a:r>
                        <a:rPr lang="ja-JP" sz="1800" kern="0" dirty="0">
                          <a:solidFill>
                            <a:schemeClr val="tx1">
                              <a:lumMod val="85000"/>
                            </a:schemeClr>
                          </a:solidFill>
                          <a:effectLst/>
                        </a:rPr>
                        <a:t>モデル</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ja-JP" sz="1800" kern="0" dirty="0">
                          <a:solidFill>
                            <a:schemeClr val="tx1">
                              <a:lumMod val="85000"/>
                            </a:schemeClr>
                          </a:solidFill>
                          <a:effectLst/>
                        </a:rPr>
                        <a:t>正解率</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ja-JP" sz="1800" kern="0" dirty="0">
                          <a:solidFill>
                            <a:schemeClr val="tx1">
                              <a:lumMod val="85000"/>
                            </a:schemeClr>
                          </a:solidFill>
                          <a:effectLst/>
                        </a:rPr>
                        <a:t>適合率</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ja-JP" sz="1800" kern="0">
                          <a:solidFill>
                            <a:schemeClr val="tx1">
                              <a:lumMod val="85000"/>
                            </a:schemeClr>
                          </a:solidFill>
                          <a:effectLst/>
                        </a:rPr>
                        <a:t>再現率</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a:solidFill>
                            <a:schemeClr val="tx1">
                              <a:lumMod val="85000"/>
                            </a:schemeClr>
                          </a:solidFill>
                          <a:effectLst/>
                        </a:rPr>
                        <a:t>F</a:t>
                      </a:r>
                      <a:r>
                        <a:rPr lang="ja-JP" sz="1800" kern="0">
                          <a:solidFill>
                            <a:schemeClr val="tx1">
                              <a:lumMod val="85000"/>
                            </a:schemeClr>
                          </a:solidFill>
                          <a:effectLst/>
                        </a:rPr>
                        <a:t>値</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258835873"/>
                  </a:ext>
                </a:extLst>
              </a:tr>
              <a:tr h="370840">
                <a:tc>
                  <a:txBody>
                    <a:bodyPr/>
                    <a:lstStyle/>
                    <a:p>
                      <a:pPr algn="ctr">
                        <a:lnSpc>
                          <a:spcPts val="1800"/>
                        </a:lnSpc>
                        <a:buNone/>
                      </a:pPr>
                      <a:r>
                        <a:rPr lang="en-US" sz="1800" kern="0">
                          <a:solidFill>
                            <a:schemeClr val="tx1">
                              <a:lumMod val="85000"/>
                            </a:schemeClr>
                          </a:solidFill>
                          <a:effectLst/>
                        </a:rPr>
                        <a:t>LightGBM</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rPr>
                        <a:t>0.7189</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0.6685</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a:solidFill>
                            <a:schemeClr val="tx1">
                              <a:lumMod val="85000"/>
                            </a:schemeClr>
                          </a:solidFill>
                          <a:effectLst/>
                        </a:rPr>
                        <a:t>0.3897</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rPr>
                        <a:t>0.4923</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469137718"/>
                  </a:ext>
                </a:extLst>
              </a:tr>
              <a:tr h="370840">
                <a:tc>
                  <a:txBody>
                    <a:bodyPr/>
                    <a:lstStyle/>
                    <a:p>
                      <a:pPr algn="ctr">
                        <a:lnSpc>
                          <a:spcPts val="1800"/>
                        </a:lnSpc>
                        <a:buNone/>
                      </a:pPr>
                      <a:r>
                        <a:rPr lang="ja-JP" altLang="en-US" sz="1800" kern="0" dirty="0">
                          <a:solidFill>
                            <a:schemeClr val="tx1">
                              <a:lumMod val="85000"/>
                            </a:schemeClr>
                          </a:solidFill>
                          <a:effectLst/>
                        </a:rPr>
                        <a:t>ランダムフォレスト</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a:solidFill>
                            <a:schemeClr val="tx1">
                              <a:lumMod val="85000"/>
                            </a:schemeClr>
                          </a:solidFill>
                          <a:effectLst/>
                        </a:rPr>
                        <a:t>0.664</a:t>
                      </a:r>
                      <a:endParaRPr lang="ja-JP" sz="1800" kern="10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rPr>
                        <a:t>0.8510</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0.0476</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0.0902</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2174698100"/>
                  </a:ext>
                </a:extLst>
              </a:tr>
              <a:tr h="370840">
                <a:tc>
                  <a:txBody>
                    <a:bodyPr/>
                    <a:lstStyle/>
                    <a:p>
                      <a:pPr algn="ctr">
                        <a:lnSpc>
                          <a:spcPts val="1800"/>
                        </a:lnSpc>
                        <a:buNone/>
                      </a:pPr>
                      <a:r>
                        <a:rPr lang="ja-JP" altLang="en-US" sz="1800" kern="0" dirty="0">
                          <a:solidFill>
                            <a:schemeClr val="tx1">
                              <a:lumMod val="85000"/>
                            </a:schemeClr>
                          </a:solidFill>
                          <a:effectLst/>
                        </a:rPr>
                        <a:t>ロジスティック回帰</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0.7121</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0.6441</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b="1" kern="0" dirty="0">
                          <a:solidFill>
                            <a:schemeClr val="tx1">
                              <a:lumMod val="85000"/>
                            </a:schemeClr>
                          </a:solidFill>
                          <a:effectLst/>
                        </a:rPr>
                        <a:t>0.3952</a:t>
                      </a:r>
                      <a:endParaRPr lang="ja-JP" sz="1800" b="1"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tc>
                  <a:txBody>
                    <a:bodyPr/>
                    <a:lstStyle/>
                    <a:p>
                      <a:pPr algn="ctr">
                        <a:lnSpc>
                          <a:spcPts val="1800"/>
                        </a:lnSpc>
                        <a:buNone/>
                      </a:pPr>
                      <a:r>
                        <a:rPr lang="en-US" sz="1800" kern="0" dirty="0">
                          <a:solidFill>
                            <a:schemeClr val="tx1">
                              <a:lumMod val="85000"/>
                            </a:schemeClr>
                          </a:solidFill>
                          <a:effectLst/>
                        </a:rPr>
                        <a:t>0.4898</a:t>
                      </a:r>
                      <a:endParaRPr lang="ja-JP" sz="1800" kern="100" dirty="0">
                        <a:solidFill>
                          <a:schemeClr val="tx1">
                            <a:lumMod val="85000"/>
                          </a:schemeClr>
                        </a:solidFill>
                        <a:effectLst/>
                        <a:latin typeface="+mn-lt"/>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520017444"/>
                  </a:ext>
                </a:extLst>
              </a:tr>
            </a:tbl>
          </a:graphicData>
        </a:graphic>
      </p:graphicFrame>
      <p:sp>
        <p:nvSpPr>
          <p:cNvPr id="7" name="テキスト ボックス 6">
            <a:extLst>
              <a:ext uri="{FF2B5EF4-FFF2-40B4-BE49-F238E27FC236}">
                <a16:creationId xmlns:a16="http://schemas.microsoft.com/office/drawing/2014/main" id="{2B92867F-B8B9-CED8-8C47-939874969778}"/>
              </a:ext>
            </a:extLst>
          </p:cNvPr>
          <p:cNvSpPr txBox="1"/>
          <p:nvPr/>
        </p:nvSpPr>
        <p:spPr>
          <a:xfrm>
            <a:off x="838199" y="4124106"/>
            <a:ext cx="10515600" cy="1815882"/>
          </a:xfrm>
          <a:prstGeom prst="rect">
            <a:avLst/>
          </a:prstGeom>
          <a:noFill/>
        </p:spPr>
        <p:txBody>
          <a:bodyPr wrap="square" rtlCol="0">
            <a:spAutoFit/>
          </a:bodyPr>
          <a:lstStyle/>
          <a:p>
            <a:pPr marL="457200" indent="-457200">
              <a:buFont typeface="Arial" panose="020B0604020202020204" pitchFamily="34" charset="0"/>
              <a:buChar char="•"/>
            </a:pPr>
            <a:r>
              <a:rPr lang="ja-JP" altLang="en-US" sz="2800" dirty="0">
                <a:solidFill>
                  <a:schemeClr val="tx1">
                    <a:lumMod val="85000"/>
                  </a:schemeClr>
                </a:solidFill>
              </a:rPr>
              <a:t>ランダムフォレストの再現率が著しく低く実際の正例ラベルの多くを見逃している</a:t>
            </a:r>
            <a:endParaRPr lang="en-US" altLang="ja-JP" sz="2800" dirty="0">
              <a:solidFill>
                <a:schemeClr val="tx1">
                  <a:lumMod val="85000"/>
                </a:schemeClr>
              </a:solidFill>
            </a:endParaRPr>
          </a:p>
          <a:p>
            <a:pPr marL="457200" indent="-457200">
              <a:buFont typeface="Arial" panose="020B0604020202020204" pitchFamily="34" charset="0"/>
              <a:buChar char="•"/>
            </a:pPr>
            <a:endParaRPr lang="en-US" altLang="ja-JP" sz="2800" dirty="0">
              <a:solidFill>
                <a:schemeClr val="tx1">
                  <a:lumMod val="85000"/>
                </a:schemeClr>
              </a:solidFill>
            </a:endParaRPr>
          </a:p>
          <a:p>
            <a:pPr marL="457200" indent="-457200">
              <a:buFont typeface="Arial" panose="020B0604020202020204" pitchFamily="34" charset="0"/>
              <a:buChar char="•"/>
            </a:pPr>
            <a:r>
              <a:rPr lang="ja-JP" altLang="en-US" sz="2800" dirty="0">
                <a:solidFill>
                  <a:schemeClr val="tx1">
                    <a:lumMod val="85000"/>
                  </a:schemeClr>
                </a:solidFill>
              </a:rPr>
              <a:t>全モデルを通して再現率が低く、モデル性能が低い</a:t>
            </a:r>
          </a:p>
        </p:txBody>
      </p:sp>
      <p:sp>
        <p:nvSpPr>
          <p:cNvPr id="3" name="テキスト ボックス 2">
            <a:extLst>
              <a:ext uri="{FF2B5EF4-FFF2-40B4-BE49-F238E27FC236}">
                <a16:creationId xmlns:a16="http://schemas.microsoft.com/office/drawing/2014/main" id="{A669AF0C-C2E5-D85E-AD77-98C7BD5C4DC7}"/>
              </a:ext>
            </a:extLst>
          </p:cNvPr>
          <p:cNvSpPr txBox="1"/>
          <p:nvPr/>
        </p:nvSpPr>
        <p:spPr>
          <a:xfrm>
            <a:off x="551695" y="1963738"/>
            <a:ext cx="11088607" cy="369332"/>
          </a:xfrm>
          <a:prstGeom prst="rect">
            <a:avLst/>
          </a:prstGeom>
          <a:noFill/>
        </p:spPr>
        <p:txBody>
          <a:bodyPr wrap="square" rtlCol="0">
            <a:spAutoFit/>
          </a:bodyPr>
          <a:lstStyle/>
          <a:p>
            <a:pPr algn="ctr"/>
            <a:r>
              <a:rPr lang="ja-JP" altLang="en-US" dirty="0">
                <a:solidFill>
                  <a:schemeClr val="tx1">
                    <a:lumMod val="85000"/>
                  </a:schemeClr>
                </a:solidFill>
              </a:rPr>
              <a:t>表</a:t>
            </a:r>
            <a:r>
              <a:rPr lang="en-US" altLang="ja-JP" dirty="0">
                <a:solidFill>
                  <a:schemeClr val="tx1">
                    <a:lumMod val="85000"/>
                  </a:schemeClr>
                </a:solidFill>
              </a:rPr>
              <a:t>5. </a:t>
            </a:r>
            <a:r>
              <a:rPr lang="ja-JP" altLang="en-US" dirty="0">
                <a:solidFill>
                  <a:schemeClr val="tx1">
                    <a:lumMod val="85000"/>
                  </a:schemeClr>
                </a:solidFill>
              </a:rPr>
              <a:t>各モデルの性能平均</a:t>
            </a:r>
            <a:endParaRPr kumimoji="1" lang="ja-JP" altLang="en-US" dirty="0">
              <a:solidFill>
                <a:schemeClr val="tx1">
                  <a:lumMod val="85000"/>
                </a:schemeClr>
              </a:solidFill>
            </a:endParaRPr>
          </a:p>
        </p:txBody>
      </p:sp>
      <p:sp>
        <p:nvSpPr>
          <p:cNvPr id="5" name="スライド番号プレースホルダー 4">
            <a:extLst>
              <a:ext uri="{FF2B5EF4-FFF2-40B4-BE49-F238E27FC236}">
                <a16:creationId xmlns:a16="http://schemas.microsoft.com/office/drawing/2014/main" id="{CDD33485-CF2C-19A0-6A0B-7D8E15A53BD1}"/>
              </a:ext>
            </a:extLst>
          </p:cNvPr>
          <p:cNvSpPr>
            <a:spLocks noGrp="1"/>
          </p:cNvSpPr>
          <p:nvPr>
            <p:ph type="sldNum" sz="quarter" idx="12"/>
          </p:nvPr>
        </p:nvSpPr>
        <p:spPr/>
        <p:txBody>
          <a:bodyPr/>
          <a:lstStyle/>
          <a:p>
            <a:fld id="{FD85A3AF-639B-47A7-B37E-FEBC6954B310}" type="slidenum">
              <a:rPr kumimoji="1" lang="ja-JP" altLang="en-US" smtClean="0"/>
              <a:t>11</a:t>
            </a:fld>
            <a:endParaRPr kumimoji="1" lang="ja-JP" altLang="en-US"/>
          </a:p>
        </p:txBody>
      </p:sp>
    </p:spTree>
    <p:extLst>
      <p:ext uri="{BB962C8B-B14F-4D97-AF65-F5344CB8AC3E}">
        <p14:creationId xmlns:p14="http://schemas.microsoft.com/office/powerpoint/2010/main" val="3304127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A3694F-F51B-9DC8-3E05-D392AAF6E0E7}"/>
              </a:ext>
            </a:extLst>
          </p:cNvPr>
          <p:cNvSpPr>
            <a:spLocks noGrp="1"/>
          </p:cNvSpPr>
          <p:nvPr>
            <p:ph type="title"/>
          </p:nvPr>
        </p:nvSpPr>
        <p:spPr/>
        <p:txBody>
          <a:bodyPr/>
          <a:lstStyle/>
          <a:p>
            <a:r>
              <a:rPr kumimoji="1" lang="ja-JP" altLang="en-US" dirty="0"/>
              <a:t>結論</a:t>
            </a:r>
          </a:p>
        </p:txBody>
      </p:sp>
      <p:sp>
        <p:nvSpPr>
          <p:cNvPr id="3" name="コンテンツ プレースホルダー 2">
            <a:extLst>
              <a:ext uri="{FF2B5EF4-FFF2-40B4-BE49-F238E27FC236}">
                <a16:creationId xmlns:a16="http://schemas.microsoft.com/office/drawing/2014/main" id="{2C0007C8-1F07-0810-E18C-61D4EB7C4989}"/>
              </a:ext>
            </a:extLst>
          </p:cNvPr>
          <p:cNvSpPr>
            <a:spLocks noGrp="1"/>
          </p:cNvSpPr>
          <p:nvPr>
            <p:ph idx="1"/>
          </p:nvPr>
        </p:nvSpPr>
        <p:spPr>
          <a:xfrm>
            <a:off x="912536" y="2133600"/>
            <a:ext cx="10366928" cy="4100290"/>
          </a:xfrm>
        </p:spPr>
        <p:txBody>
          <a:bodyPr>
            <a:normAutofit/>
          </a:bodyPr>
          <a:lstStyle/>
          <a:p>
            <a:r>
              <a:rPr kumimoji="1" lang="ja-JP" altLang="en-US" sz="2800" dirty="0">
                <a:solidFill>
                  <a:schemeClr val="tx1">
                    <a:lumMod val="85000"/>
                  </a:schemeClr>
                </a:solidFill>
              </a:rPr>
              <a:t>量的メタデータは、連載中断を予測する</a:t>
            </a:r>
            <a:r>
              <a:rPr lang="ja-JP" altLang="en-US" sz="2800" dirty="0">
                <a:solidFill>
                  <a:schemeClr val="tx1">
                    <a:lumMod val="85000"/>
                  </a:schemeClr>
                </a:solidFill>
              </a:rPr>
              <a:t>上</a:t>
            </a:r>
            <a:r>
              <a:rPr kumimoji="1" lang="ja-JP" altLang="en-US" sz="2800" dirty="0">
                <a:solidFill>
                  <a:schemeClr val="tx1">
                    <a:lumMod val="85000"/>
                  </a:schemeClr>
                </a:solidFill>
              </a:rPr>
              <a:t>で有効な情報を</a:t>
            </a:r>
            <a:br>
              <a:rPr kumimoji="1" lang="en-US" altLang="ja-JP" sz="2800" dirty="0">
                <a:solidFill>
                  <a:schemeClr val="tx1">
                    <a:lumMod val="85000"/>
                  </a:schemeClr>
                </a:solidFill>
              </a:rPr>
            </a:br>
            <a:r>
              <a:rPr kumimoji="1" lang="ja-JP" altLang="en-US" sz="2800" dirty="0">
                <a:solidFill>
                  <a:schemeClr val="tx1">
                    <a:lumMod val="85000"/>
                  </a:schemeClr>
                </a:solidFill>
              </a:rPr>
              <a:t>含んでいた</a:t>
            </a:r>
            <a:endParaRPr kumimoji="1" lang="en-US" altLang="ja-JP" sz="2800" dirty="0">
              <a:solidFill>
                <a:schemeClr val="tx1">
                  <a:lumMod val="85000"/>
                </a:schemeClr>
              </a:solidFill>
            </a:endParaRPr>
          </a:p>
          <a:p>
            <a:endParaRPr lang="en-US" altLang="ja-JP" sz="2800" dirty="0">
              <a:solidFill>
                <a:schemeClr val="tx1">
                  <a:lumMod val="85000"/>
                </a:schemeClr>
              </a:solidFill>
            </a:endParaRPr>
          </a:p>
          <a:p>
            <a:r>
              <a:rPr lang="ja-JP" altLang="en-US" sz="2800" dirty="0">
                <a:solidFill>
                  <a:schemeClr val="tx1">
                    <a:lumMod val="85000"/>
                  </a:schemeClr>
                </a:solidFill>
              </a:rPr>
              <a:t>特に読者の反応や作者の執筆量が影響を与えやすい</a:t>
            </a:r>
            <a:endParaRPr lang="en-US" altLang="ja-JP" sz="2800" dirty="0">
              <a:solidFill>
                <a:schemeClr val="tx1">
                  <a:lumMod val="85000"/>
                </a:schemeClr>
              </a:solidFill>
            </a:endParaRPr>
          </a:p>
          <a:p>
            <a:endParaRPr lang="en-US" altLang="ja-JP" sz="2800" dirty="0">
              <a:solidFill>
                <a:schemeClr val="tx1">
                  <a:lumMod val="85000"/>
                </a:schemeClr>
              </a:solidFill>
            </a:endParaRPr>
          </a:p>
          <a:p>
            <a:r>
              <a:rPr lang="ja-JP" altLang="en-US" sz="2800" dirty="0">
                <a:solidFill>
                  <a:schemeClr val="tx1">
                    <a:lumMod val="85000"/>
                  </a:schemeClr>
                </a:solidFill>
              </a:rPr>
              <a:t>あらすじ情報単体では予測性能は控えめ</a:t>
            </a:r>
            <a:endParaRPr kumimoji="1" lang="ja-JP" altLang="en-US" sz="2800" dirty="0">
              <a:solidFill>
                <a:schemeClr val="tx1">
                  <a:lumMod val="85000"/>
                </a:schemeClr>
              </a:solidFill>
            </a:endParaRPr>
          </a:p>
        </p:txBody>
      </p:sp>
      <p:sp>
        <p:nvSpPr>
          <p:cNvPr id="4" name="スライド番号プレースホルダー 3">
            <a:extLst>
              <a:ext uri="{FF2B5EF4-FFF2-40B4-BE49-F238E27FC236}">
                <a16:creationId xmlns:a16="http://schemas.microsoft.com/office/drawing/2014/main" id="{CAF8608F-13AF-3FA3-20C2-37ED89B4ED0B}"/>
              </a:ext>
            </a:extLst>
          </p:cNvPr>
          <p:cNvSpPr>
            <a:spLocks noGrp="1"/>
          </p:cNvSpPr>
          <p:nvPr>
            <p:ph type="sldNum" sz="quarter" idx="12"/>
          </p:nvPr>
        </p:nvSpPr>
        <p:spPr/>
        <p:txBody>
          <a:bodyPr/>
          <a:lstStyle/>
          <a:p>
            <a:fld id="{FD85A3AF-639B-47A7-B37E-FEBC6954B310}" type="slidenum">
              <a:rPr kumimoji="1" lang="ja-JP" altLang="en-US" smtClean="0"/>
              <a:t>12</a:t>
            </a:fld>
            <a:endParaRPr kumimoji="1" lang="ja-JP" altLang="en-US"/>
          </a:p>
        </p:txBody>
      </p:sp>
    </p:spTree>
    <p:extLst>
      <p:ext uri="{BB962C8B-B14F-4D97-AF65-F5344CB8AC3E}">
        <p14:creationId xmlns:p14="http://schemas.microsoft.com/office/powerpoint/2010/main" val="1332309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9AE57E-80FF-644A-210E-49BF2B7F9CC0}"/>
              </a:ext>
            </a:extLst>
          </p:cNvPr>
          <p:cNvSpPr>
            <a:spLocks noGrp="1"/>
          </p:cNvSpPr>
          <p:nvPr>
            <p:ph type="title"/>
          </p:nvPr>
        </p:nvSpPr>
        <p:spPr/>
        <p:txBody>
          <a:bodyPr/>
          <a:lstStyle/>
          <a:p>
            <a:r>
              <a:rPr kumimoji="1" lang="ja-JP" altLang="en-US" dirty="0"/>
              <a:t>課題と</a:t>
            </a:r>
            <a:r>
              <a:rPr lang="ja-JP" altLang="en-US" dirty="0"/>
              <a:t>今後の</a:t>
            </a:r>
            <a:r>
              <a:rPr kumimoji="1" lang="ja-JP" altLang="en-US" dirty="0"/>
              <a:t>展望</a:t>
            </a:r>
          </a:p>
        </p:txBody>
      </p:sp>
      <p:sp>
        <p:nvSpPr>
          <p:cNvPr id="3" name="コンテンツ プレースホルダー 2">
            <a:extLst>
              <a:ext uri="{FF2B5EF4-FFF2-40B4-BE49-F238E27FC236}">
                <a16:creationId xmlns:a16="http://schemas.microsoft.com/office/drawing/2014/main" id="{E2520406-555F-FE91-16A8-A95800CCF8D0}"/>
              </a:ext>
            </a:extLst>
          </p:cNvPr>
          <p:cNvSpPr>
            <a:spLocks noGrp="1"/>
          </p:cNvSpPr>
          <p:nvPr>
            <p:ph idx="1"/>
          </p:nvPr>
        </p:nvSpPr>
        <p:spPr>
          <a:xfrm>
            <a:off x="1509823" y="2176130"/>
            <a:ext cx="9994790" cy="4057760"/>
          </a:xfrm>
        </p:spPr>
        <p:txBody>
          <a:bodyPr>
            <a:normAutofit lnSpcReduction="10000"/>
          </a:bodyPr>
          <a:lstStyle/>
          <a:p>
            <a:r>
              <a:rPr kumimoji="1" lang="ja-JP" altLang="en-US" sz="2400" dirty="0">
                <a:solidFill>
                  <a:schemeClr val="tx1">
                    <a:lumMod val="85000"/>
                  </a:schemeClr>
                </a:solidFill>
              </a:rPr>
              <a:t>分析</a:t>
            </a:r>
            <a:r>
              <a:rPr kumimoji="1" lang="en-US" altLang="ja-JP" sz="2400" dirty="0">
                <a:solidFill>
                  <a:schemeClr val="tx1">
                    <a:lumMod val="85000"/>
                  </a:schemeClr>
                </a:solidFill>
              </a:rPr>
              <a:t>1,2</a:t>
            </a:r>
            <a:r>
              <a:rPr kumimoji="1" lang="ja-JP" altLang="en-US" sz="2400" dirty="0">
                <a:solidFill>
                  <a:schemeClr val="tx1">
                    <a:lumMod val="85000"/>
                  </a:schemeClr>
                </a:solidFill>
              </a:rPr>
              <a:t>を通して適合率に比べて再現率が低い</a:t>
            </a:r>
            <a:endParaRPr kumimoji="1" lang="en-US" altLang="ja-JP" sz="2400" dirty="0">
              <a:solidFill>
                <a:schemeClr val="tx1">
                  <a:lumMod val="85000"/>
                </a:schemeClr>
              </a:solidFill>
            </a:endParaRPr>
          </a:p>
          <a:p>
            <a:pPr lvl="1"/>
            <a:r>
              <a:rPr kumimoji="1" lang="ja-JP" altLang="en-US" sz="2200" dirty="0">
                <a:solidFill>
                  <a:schemeClr val="tx1">
                    <a:lumMod val="85000"/>
                  </a:schemeClr>
                </a:solidFill>
              </a:rPr>
              <a:t>不均衡データへの対応</a:t>
            </a:r>
            <a:endParaRPr lang="en-US" altLang="ja-JP" sz="2000" dirty="0">
              <a:solidFill>
                <a:schemeClr val="tx1">
                  <a:lumMod val="85000"/>
                </a:schemeClr>
              </a:solidFill>
            </a:endParaRPr>
          </a:p>
          <a:p>
            <a:endParaRPr lang="en-US" altLang="ja-JP" sz="2400" dirty="0">
              <a:solidFill>
                <a:schemeClr val="tx1">
                  <a:lumMod val="85000"/>
                </a:schemeClr>
              </a:solidFill>
            </a:endParaRPr>
          </a:p>
          <a:p>
            <a:r>
              <a:rPr lang="ja-JP" altLang="en-US" sz="2400" dirty="0">
                <a:solidFill>
                  <a:schemeClr val="tx1">
                    <a:lumMod val="85000"/>
                  </a:schemeClr>
                </a:solidFill>
              </a:rPr>
              <a:t>分析</a:t>
            </a:r>
            <a:r>
              <a:rPr lang="en-US" altLang="ja-JP" sz="2400" dirty="0">
                <a:solidFill>
                  <a:schemeClr val="tx1">
                    <a:lumMod val="85000"/>
                  </a:schemeClr>
                </a:solidFill>
              </a:rPr>
              <a:t>2</a:t>
            </a:r>
            <a:r>
              <a:rPr lang="ja-JP" altLang="en-US" sz="2400" dirty="0">
                <a:solidFill>
                  <a:schemeClr val="tx1">
                    <a:lumMod val="85000"/>
                  </a:schemeClr>
                </a:solidFill>
              </a:rPr>
              <a:t>の再現率が特に低い</a:t>
            </a:r>
            <a:endParaRPr lang="en-US" altLang="ja-JP" sz="2400" dirty="0">
              <a:solidFill>
                <a:schemeClr val="tx1">
                  <a:lumMod val="85000"/>
                </a:schemeClr>
              </a:solidFill>
            </a:endParaRPr>
          </a:p>
          <a:p>
            <a:pPr lvl="1"/>
            <a:r>
              <a:rPr lang="en-US" altLang="ja-JP" sz="2000" dirty="0">
                <a:solidFill>
                  <a:schemeClr val="tx1">
                    <a:lumMod val="85000"/>
                  </a:schemeClr>
                </a:solidFill>
              </a:rPr>
              <a:t>BERT</a:t>
            </a:r>
            <a:r>
              <a:rPr lang="ja-JP" altLang="en-US" sz="2000" dirty="0">
                <a:solidFill>
                  <a:schemeClr val="tx1">
                    <a:lumMod val="85000"/>
                  </a:schemeClr>
                </a:solidFill>
              </a:rPr>
              <a:t>など言語モデルを用いて高度化する</a:t>
            </a:r>
            <a:endParaRPr lang="en-US" altLang="ja-JP" sz="2000" dirty="0">
              <a:solidFill>
                <a:schemeClr val="tx1">
                  <a:lumMod val="85000"/>
                </a:schemeClr>
              </a:solidFill>
            </a:endParaRPr>
          </a:p>
          <a:p>
            <a:pPr lvl="1"/>
            <a:r>
              <a:rPr lang="ja-JP" altLang="en-US" sz="2000" dirty="0">
                <a:solidFill>
                  <a:schemeClr val="tx1">
                    <a:lumMod val="85000"/>
                  </a:schemeClr>
                </a:solidFill>
              </a:rPr>
              <a:t>メタデータのキーワードを学習対象に含める</a:t>
            </a:r>
            <a:endParaRPr lang="en-US" altLang="ja-JP" sz="2000" dirty="0">
              <a:solidFill>
                <a:schemeClr val="tx1">
                  <a:lumMod val="85000"/>
                </a:schemeClr>
              </a:solidFill>
            </a:endParaRPr>
          </a:p>
          <a:p>
            <a:endParaRPr lang="en-US" altLang="ja-JP" sz="2000" dirty="0">
              <a:solidFill>
                <a:schemeClr val="tx1">
                  <a:lumMod val="85000"/>
                </a:schemeClr>
              </a:solidFill>
            </a:endParaRPr>
          </a:p>
          <a:p>
            <a:r>
              <a:rPr lang="ja-JP" altLang="en-US" sz="2400" dirty="0">
                <a:solidFill>
                  <a:schemeClr val="tx1">
                    <a:lumMod val="85000"/>
                  </a:schemeClr>
                </a:solidFill>
              </a:rPr>
              <a:t>使用するメタデータを増やす</a:t>
            </a:r>
            <a:endParaRPr lang="en-US" altLang="ja-JP" sz="2400" dirty="0">
              <a:solidFill>
                <a:schemeClr val="tx1">
                  <a:lumMod val="85000"/>
                </a:schemeClr>
              </a:solidFill>
            </a:endParaRPr>
          </a:p>
          <a:p>
            <a:r>
              <a:rPr lang="ja-JP" altLang="en-US" sz="2400" dirty="0">
                <a:solidFill>
                  <a:schemeClr val="tx1">
                    <a:lumMod val="85000"/>
                  </a:schemeClr>
                </a:solidFill>
              </a:rPr>
              <a:t>分析</a:t>
            </a:r>
            <a:r>
              <a:rPr lang="en-US" altLang="ja-JP" sz="2400" dirty="0">
                <a:solidFill>
                  <a:schemeClr val="tx1">
                    <a:lumMod val="85000"/>
                  </a:schemeClr>
                </a:solidFill>
              </a:rPr>
              <a:t>1,2</a:t>
            </a:r>
            <a:r>
              <a:rPr lang="ja-JP" altLang="en-US" sz="2400" dirty="0">
                <a:solidFill>
                  <a:schemeClr val="tx1">
                    <a:lumMod val="85000"/>
                  </a:schemeClr>
                </a:solidFill>
              </a:rPr>
              <a:t>を合わせた一つの予測モデルの構築をする</a:t>
            </a:r>
            <a:endParaRPr lang="en-US" altLang="ja-JP" sz="2400" dirty="0">
              <a:solidFill>
                <a:schemeClr val="tx1">
                  <a:lumMod val="85000"/>
                </a:schemeClr>
              </a:solidFill>
            </a:endParaRPr>
          </a:p>
          <a:p>
            <a:endParaRPr lang="en-US" altLang="ja-JP" sz="2000" dirty="0">
              <a:solidFill>
                <a:schemeClr val="tx1">
                  <a:lumMod val="85000"/>
                </a:schemeClr>
              </a:solidFill>
            </a:endParaRPr>
          </a:p>
        </p:txBody>
      </p:sp>
      <p:sp>
        <p:nvSpPr>
          <p:cNvPr id="4" name="スライド番号プレースホルダー 3">
            <a:extLst>
              <a:ext uri="{FF2B5EF4-FFF2-40B4-BE49-F238E27FC236}">
                <a16:creationId xmlns:a16="http://schemas.microsoft.com/office/drawing/2014/main" id="{C6D55B33-BF0F-D9DA-2A29-C190470042E1}"/>
              </a:ext>
            </a:extLst>
          </p:cNvPr>
          <p:cNvSpPr>
            <a:spLocks noGrp="1"/>
          </p:cNvSpPr>
          <p:nvPr>
            <p:ph type="sldNum" sz="quarter" idx="12"/>
          </p:nvPr>
        </p:nvSpPr>
        <p:spPr/>
        <p:txBody>
          <a:bodyPr/>
          <a:lstStyle/>
          <a:p>
            <a:fld id="{FD85A3AF-639B-47A7-B37E-FEBC6954B310}" type="slidenum">
              <a:rPr kumimoji="1" lang="ja-JP" altLang="en-US" smtClean="0"/>
              <a:t>13</a:t>
            </a:fld>
            <a:endParaRPr kumimoji="1" lang="ja-JP" altLang="en-US"/>
          </a:p>
        </p:txBody>
      </p:sp>
    </p:spTree>
    <p:extLst>
      <p:ext uri="{BB962C8B-B14F-4D97-AF65-F5344CB8AC3E}">
        <p14:creationId xmlns:p14="http://schemas.microsoft.com/office/powerpoint/2010/main" val="3969658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11E70D-823C-BD8C-34A6-71F0830CB83A}"/>
              </a:ext>
            </a:extLst>
          </p:cNvPr>
          <p:cNvSpPr>
            <a:spLocks noGrp="1"/>
          </p:cNvSpPr>
          <p:nvPr>
            <p:ph type="title"/>
          </p:nvPr>
        </p:nvSpPr>
        <p:spPr/>
        <p:txBody>
          <a:bodyPr/>
          <a:lstStyle/>
          <a:p>
            <a:r>
              <a:rPr kumimoji="1" lang="ja-JP" altLang="en-US" dirty="0"/>
              <a:t>参考文献</a:t>
            </a:r>
          </a:p>
        </p:txBody>
      </p:sp>
      <p:sp>
        <p:nvSpPr>
          <p:cNvPr id="3" name="コンテンツ プレースホルダー 2">
            <a:extLst>
              <a:ext uri="{FF2B5EF4-FFF2-40B4-BE49-F238E27FC236}">
                <a16:creationId xmlns:a16="http://schemas.microsoft.com/office/drawing/2014/main" id="{BDAE3A6C-76A7-94B0-FADF-90D1F909D5D5}"/>
              </a:ext>
            </a:extLst>
          </p:cNvPr>
          <p:cNvSpPr>
            <a:spLocks noGrp="1"/>
          </p:cNvSpPr>
          <p:nvPr>
            <p:ph idx="1"/>
          </p:nvPr>
        </p:nvSpPr>
        <p:spPr>
          <a:xfrm>
            <a:off x="765544" y="2133600"/>
            <a:ext cx="10739068" cy="3777622"/>
          </a:xfrm>
        </p:spPr>
        <p:txBody>
          <a:bodyPr>
            <a:normAutofit/>
          </a:bodyPr>
          <a:lstStyle/>
          <a:p>
            <a:pPr marL="0" lvl="0" indent="0">
              <a:buNone/>
            </a:pPr>
            <a:r>
              <a:rPr kumimoji="1" lang="en-US" altLang="ja-JP" sz="2400" dirty="0">
                <a:solidFill>
                  <a:schemeClr val="tx1">
                    <a:lumMod val="85000"/>
                  </a:schemeClr>
                </a:solidFill>
              </a:rPr>
              <a:t>[1] </a:t>
            </a:r>
            <a:r>
              <a:rPr lang="ja-JP" altLang="ja-JP" sz="2400" dirty="0">
                <a:solidFill>
                  <a:schemeClr val="tx1">
                    <a:lumMod val="85000"/>
                  </a:schemeClr>
                </a:solidFill>
              </a:rPr>
              <a:t>本田優也</a:t>
            </a:r>
            <a:r>
              <a:rPr lang="en-US" altLang="ja-JP" sz="2400" dirty="0">
                <a:solidFill>
                  <a:schemeClr val="tx1">
                    <a:lumMod val="85000"/>
                  </a:schemeClr>
                </a:solidFill>
              </a:rPr>
              <a:t>, </a:t>
            </a:r>
            <a:r>
              <a:rPr lang="ja-JP" altLang="ja-JP" sz="2400" dirty="0">
                <a:solidFill>
                  <a:schemeClr val="tx1">
                    <a:lumMod val="85000"/>
                  </a:schemeClr>
                </a:solidFill>
              </a:rPr>
              <a:t>伊東栄典</a:t>
            </a:r>
            <a:r>
              <a:rPr lang="en-US" altLang="ja-JP" sz="2400" dirty="0">
                <a:solidFill>
                  <a:schemeClr val="tx1">
                    <a:lumMod val="85000"/>
                  </a:schemeClr>
                </a:solidFill>
              </a:rPr>
              <a:t>. </a:t>
            </a:r>
            <a:r>
              <a:rPr lang="ja-JP" altLang="ja-JP" sz="2400" dirty="0">
                <a:solidFill>
                  <a:schemeClr val="tx1">
                    <a:lumMod val="85000"/>
                  </a:schemeClr>
                </a:solidFill>
              </a:rPr>
              <a:t>利用者投稿型小説サイトにおけるキーワードの多様性動向分析</a:t>
            </a:r>
            <a:r>
              <a:rPr lang="en-US" altLang="ja-JP" sz="2400" dirty="0">
                <a:solidFill>
                  <a:schemeClr val="tx1">
                    <a:lumMod val="85000"/>
                  </a:schemeClr>
                </a:solidFill>
              </a:rPr>
              <a:t>. </a:t>
            </a:r>
            <a:r>
              <a:rPr lang="ja-JP" altLang="ja-JP" sz="2400" dirty="0">
                <a:solidFill>
                  <a:schemeClr val="tx1">
                    <a:lumMod val="85000"/>
                  </a:schemeClr>
                </a:solidFill>
              </a:rPr>
              <a:t>情報処理学会研究報告</a:t>
            </a:r>
            <a:r>
              <a:rPr lang="en-US" altLang="ja-JP" sz="2400" dirty="0">
                <a:solidFill>
                  <a:schemeClr val="tx1">
                    <a:lumMod val="85000"/>
                  </a:schemeClr>
                </a:solidFill>
              </a:rPr>
              <a:t>, 2017-03-01.</a:t>
            </a:r>
            <a:endParaRPr lang="ja-JP" altLang="ja-JP" sz="2400" dirty="0">
              <a:solidFill>
                <a:schemeClr val="tx1">
                  <a:lumMod val="85000"/>
                </a:schemeClr>
              </a:solidFill>
            </a:endParaRPr>
          </a:p>
          <a:p>
            <a:pPr marL="0" indent="0">
              <a:buNone/>
            </a:pPr>
            <a:r>
              <a:rPr kumimoji="1" lang="en-US" altLang="ja-JP" sz="2400" dirty="0">
                <a:solidFill>
                  <a:schemeClr val="tx1">
                    <a:lumMod val="85000"/>
                  </a:schemeClr>
                </a:solidFill>
              </a:rPr>
              <a:t>[2] </a:t>
            </a:r>
            <a:r>
              <a:rPr lang="ja-JP" altLang="ja-JP" sz="2400" dirty="0">
                <a:solidFill>
                  <a:schemeClr val="tx1">
                    <a:lumMod val="85000"/>
                  </a:schemeClr>
                </a:solidFill>
              </a:rPr>
              <a:t>堺雄之介</a:t>
            </a:r>
            <a:r>
              <a:rPr lang="en-US" altLang="ja-JP" sz="2400" dirty="0">
                <a:solidFill>
                  <a:schemeClr val="tx1">
                    <a:lumMod val="85000"/>
                  </a:schemeClr>
                </a:solidFill>
              </a:rPr>
              <a:t>, </a:t>
            </a:r>
            <a:r>
              <a:rPr lang="ja-JP" altLang="ja-JP" sz="2400" dirty="0">
                <a:solidFill>
                  <a:schemeClr val="tx1">
                    <a:lumMod val="85000"/>
                  </a:schemeClr>
                </a:solidFill>
              </a:rPr>
              <a:t>伊東栄典</a:t>
            </a:r>
            <a:r>
              <a:rPr lang="en-US" altLang="ja-JP" sz="2400" dirty="0">
                <a:solidFill>
                  <a:schemeClr val="tx1">
                    <a:lumMod val="85000"/>
                  </a:schemeClr>
                </a:solidFill>
              </a:rPr>
              <a:t>. </a:t>
            </a:r>
            <a:r>
              <a:rPr lang="ja-JP" altLang="ja-JP" sz="2400" dirty="0">
                <a:solidFill>
                  <a:schemeClr val="tx1">
                    <a:lumMod val="85000"/>
                  </a:schemeClr>
                </a:solidFill>
              </a:rPr>
              <a:t>オンライン小説の流行語抽出</a:t>
            </a:r>
            <a:r>
              <a:rPr lang="en-US" altLang="ja-JP" sz="2400" dirty="0">
                <a:solidFill>
                  <a:schemeClr val="tx1">
                    <a:lumMod val="85000"/>
                  </a:schemeClr>
                </a:solidFill>
              </a:rPr>
              <a:t>. </a:t>
            </a:r>
            <a:r>
              <a:rPr lang="ja-JP" altLang="ja-JP" sz="2400" dirty="0">
                <a:solidFill>
                  <a:schemeClr val="tx1">
                    <a:lumMod val="85000"/>
                  </a:schemeClr>
                </a:solidFill>
              </a:rPr>
              <a:t>情報処理学会全国大会講演論文集</a:t>
            </a:r>
            <a:r>
              <a:rPr lang="en-US" altLang="ja-JP" sz="2400" dirty="0">
                <a:solidFill>
                  <a:schemeClr val="tx1">
                    <a:lumMod val="85000"/>
                  </a:schemeClr>
                </a:solidFill>
              </a:rPr>
              <a:t>, 2020-03-06.</a:t>
            </a:r>
            <a:endParaRPr kumimoji="1" lang="ja-JP" altLang="en-US" sz="2400" dirty="0">
              <a:solidFill>
                <a:schemeClr val="tx1">
                  <a:lumMod val="85000"/>
                </a:schemeClr>
              </a:solidFill>
            </a:endParaRPr>
          </a:p>
        </p:txBody>
      </p:sp>
      <p:sp>
        <p:nvSpPr>
          <p:cNvPr id="4" name="スライド番号プレースホルダー 3">
            <a:extLst>
              <a:ext uri="{FF2B5EF4-FFF2-40B4-BE49-F238E27FC236}">
                <a16:creationId xmlns:a16="http://schemas.microsoft.com/office/drawing/2014/main" id="{2B6D6BDD-FB82-357B-740F-86034A0F749A}"/>
              </a:ext>
            </a:extLst>
          </p:cNvPr>
          <p:cNvSpPr>
            <a:spLocks noGrp="1"/>
          </p:cNvSpPr>
          <p:nvPr>
            <p:ph type="sldNum" sz="quarter" idx="12"/>
          </p:nvPr>
        </p:nvSpPr>
        <p:spPr/>
        <p:txBody>
          <a:bodyPr/>
          <a:lstStyle/>
          <a:p>
            <a:fld id="{FD85A3AF-639B-47A7-B37E-FEBC6954B310}" type="slidenum">
              <a:rPr kumimoji="1" lang="ja-JP" altLang="en-US" smtClean="0"/>
              <a:t>14</a:t>
            </a:fld>
            <a:endParaRPr kumimoji="1" lang="ja-JP" altLang="en-US"/>
          </a:p>
        </p:txBody>
      </p:sp>
    </p:spTree>
    <p:extLst>
      <p:ext uri="{BB962C8B-B14F-4D97-AF65-F5344CB8AC3E}">
        <p14:creationId xmlns:p14="http://schemas.microsoft.com/office/powerpoint/2010/main" val="1143010625"/>
      </p:ext>
    </p:extLst>
  </p:cSld>
  <p:clrMapOvr>
    <a:masterClrMapping/>
  </p:clrMapOvr>
</p:sld>
</file>

<file path=ppt/theme/theme1.xml><?xml version="1.0" encoding="utf-8"?>
<a:theme xmlns:a="http://schemas.openxmlformats.org/drawingml/2006/main" name="ウィスプ">
  <a:themeElements>
    <a:clrScheme name="ウィスプ">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ウィスプ">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ウィスプ">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1594</TotalTime>
  <Words>2050</Words>
  <Application>Microsoft Office PowerPoint</Application>
  <PresentationFormat>ワイド画面</PresentationFormat>
  <Paragraphs>319</Paragraphs>
  <Slides>14</Slides>
  <Notes>14</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游ゴシック</vt:lpstr>
      <vt:lpstr>Arial</vt:lpstr>
      <vt:lpstr>Century Gothic</vt:lpstr>
      <vt:lpstr>Wingdings 3</vt:lpstr>
      <vt:lpstr>ウィスプ</vt:lpstr>
      <vt:lpstr>ウェブ小説のメタデータに 基づく連載継続可能性の予測</vt:lpstr>
      <vt:lpstr>研究背景</vt:lpstr>
      <vt:lpstr>「小説家になろう」とは</vt:lpstr>
      <vt:lpstr>関連研究</vt:lpstr>
      <vt:lpstr>研究目的と研究対象</vt:lpstr>
      <vt:lpstr>研究概要：データセットの構築</vt:lpstr>
      <vt:lpstr>研究概要：分析対象</vt:lpstr>
      <vt:lpstr>分析手法</vt:lpstr>
      <vt:lpstr>分析1：結果</vt:lpstr>
      <vt:lpstr>分析1 ：考察</vt:lpstr>
      <vt:lpstr>分析2：結果と考察</vt:lpstr>
      <vt:lpstr>結論</vt:lpstr>
      <vt:lpstr>課題と今後の展望</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玲瑠 佐藤</dc:creator>
  <cp:lastModifiedBy>玲瑠 佐藤</cp:lastModifiedBy>
  <cp:revision>136</cp:revision>
  <dcterms:created xsi:type="dcterms:W3CDTF">2025-09-20T09:34:59Z</dcterms:created>
  <dcterms:modified xsi:type="dcterms:W3CDTF">2025-09-24T22:30:59Z</dcterms:modified>
</cp:coreProperties>
</file>