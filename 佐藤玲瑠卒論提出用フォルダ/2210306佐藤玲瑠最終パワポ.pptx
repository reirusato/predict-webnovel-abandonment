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57" r:id="rId3"/>
    <p:sldId id="269" r:id="rId4"/>
    <p:sldId id="258" r:id="rId5"/>
    <p:sldId id="259" r:id="rId6"/>
    <p:sldId id="270" r:id="rId7"/>
    <p:sldId id="260" r:id="rId8"/>
    <p:sldId id="261" r:id="rId9"/>
    <p:sldId id="271" r:id="rId10"/>
    <p:sldId id="262" r:id="rId11"/>
    <p:sldId id="267" r:id="rId12"/>
    <p:sldId id="268" r:id="rId13"/>
    <p:sldId id="263" r:id="rId14"/>
    <p:sldId id="264" r:id="rId15"/>
    <p:sldId id="265" r:id="rId16"/>
    <p:sldId id="266"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697" autoAdjust="0"/>
  </p:normalViewPr>
  <p:slideViewPr>
    <p:cSldViewPr snapToGrid="0">
      <p:cViewPr varScale="1">
        <p:scale>
          <a:sx n="82" d="100"/>
          <a:sy n="82" d="100"/>
        </p:scale>
        <p:origin x="163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251F04-18E1-4F7B-80B0-EBF104AFE081}" type="datetimeFigureOut">
              <a:rPr kumimoji="1" lang="ja-JP" altLang="en-US" smtClean="0"/>
              <a:t>2026/2/9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F0DE7-1166-456E-A1F7-534AEBE59C57}" type="slidenum">
              <a:rPr kumimoji="1" lang="ja-JP" altLang="en-US" smtClean="0"/>
              <a:t>‹#›</a:t>
            </a:fld>
            <a:endParaRPr kumimoji="1" lang="ja-JP" altLang="en-US"/>
          </a:p>
        </p:txBody>
      </p:sp>
    </p:spTree>
    <p:extLst>
      <p:ext uri="{BB962C8B-B14F-4D97-AF65-F5344CB8AC3E}">
        <p14:creationId xmlns:p14="http://schemas.microsoft.com/office/powerpoint/2010/main" val="198490345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b="0" dirty="0"/>
              <a:t>「ウェブ小説のメタデータに基づく連載放棄（エタり）の予測」と題しまして発表を行います。</a:t>
            </a:r>
            <a:endParaRPr lang="en-US" altLang="ja-JP" sz="1200" b="0" dirty="0"/>
          </a:p>
          <a:p>
            <a:r>
              <a:rPr lang="ja-JP" altLang="en-US" sz="1200" b="0" dirty="0"/>
              <a:t>佐藤玲瑠です、</a:t>
            </a:r>
            <a:r>
              <a:rPr kumimoji="1" lang="ja-JP" altLang="en-US" sz="1200" b="0" dirty="0"/>
              <a:t>よろしくお願いします。</a:t>
            </a:r>
            <a:endParaRPr kumimoji="1" lang="ja-JP" altLang="en-US" b="0" dirty="0"/>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1</a:t>
            </a:fld>
            <a:endParaRPr kumimoji="1" lang="ja-JP" altLang="en-US"/>
          </a:p>
        </p:txBody>
      </p:sp>
    </p:spTree>
    <p:extLst>
      <p:ext uri="{BB962C8B-B14F-4D97-AF65-F5344CB8AC3E}">
        <p14:creationId xmlns:p14="http://schemas.microsoft.com/office/powerpoint/2010/main" val="389386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現在、誰でも手軽に作品を発表できる</a:t>
            </a:r>
            <a:r>
              <a:rPr lang="en-US" altLang="ja-JP" b="0" dirty="0"/>
              <a:t>『</a:t>
            </a:r>
            <a:r>
              <a:rPr lang="ja-JP" altLang="en-US" b="0" dirty="0"/>
              <a:t>ウェブ小説投稿サイト</a:t>
            </a:r>
            <a:r>
              <a:rPr lang="en-US" altLang="ja-JP" b="0" dirty="0"/>
              <a:t>』</a:t>
            </a:r>
            <a:r>
              <a:rPr lang="ja-JP" altLang="en-US" b="0" dirty="0"/>
              <a:t>が急速に普及しており、膨大な数の小説が日々生み出されています。</a:t>
            </a:r>
          </a:p>
          <a:p>
            <a:r>
              <a:rPr lang="ja-JP" altLang="en-US" b="0" dirty="0"/>
              <a:t>しかし、その裏で深刻な課題となっているのが、作品が未完結のまま放棄されてしまう、通称</a:t>
            </a:r>
            <a:r>
              <a:rPr lang="en-US" altLang="ja-JP" b="0" dirty="0"/>
              <a:t>『</a:t>
            </a:r>
            <a:r>
              <a:rPr lang="ja-JP" altLang="en-US" b="0" dirty="0"/>
              <a:t>エタり</a:t>
            </a:r>
            <a:r>
              <a:rPr lang="en-US" altLang="ja-JP" b="0" dirty="0"/>
              <a:t>』</a:t>
            </a:r>
            <a:r>
              <a:rPr lang="ja-JP" altLang="en-US" b="0" dirty="0"/>
              <a:t>という現象です。</a:t>
            </a:r>
          </a:p>
          <a:p>
            <a:r>
              <a:rPr lang="ja-JP" altLang="en-US" b="0" dirty="0"/>
              <a:t>画像は小説投稿サイト「小説家になろう」で実際に長期間更新が途絶えた作品に表示される警告文です。</a:t>
            </a:r>
            <a:endParaRPr lang="en-US" altLang="ja-JP" b="0" dirty="0"/>
          </a:p>
          <a:p>
            <a:r>
              <a:rPr lang="ja-JP" altLang="en-US" b="0" dirty="0"/>
              <a:t>このように連載が途中で止まってしまうことは、続きを楽しみにしている読者に強い失望感を与えるだけでなく、作者にとっても</a:t>
            </a:r>
            <a:r>
              <a:rPr lang="en-US" altLang="ja-JP" b="0" dirty="0"/>
              <a:t>『</a:t>
            </a:r>
            <a:r>
              <a:rPr lang="ja-JP" altLang="en-US" b="0" dirty="0"/>
              <a:t>執筆を継続できない</a:t>
            </a:r>
            <a:r>
              <a:rPr lang="en-US" altLang="ja-JP" b="0" dirty="0"/>
              <a:t>』</a:t>
            </a:r>
            <a:r>
              <a:rPr lang="ja-JP" altLang="en-US" b="0" dirty="0"/>
              <a:t>という、創作活動における大きな障壁となっています。</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2</a:t>
            </a:fld>
            <a:endParaRPr kumimoji="1" lang="ja-JP" altLang="en-US"/>
          </a:p>
        </p:txBody>
      </p:sp>
    </p:spTree>
    <p:extLst>
      <p:ext uri="{BB962C8B-B14F-4D97-AF65-F5344CB8AC3E}">
        <p14:creationId xmlns:p14="http://schemas.microsoft.com/office/powerpoint/2010/main" val="24969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本研究の関連研究について説明します。</a:t>
            </a:r>
          </a:p>
          <a:p>
            <a:r>
              <a:rPr lang="ja-JP" altLang="en-US" dirty="0"/>
              <a:t>清水らは、読者のブックマーク行動を</a:t>
            </a:r>
            <a:r>
              <a:rPr lang="en-US" altLang="ja-JP" dirty="0"/>
              <a:t>『</a:t>
            </a:r>
            <a:r>
              <a:rPr lang="ja-JP" altLang="en-US" dirty="0"/>
              <a:t>集合知</a:t>
            </a:r>
            <a:r>
              <a:rPr lang="en-US" altLang="ja-JP" dirty="0"/>
              <a:t>』</a:t>
            </a:r>
            <a:r>
              <a:rPr lang="ja-JP" altLang="en-US" dirty="0"/>
              <a:t>として捉え、読者と作品のネットワーク構造を分析し、将来のヒット作品を早期に発見する手法を提案しました。</a:t>
            </a:r>
            <a:endParaRPr lang="en-US" altLang="ja-JP" dirty="0"/>
          </a:p>
          <a:p>
            <a:r>
              <a:rPr lang="ja-JP" altLang="en-US" dirty="0"/>
              <a:t>堺らの研究では、あらすじに含まれる単語を分析し、</a:t>
            </a:r>
            <a:r>
              <a:rPr lang="en-US" altLang="ja-JP" dirty="0"/>
              <a:t>『</a:t>
            </a:r>
            <a:r>
              <a:rPr lang="ja-JP" altLang="en-US" dirty="0"/>
              <a:t>異世界</a:t>
            </a:r>
            <a:r>
              <a:rPr lang="en-US" altLang="ja-JP" dirty="0"/>
              <a:t>』</a:t>
            </a:r>
            <a:r>
              <a:rPr lang="ja-JP" altLang="en-US" dirty="0"/>
              <a:t>や</a:t>
            </a:r>
            <a:r>
              <a:rPr lang="en-US" altLang="ja-JP" dirty="0"/>
              <a:t>『</a:t>
            </a:r>
            <a:r>
              <a:rPr lang="ja-JP" altLang="en-US" dirty="0"/>
              <a:t>転移</a:t>
            </a:r>
            <a:r>
              <a:rPr lang="en-US" altLang="ja-JP" dirty="0"/>
              <a:t>』</a:t>
            </a:r>
            <a:r>
              <a:rPr lang="ja-JP" altLang="en-US" dirty="0"/>
              <a:t>といったキーワードの増加を可視化することで、ジャンルの定型化を定量的に示しました。</a:t>
            </a:r>
            <a:endParaRPr lang="en-US" altLang="ja-JP" dirty="0"/>
          </a:p>
          <a:p>
            <a:r>
              <a:rPr lang="ja-JP" altLang="en-US" dirty="0"/>
              <a:t>これらはヒット予測やマクロな傾向分析に留まっており、個々の作品が</a:t>
            </a:r>
            <a:r>
              <a:rPr lang="en-US" altLang="ja-JP" dirty="0"/>
              <a:t>『</a:t>
            </a:r>
            <a:r>
              <a:rPr lang="ja-JP" altLang="en-US" dirty="0"/>
              <a:t>連載放棄されるリスク</a:t>
            </a:r>
            <a:r>
              <a:rPr lang="en-US" altLang="ja-JP" dirty="0"/>
              <a:t>』</a:t>
            </a:r>
            <a:r>
              <a:rPr lang="ja-JP" altLang="en-US" dirty="0"/>
              <a:t>に焦点を当てた研究は十分になされていません。</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3</a:t>
            </a:fld>
            <a:endParaRPr kumimoji="1" lang="ja-JP" altLang="en-US"/>
          </a:p>
        </p:txBody>
      </p:sp>
    </p:spTree>
    <p:extLst>
      <p:ext uri="{BB962C8B-B14F-4D97-AF65-F5344CB8AC3E}">
        <p14:creationId xmlns:p14="http://schemas.microsoft.com/office/powerpoint/2010/main" val="3810683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そこで本研究では、</a:t>
            </a:r>
            <a:r>
              <a:rPr lang="en-US" altLang="ja-JP" b="0" dirty="0"/>
              <a:t>『</a:t>
            </a:r>
            <a:r>
              <a:rPr lang="ja-JP" altLang="en-US" b="0" dirty="0"/>
              <a:t>エタり</a:t>
            </a:r>
            <a:r>
              <a:rPr lang="en-US" altLang="ja-JP" b="0" dirty="0"/>
              <a:t>』</a:t>
            </a:r>
            <a:r>
              <a:rPr lang="ja-JP" altLang="en-US" b="0" dirty="0"/>
              <a:t>予測モデルの構築とエタり要因の解明を目指しました。</a:t>
            </a:r>
            <a:endParaRPr lang="en-US" altLang="ja-JP" b="0" dirty="0"/>
          </a:p>
          <a:p>
            <a:r>
              <a:rPr lang="ja-JP" altLang="en-US" b="0" dirty="0"/>
              <a:t>予測モデルの構築として</a:t>
            </a:r>
            <a:r>
              <a:rPr lang="en-US" altLang="ja-JP" b="0" dirty="0"/>
              <a:t>『</a:t>
            </a:r>
            <a:r>
              <a:rPr lang="ja-JP" altLang="en-US" b="0" dirty="0"/>
              <a:t>数値データ</a:t>
            </a:r>
            <a:r>
              <a:rPr lang="en-US" altLang="ja-JP" b="0" dirty="0"/>
              <a:t>』</a:t>
            </a:r>
            <a:r>
              <a:rPr lang="ja-JP" altLang="en-US" b="0" dirty="0"/>
              <a:t>を用いたモデルと、あらすじを用いたモデルの</a:t>
            </a:r>
            <a:r>
              <a:rPr lang="en-US" altLang="ja-JP" b="0" dirty="0"/>
              <a:t>2</a:t>
            </a:r>
            <a:r>
              <a:rPr lang="ja-JP" altLang="en-US" b="0" dirty="0"/>
              <a:t>パターンのアプローチを行い、性能の検証を行いました。</a:t>
            </a:r>
          </a:p>
          <a:p>
            <a:r>
              <a:rPr lang="ja-JP" altLang="en-US" b="0" dirty="0"/>
              <a:t>エタり要因の解明については、あらすじを用いたモデルに対して</a:t>
            </a:r>
            <a:r>
              <a:rPr lang="en-US" altLang="ja-JP" b="0" dirty="0"/>
              <a:t>LIME</a:t>
            </a:r>
            <a:r>
              <a:rPr lang="ja-JP" altLang="en-US" b="0" dirty="0"/>
              <a:t>という手法を適用することでモデルの根拠を可視化し、要因を分析しました。</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4</a:t>
            </a:fld>
            <a:endParaRPr kumimoji="1" lang="ja-JP" altLang="en-US"/>
          </a:p>
        </p:txBody>
      </p:sp>
    </p:spTree>
    <p:extLst>
      <p:ext uri="{BB962C8B-B14F-4D97-AF65-F5344CB8AC3E}">
        <p14:creationId xmlns:p14="http://schemas.microsoft.com/office/powerpoint/2010/main" val="2655995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本研究は日本最大級の小説投稿サイト</a:t>
            </a:r>
            <a:r>
              <a:rPr lang="en-US" altLang="ja-JP" b="0" dirty="0"/>
              <a:t>『</a:t>
            </a:r>
            <a:r>
              <a:rPr lang="ja-JP" altLang="en-US" b="0" dirty="0"/>
              <a:t>小説家になろう</a:t>
            </a:r>
            <a:r>
              <a:rPr lang="en-US" altLang="ja-JP" b="0" dirty="0"/>
              <a:t>』</a:t>
            </a:r>
            <a:r>
              <a:rPr lang="ja-JP" altLang="en-US" b="0" dirty="0"/>
              <a:t>の作品を対象とし、取得可能な全作品データを取得しました。</a:t>
            </a:r>
          </a:p>
          <a:p>
            <a:r>
              <a:rPr lang="ja-JP" altLang="en-US" b="0" dirty="0"/>
              <a:t>ここで本研究における教師データとしての</a:t>
            </a:r>
            <a:r>
              <a:rPr lang="en-US" altLang="ja-JP" b="0" dirty="0"/>
              <a:t>『</a:t>
            </a:r>
            <a:r>
              <a:rPr lang="ja-JP" altLang="en-US" b="0" dirty="0"/>
              <a:t>エタり</a:t>
            </a:r>
            <a:r>
              <a:rPr lang="en-US" altLang="ja-JP" b="0" dirty="0"/>
              <a:t>』</a:t>
            </a:r>
            <a:r>
              <a:rPr lang="ja-JP" altLang="en-US" b="0" dirty="0"/>
              <a:t>を、作品設定が</a:t>
            </a:r>
            <a:r>
              <a:rPr lang="en-US" altLang="ja-JP" b="0" dirty="0"/>
              <a:t>『</a:t>
            </a:r>
            <a:r>
              <a:rPr lang="ja-JP" altLang="en-US" b="0" dirty="0"/>
              <a:t>連載中</a:t>
            </a:r>
            <a:r>
              <a:rPr lang="en-US" altLang="ja-JP" b="0" dirty="0"/>
              <a:t>』</a:t>
            </a:r>
            <a:r>
              <a:rPr lang="ja-JP" altLang="en-US" b="0" dirty="0"/>
              <a:t>となっているにもかかわらず、最終更新日から</a:t>
            </a:r>
            <a:r>
              <a:rPr lang="en-US" altLang="ja-JP" b="0" dirty="0"/>
              <a:t>1</a:t>
            </a:r>
            <a:r>
              <a:rPr lang="ja-JP" altLang="en-US" b="0" dirty="0"/>
              <a:t>年以上が経過している作品と定義しました。</a:t>
            </a:r>
            <a:endParaRPr lang="en-US" altLang="ja-JP" b="0" dirty="0"/>
          </a:p>
          <a:p>
            <a:r>
              <a:rPr lang="ja-JP" altLang="en-US" b="0" dirty="0"/>
              <a:t>なお、現在連載が続いている作品や、短編作品は今回の分析から除外しています。</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5</a:t>
            </a:fld>
            <a:endParaRPr kumimoji="1" lang="ja-JP" altLang="en-US"/>
          </a:p>
        </p:txBody>
      </p:sp>
    </p:spTree>
    <p:extLst>
      <p:ext uri="{BB962C8B-B14F-4D97-AF65-F5344CB8AC3E}">
        <p14:creationId xmlns:p14="http://schemas.microsoft.com/office/powerpoint/2010/main" val="215910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小説家になろうには</a:t>
            </a:r>
            <a:r>
              <a:rPr kumimoji="1" lang="en-US" altLang="ja-JP" dirty="0"/>
              <a:t>5</a:t>
            </a:r>
            <a:r>
              <a:rPr kumimoji="1" lang="ja-JP" altLang="en-US" dirty="0"/>
              <a:t>つの大ジャンルがあり、それぞれの区分に小ジャンルが存在します。</a:t>
            </a:r>
            <a:endParaRPr kumimoji="1" lang="en-US" altLang="ja-JP" dirty="0"/>
          </a:p>
          <a:p>
            <a:r>
              <a:rPr kumimoji="1" lang="ja-JP" altLang="en-US" dirty="0"/>
              <a:t>本研究では小説作品を小ジャンルで区切って分析を行いました。</a:t>
            </a:r>
            <a:endParaRPr kumimoji="1" lang="en-US" altLang="ja-JP" dirty="0"/>
          </a:p>
          <a:p>
            <a:r>
              <a:rPr kumimoji="1" lang="ja-JP" altLang="en-US" dirty="0"/>
              <a:t>なお、ノンジャンルは</a:t>
            </a:r>
            <a:r>
              <a:rPr kumimoji="1" lang="en-US" altLang="ja-JP" dirty="0"/>
              <a:t>2016</a:t>
            </a:r>
            <a:r>
              <a:rPr kumimoji="1" lang="ja-JP" altLang="en-US" dirty="0"/>
              <a:t>年に行われた小説家になろうのジャンル区分変更に伴い、ジャンルの登録が更新されなかった作品となっています。</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6</a:t>
            </a:fld>
            <a:endParaRPr kumimoji="1" lang="ja-JP" altLang="en-US"/>
          </a:p>
        </p:txBody>
      </p:sp>
    </p:spTree>
    <p:extLst>
      <p:ext uri="{BB962C8B-B14F-4D97-AF65-F5344CB8AC3E}">
        <p14:creationId xmlns:p14="http://schemas.microsoft.com/office/powerpoint/2010/main" val="3094091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分析手法は大きく</a:t>
            </a:r>
            <a:r>
              <a:rPr lang="en-US" altLang="ja-JP" b="0" dirty="0"/>
              <a:t>2</a:t>
            </a:r>
            <a:r>
              <a:rPr lang="ja-JP" altLang="en-US" b="0" dirty="0"/>
              <a:t>つです。</a:t>
            </a:r>
          </a:p>
          <a:p>
            <a:r>
              <a:rPr lang="ja-JP" altLang="en-US" b="0" dirty="0"/>
              <a:t>分析</a:t>
            </a:r>
            <a:r>
              <a:rPr lang="en-US" altLang="ja-JP" b="0" dirty="0"/>
              <a:t>1</a:t>
            </a:r>
            <a:r>
              <a:rPr lang="ja-JP" altLang="en-US" b="0" dirty="0"/>
              <a:t>では複数のモデルを用いて数値データの内「どの特徴量が完結に影響するか」を分析しました。</a:t>
            </a:r>
          </a:p>
          <a:p>
            <a:r>
              <a:rPr lang="ja-JP" altLang="en-US" b="0" dirty="0"/>
              <a:t>分析</a:t>
            </a:r>
            <a:r>
              <a:rPr lang="en-US" altLang="ja-JP" b="0" dirty="0"/>
              <a:t>2</a:t>
            </a:r>
            <a:r>
              <a:rPr lang="ja-JP" altLang="en-US" b="0" dirty="0"/>
              <a:t>ではあらすじの分析を行い、従来手法である「</a:t>
            </a:r>
            <a:r>
              <a:rPr lang="en-US" altLang="ja-JP" b="0" dirty="0"/>
              <a:t>TF-IDF</a:t>
            </a:r>
            <a:r>
              <a:rPr lang="ja-JP" altLang="en-US" b="0" dirty="0"/>
              <a:t>とロジスティック回帰」、系列データに強い「双方向</a:t>
            </a:r>
            <a:r>
              <a:rPr lang="en-US" altLang="ja-JP" b="0" dirty="0"/>
              <a:t>LSTM</a:t>
            </a:r>
            <a:r>
              <a:rPr lang="ja-JP" altLang="en-US" b="0" dirty="0"/>
              <a:t>」、高度な事前学習モデルである「</a:t>
            </a:r>
            <a:r>
              <a:rPr lang="en-US" altLang="ja-JP" b="0" dirty="0"/>
              <a:t>BERT</a:t>
            </a:r>
            <a:r>
              <a:rPr lang="ja-JP" altLang="en-US" b="0" dirty="0"/>
              <a:t>」の</a:t>
            </a:r>
            <a:r>
              <a:rPr lang="en-US" altLang="ja-JP" b="0" dirty="0"/>
              <a:t>3</a:t>
            </a:r>
            <a:r>
              <a:rPr lang="ja-JP" altLang="en-US" b="0" dirty="0"/>
              <a:t>つのモデル構造を比較しました。 </a:t>
            </a:r>
            <a:endParaRPr lang="en-US" altLang="ja-JP" b="0" dirty="0"/>
          </a:p>
          <a:p>
            <a:r>
              <a:rPr lang="ja-JP" altLang="en-US" b="0" dirty="0"/>
              <a:t>また、</a:t>
            </a:r>
            <a:r>
              <a:rPr lang="en-US" altLang="ja-JP" b="0" dirty="0"/>
              <a:t>LIME</a:t>
            </a:r>
            <a:r>
              <a:rPr lang="ja-JP" altLang="en-US" b="0" dirty="0"/>
              <a:t>を用いて判断根拠となる単語の可視化を行いました。</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7</a:t>
            </a:fld>
            <a:endParaRPr kumimoji="1" lang="ja-JP" altLang="en-US"/>
          </a:p>
        </p:txBody>
      </p:sp>
    </p:spTree>
    <p:extLst>
      <p:ext uri="{BB962C8B-B14F-4D97-AF65-F5344CB8AC3E}">
        <p14:creationId xmlns:p14="http://schemas.microsoft.com/office/powerpoint/2010/main" val="708039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数値データにおいて各モデルの性能を比較した結果、決定木ベースの手法である</a:t>
            </a:r>
            <a:r>
              <a:rPr lang="en-US" altLang="ja-JP" b="0" dirty="0" err="1"/>
              <a:t>XGBoost</a:t>
            </a:r>
            <a:r>
              <a:rPr lang="ja-JP" altLang="en-US" b="0" dirty="0"/>
              <a:t>が、最も高い性能を示しました。</a:t>
            </a:r>
          </a:p>
          <a:p>
            <a:r>
              <a:rPr lang="ja-JP" altLang="en-US" b="0" dirty="0"/>
              <a:t>グラフは</a:t>
            </a:r>
            <a:r>
              <a:rPr lang="en-US" altLang="ja-JP" b="0" dirty="0" err="1"/>
              <a:t>XGBoost</a:t>
            </a:r>
            <a:r>
              <a:rPr lang="ja-JP" altLang="en-US" b="0" dirty="0"/>
              <a:t>における特徴量重要度を示したもので、更新頻度の寄与度が高く、次いで評価者数や評価ポイントなどが続いています。</a:t>
            </a:r>
          </a:p>
          <a:p>
            <a:r>
              <a:rPr lang="ja-JP" altLang="en-US" b="0" dirty="0"/>
              <a:t>このことから、エタらずに完結できるかどうかは、作品の人気のみならず、定期的に更新する習慣があるかどうかが極めて重要な要因であることが数値的に示されました。</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8</a:t>
            </a:fld>
            <a:endParaRPr kumimoji="1" lang="ja-JP" altLang="en-US"/>
          </a:p>
        </p:txBody>
      </p:sp>
    </p:spTree>
    <p:extLst>
      <p:ext uri="{BB962C8B-B14F-4D97-AF65-F5344CB8AC3E}">
        <p14:creationId xmlns:p14="http://schemas.microsoft.com/office/powerpoint/2010/main" val="1660955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ジャンルごとの予測性能には差が見られました。</a:t>
            </a:r>
          </a:p>
          <a:p>
            <a:r>
              <a:rPr lang="ja-JP" altLang="en-US" b="0" dirty="0"/>
              <a:t>全作品に対し、 特に「異世界（恋愛）」が極めて高い性能が出ました。これは、型が決まっている人気ジャンルほど、更新パターンなどの特徴が捉えやすいためと推察されます。</a:t>
            </a:r>
          </a:p>
          <a:p>
            <a:r>
              <a:rPr lang="ja-JP" altLang="en-US" b="0" dirty="0"/>
              <a:t>全体を通して、</a:t>
            </a:r>
            <a:r>
              <a:rPr lang="en-US" altLang="ja-JP" b="0" dirty="0" err="1"/>
              <a:t>XGBoost</a:t>
            </a:r>
            <a:r>
              <a:rPr lang="ja-JP" altLang="en-US" b="0" dirty="0"/>
              <a:t>や</a:t>
            </a:r>
            <a:r>
              <a:rPr lang="en-US" altLang="ja-JP" b="0" dirty="0"/>
              <a:t>LightGBM</a:t>
            </a:r>
            <a:r>
              <a:rPr lang="ja-JP" altLang="en-US" b="0" dirty="0"/>
              <a:t>といった決定木モデルが高い性能を示しており、執筆環境がエタるかどうかを予測する上で重要であることが示唆されました。</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9</a:t>
            </a:fld>
            <a:endParaRPr kumimoji="1" lang="ja-JP" altLang="en-US"/>
          </a:p>
        </p:txBody>
      </p:sp>
    </p:spTree>
    <p:extLst>
      <p:ext uri="{BB962C8B-B14F-4D97-AF65-F5344CB8AC3E}">
        <p14:creationId xmlns:p14="http://schemas.microsoft.com/office/powerpoint/2010/main" val="1814943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b="0" dirty="0"/>
              <a:t>TF-IDF</a:t>
            </a:r>
            <a:r>
              <a:rPr lang="ja-JP" altLang="en-US" b="0" dirty="0"/>
              <a:t>による予測分類結果では、全作品の性能は数値データのみを用いたモデルの性能には及ばないものの、あらすじ単体の情報でも一定の性能を示しました。</a:t>
            </a:r>
          </a:p>
          <a:p>
            <a:r>
              <a:rPr lang="ja-JP" altLang="en-US" b="0" dirty="0"/>
              <a:t>ジャンル別に見ると、「異世界（恋愛）」や「現実世界（恋愛）」では比較的高い性能が出ていますが、「ノンジャンル」では大きく数値を落としています。</a:t>
            </a:r>
          </a:p>
          <a:p>
            <a:r>
              <a:rPr lang="ja-JP" altLang="en-US" b="0" dirty="0"/>
              <a:t>全体的な傾向として、適合率が再現率を上回っていることが確認でき、「完結」に直結する特定のキーワードは判定できるものの、文脈で表現されている場合は取りこぼしが多いと推察されます。</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10</a:t>
            </a:fld>
            <a:endParaRPr kumimoji="1" lang="ja-JP" altLang="en-US"/>
          </a:p>
        </p:txBody>
      </p:sp>
    </p:spTree>
    <p:extLst>
      <p:ext uri="{BB962C8B-B14F-4D97-AF65-F5344CB8AC3E}">
        <p14:creationId xmlns:p14="http://schemas.microsoft.com/office/powerpoint/2010/main" val="763673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単語の並び順を考慮できる双方向</a:t>
            </a:r>
            <a:r>
              <a:rPr lang="en-US" altLang="ja-JP" b="0" dirty="0"/>
              <a:t>LSTM</a:t>
            </a:r>
            <a:r>
              <a:rPr lang="ja-JP" altLang="en-US" b="0" dirty="0"/>
              <a:t>では全作品の性能が</a:t>
            </a:r>
            <a:r>
              <a:rPr lang="en-US" altLang="ja-JP" b="0" dirty="0"/>
              <a:t>TF-IDF</a:t>
            </a:r>
            <a:r>
              <a:rPr lang="ja-JP" altLang="en-US" b="0" dirty="0"/>
              <a:t>とほぼ同等の結果となり、あらすじの文脈情報を加えるだけでは、予測能力の大幅な向上は望めないことが示唆されました。</a:t>
            </a:r>
          </a:p>
          <a:p>
            <a:r>
              <a:rPr lang="ja-JP" altLang="en-US" b="0" dirty="0"/>
              <a:t>ジャンルごとの内訳を見ると、</a:t>
            </a:r>
            <a:r>
              <a:rPr lang="en-US" altLang="ja-JP" b="0" dirty="0"/>
              <a:t>TF-IDF</a:t>
            </a:r>
            <a:r>
              <a:rPr lang="ja-JP" altLang="en-US" b="0" dirty="0"/>
              <a:t>では</a:t>
            </a:r>
            <a:r>
              <a:rPr lang="en-US" altLang="ja-JP" b="0" dirty="0"/>
              <a:t>F1</a:t>
            </a:r>
            <a:r>
              <a:rPr lang="ja-JP" altLang="en-US" b="0" dirty="0"/>
              <a:t>値</a:t>
            </a:r>
            <a:r>
              <a:rPr lang="en-US" altLang="ja-JP" b="0" dirty="0"/>
              <a:t>0.769</a:t>
            </a:r>
            <a:r>
              <a:rPr lang="ja-JP" altLang="en-US" b="0" dirty="0"/>
              <a:t>であった「現実世界（恋愛）」が、</a:t>
            </a:r>
            <a:r>
              <a:rPr lang="en-US" altLang="ja-JP" b="0" dirty="0"/>
              <a:t>LSTM</a:t>
            </a:r>
            <a:r>
              <a:rPr lang="ja-JP" altLang="en-US" b="0" dirty="0"/>
              <a:t>では</a:t>
            </a:r>
            <a:r>
              <a:rPr lang="en-US" altLang="ja-JP" b="0" dirty="0"/>
              <a:t>0.635</a:t>
            </a:r>
            <a:r>
              <a:rPr lang="ja-JP" altLang="en-US" b="0" dirty="0"/>
              <a:t>まで低下するなど一部で性能の悪化が見られました。</a:t>
            </a:r>
            <a:endParaRPr lang="en-US" altLang="ja-JP" b="0" dirty="0"/>
          </a:p>
          <a:p>
            <a:r>
              <a:rPr lang="ja-JP" altLang="en-US" b="0" dirty="0"/>
              <a:t>今回のデータセットにおいては、文脈を追うより</a:t>
            </a:r>
            <a:r>
              <a:rPr lang="en-US" altLang="ja-JP" b="0" dirty="0"/>
              <a:t>TF-IDF</a:t>
            </a:r>
            <a:r>
              <a:rPr lang="ja-JP" altLang="en-US" b="0" dirty="0"/>
              <a:t>のように「特定の単語があるかないか」という単純な情報を捉える方が、効率的に分類できた可能性が示されました。</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11</a:t>
            </a:fld>
            <a:endParaRPr kumimoji="1" lang="ja-JP" altLang="en-US"/>
          </a:p>
        </p:txBody>
      </p:sp>
    </p:spTree>
    <p:extLst>
      <p:ext uri="{BB962C8B-B14F-4D97-AF65-F5344CB8AC3E}">
        <p14:creationId xmlns:p14="http://schemas.microsoft.com/office/powerpoint/2010/main" val="1153818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事前学習済みモデルである</a:t>
            </a:r>
            <a:r>
              <a:rPr lang="en-US" altLang="ja-JP" b="0" dirty="0"/>
              <a:t>BERT</a:t>
            </a:r>
            <a:r>
              <a:rPr lang="ja-JP" altLang="en-US" b="0" dirty="0"/>
              <a:t>の全作品の性能は</a:t>
            </a:r>
            <a:r>
              <a:rPr lang="en-US" altLang="ja-JP" b="0" dirty="0"/>
              <a:t>3</a:t>
            </a:r>
            <a:r>
              <a:rPr lang="ja-JP" altLang="en-US" b="0" dirty="0"/>
              <a:t>つのテキストモデルの中で最も高い性能を示しました。</a:t>
            </a:r>
            <a:endParaRPr lang="en-US" altLang="ja-JP" b="0" dirty="0"/>
          </a:p>
          <a:p>
            <a:r>
              <a:rPr lang="ja-JP" altLang="en-US" b="0" dirty="0"/>
              <a:t>数値データとの差も</a:t>
            </a:r>
            <a:r>
              <a:rPr lang="en-US" altLang="ja-JP" b="0" dirty="0"/>
              <a:t>0.04</a:t>
            </a:r>
            <a:r>
              <a:rPr lang="ja-JP" altLang="en-US" b="0" dirty="0"/>
              <a:t>ポイントまで縮めており、テキスト情報も十分に有用であることが示されました。</a:t>
            </a:r>
          </a:p>
          <a:p>
            <a:r>
              <a:rPr lang="ja-JP" altLang="en-US" b="0" dirty="0"/>
              <a:t>再現率が全体で</a:t>
            </a:r>
            <a:r>
              <a:rPr lang="en-US" altLang="ja-JP" b="0" dirty="0"/>
              <a:t>0.812</a:t>
            </a:r>
            <a:r>
              <a:rPr lang="ja-JP" altLang="en-US" b="0" dirty="0"/>
              <a:t>、異世界恋愛では</a:t>
            </a:r>
            <a:r>
              <a:rPr lang="en-US" altLang="ja-JP" b="0" dirty="0"/>
              <a:t>0.855</a:t>
            </a:r>
            <a:r>
              <a:rPr lang="ja-JP" altLang="en-US" b="0" dirty="0"/>
              <a:t>と非常に高い値を記録しし、</a:t>
            </a:r>
            <a:r>
              <a:rPr lang="en-US" altLang="ja-JP" b="0" dirty="0"/>
              <a:t>TF-IDF</a:t>
            </a:r>
            <a:r>
              <a:rPr lang="ja-JP" altLang="en-US" b="0" dirty="0"/>
              <a:t>とは逆の傾向となりました。</a:t>
            </a:r>
          </a:p>
          <a:p>
            <a:r>
              <a:rPr lang="en-US" altLang="ja-JP" b="0" dirty="0"/>
              <a:t>BERT</a:t>
            </a:r>
            <a:r>
              <a:rPr lang="ja-JP" altLang="en-US" b="0" dirty="0"/>
              <a:t>は文脈を深く理解できるため、特定のキーワードがないあらすじであっても「完結しそうな雰囲気」や「ニュアンス」を漏らさず拾い上げることができ、「完結作品を見逃さない」という点においては</a:t>
            </a:r>
            <a:r>
              <a:rPr lang="en-US" altLang="ja-JP" b="0" dirty="0"/>
              <a:t>BERT</a:t>
            </a:r>
            <a:r>
              <a:rPr lang="ja-JP" altLang="en-US" b="0" dirty="0"/>
              <a:t>が優れている部分があると言えます。</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12</a:t>
            </a:fld>
            <a:endParaRPr kumimoji="1" lang="ja-JP" altLang="en-US"/>
          </a:p>
        </p:txBody>
      </p:sp>
    </p:spTree>
    <p:extLst>
      <p:ext uri="{BB962C8B-B14F-4D97-AF65-F5344CB8AC3E}">
        <p14:creationId xmlns:p14="http://schemas.microsoft.com/office/powerpoint/2010/main" val="1294294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b="0" dirty="0"/>
              <a:t>LIME</a:t>
            </a:r>
            <a:r>
              <a:rPr lang="ja-JP" altLang="en-US" b="0" dirty="0"/>
              <a:t>を用いたモデルの根拠の可視化です。</a:t>
            </a:r>
            <a:endParaRPr lang="en-US" altLang="ja-JP" b="0" dirty="0"/>
          </a:p>
          <a:p>
            <a:r>
              <a:rPr lang="en-US" altLang="ja-JP" b="0" dirty="0"/>
              <a:t>TF-IDF</a:t>
            </a:r>
            <a:r>
              <a:rPr lang="ja-JP" altLang="en-US" b="0" dirty="0"/>
              <a:t>のエタり判定に最も寄与している単語は、</a:t>
            </a:r>
            <a:r>
              <a:rPr lang="en-US" altLang="ja-JP" b="0" dirty="0"/>
              <a:t>『</a:t>
            </a:r>
            <a:r>
              <a:rPr lang="ja-JP" altLang="en-US" b="0" dirty="0"/>
              <a:t>完結</a:t>
            </a:r>
            <a:r>
              <a:rPr lang="en-US" altLang="ja-JP" b="0" dirty="0"/>
              <a:t>』</a:t>
            </a:r>
            <a:r>
              <a:rPr lang="ja-JP" altLang="en-US" b="0" dirty="0"/>
              <a:t>や</a:t>
            </a:r>
            <a:r>
              <a:rPr lang="en-US" altLang="ja-JP" b="0" dirty="0"/>
              <a:t>『</a:t>
            </a:r>
            <a:r>
              <a:rPr lang="ja-JP" altLang="en-US" b="0" dirty="0"/>
              <a:t>全話</a:t>
            </a:r>
            <a:r>
              <a:rPr lang="en-US" altLang="ja-JP" b="0" dirty="0"/>
              <a:t>』</a:t>
            </a:r>
            <a:r>
              <a:rPr lang="ja-JP" altLang="en-US" b="0" dirty="0"/>
              <a:t>であり、これは一見矛盾しているように見えますが、あらすじ内で</a:t>
            </a:r>
            <a:r>
              <a:rPr lang="en-US" altLang="ja-JP" b="0" dirty="0"/>
              <a:t>『</a:t>
            </a:r>
            <a:r>
              <a:rPr lang="ja-JP" altLang="en-US" b="0" dirty="0"/>
              <a:t>第一部完結</a:t>
            </a:r>
            <a:r>
              <a:rPr lang="en-US" altLang="ja-JP" b="0" dirty="0"/>
              <a:t>』</a:t>
            </a:r>
            <a:r>
              <a:rPr lang="ja-JP" altLang="en-US" b="0" dirty="0"/>
              <a:t>などと書きつつ、システム設定は</a:t>
            </a:r>
            <a:r>
              <a:rPr lang="en-US" altLang="ja-JP" b="0" dirty="0"/>
              <a:t>『</a:t>
            </a:r>
            <a:r>
              <a:rPr lang="ja-JP" altLang="en-US" b="0" dirty="0"/>
              <a:t>連載中</a:t>
            </a:r>
            <a:r>
              <a:rPr lang="en-US" altLang="ja-JP" b="0" dirty="0"/>
              <a:t>』</a:t>
            </a:r>
            <a:r>
              <a:rPr lang="ja-JP" altLang="en-US" b="0" dirty="0"/>
              <a:t>のまま放置され実質エタっている作品をモデルが検知しているためと考えられます。 </a:t>
            </a:r>
            <a:endParaRPr lang="en-US" altLang="ja-JP" b="0" dirty="0"/>
          </a:p>
          <a:p>
            <a:r>
              <a:rPr lang="ja-JP" altLang="en-US" b="0" dirty="0"/>
              <a:t>また、</a:t>
            </a:r>
            <a:r>
              <a:rPr lang="en-US" altLang="ja-JP" b="0" dirty="0"/>
              <a:t>『</a:t>
            </a:r>
            <a:r>
              <a:rPr lang="ja-JP" altLang="en-US" b="0" dirty="0"/>
              <a:t>カクヨム</a:t>
            </a:r>
            <a:r>
              <a:rPr lang="en-US" altLang="ja-JP" b="0" dirty="0"/>
              <a:t>』</a:t>
            </a:r>
            <a:r>
              <a:rPr lang="ja-JP" altLang="en-US" b="0" dirty="0"/>
              <a:t>などの外部サイト名も挙がっており、複数サイトでマルチポストをしている作者は更新が止まりやすい傾向も確認できました。</a:t>
            </a:r>
          </a:p>
          <a:p>
            <a:r>
              <a:rPr lang="ja-JP" altLang="en-US" b="0" dirty="0"/>
              <a:t>一方</a:t>
            </a:r>
            <a:r>
              <a:rPr lang="en-US" altLang="ja-JP" b="0" dirty="0"/>
              <a:t>BERT</a:t>
            </a:r>
            <a:r>
              <a:rPr lang="ja-JP" altLang="en-US" b="0" dirty="0"/>
              <a:t>の完結判定の上位には</a:t>
            </a:r>
            <a:r>
              <a:rPr lang="en-US" altLang="ja-JP" b="0" dirty="0"/>
              <a:t>『</a:t>
            </a:r>
            <a:r>
              <a:rPr lang="ja-JP" altLang="en-US" b="0" dirty="0"/>
              <a:t>です</a:t>
            </a:r>
            <a:r>
              <a:rPr lang="en-US" altLang="ja-JP" b="0" dirty="0"/>
              <a:t>』</a:t>
            </a:r>
            <a:r>
              <a:rPr lang="ja-JP" altLang="en-US" b="0" dirty="0"/>
              <a:t>や</a:t>
            </a:r>
            <a:r>
              <a:rPr lang="en-US" altLang="ja-JP" b="0" dirty="0"/>
              <a:t>『</a:t>
            </a:r>
            <a:r>
              <a:rPr lang="ja-JP" altLang="en-US" b="0" dirty="0"/>
              <a:t>ます</a:t>
            </a:r>
            <a:r>
              <a:rPr lang="en-US" altLang="ja-JP" b="0" dirty="0"/>
              <a:t>』</a:t>
            </a:r>
            <a:r>
              <a:rPr lang="ja-JP" altLang="en-US" b="0" dirty="0"/>
              <a:t>といった単語が並び、単語の意味だけでなく、文体の特徴を強く捉えていることが示唆されました。</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13</a:t>
            </a:fld>
            <a:endParaRPr kumimoji="1" lang="ja-JP" altLang="en-US"/>
          </a:p>
        </p:txBody>
      </p:sp>
    </p:spTree>
    <p:extLst>
      <p:ext uri="{BB962C8B-B14F-4D97-AF65-F5344CB8AC3E}">
        <p14:creationId xmlns:p14="http://schemas.microsoft.com/office/powerpoint/2010/main" val="426702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rtl="0"/>
            <a:r>
              <a:rPr kumimoji="1" lang="ja-JP" altLang="en-US" sz="1200" kern="1200" dirty="0">
                <a:solidFill>
                  <a:schemeClr val="tx1"/>
                </a:solidFill>
                <a:effectLst/>
                <a:latin typeface="+mn-lt"/>
                <a:ea typeface="+mn-ea"/>
                <a:cs typeface="+mn-cs"/>
              </a:rPr>
              <a:t>ジャンル別重要語分析です。</a:t>
            </a:r>
          </a:p>
          <a:p>
            <a:pPr rtl="0"/>
            <a:r>
              <a:rPr kumimoji="1" lang="ja-JP" altLang="en-US" sz="1200" kern="1200" dirty="0">
                <a:solidFill>
                  <a:schemeClr val="tx1"/>
                </a:solidFill>
                <a:effectLst/>
                <a:latin typeface="+mn-lt"/>
                <a:ea typeface="+mn-ea"/>
                <a:cs typeface="+mn-cs"/>
              </a:rPr>
              <a:t>異世界（恋愛）では、「カクヨム」や「掲載」といったマルチポストを示す明確な指標が示されました。</a:t>
            </a:r>
          </a:p>
          <a:p>
            <a:pPr rtl="0"/>
            <a:r>
              <a:rPr lang="ja-JP" altLang="en-US" dirty="0"/>
              <a:t>一方で、純文学で特徴的なのは「企画」や「連作」という単語あり、特定の「企画」イベントに合わせて執筆されたり、話数の少ない実質的な短編として書かれたりするケースが多いと考えられます。</a:t>
            </a:r>
            <a:endParaRPr lang="en-US" altLang="ja-JP" dirty="0"/>
          </a:p>
          <a:p>
            <a:pPr rtl="0"/>
            <a:r>
              <a:rPr lang="ja-JP" altLang="en-US" dirty="0"/>
              <a:t>そのためイベントの終了や短編の区切りで執筆が自然と止まってしまい、明確な「完結」宣言がなされないまま放置されやすい傾向があると考えられます。</a:t>
            </a:r>
            <a:endParaRPr lang="en-US" altLang="ja-JP" dirty="0"/>
          </a:p>
          <a:p>
            <a:pPr rtl="0"/>
            <a:r>
              <a:rPr lang="ja-JP" altLang="en-US" dirty="0"/>
              <a:t>先ほどの</a:t>
            </a:r>
            <a:r>
              <a:rPr lang="en-US" altLang="ja-JP" dirty="0"/>
              <a:t>BERT</a:t>
            </a:r>
            <a:r>
              <a:rPr lang="ja-JP" altLang="en-US" dirty="0"/>
              <a:t>モデルにおいて純文学の性能が伸び悩んだ理由は、こうした「単発的な執筆スタイル」に起因する、予測の難しさがあるためだと推察されます。</a:t>
            </a:r>
            <a:endParaRPr kumimoji="1" lang="ja-JP" altLang="en-US" sz="120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14</a:t>
            </a:fld>
            <a:endParaRPr kumimoji="1" lang="ja-JP" altLang="en-US"/>
          </a:p>
        </p:txBody>
      </p:sp>
    </p:spTree>
    <p:extLst>
      <p:ext uri="{BB962C8B-B14F-4D97-AF65-F5344CB8AC3E}">
        <p14:creationId xmlns:p14="http://schemas.microsoft.com/office/powerpoint/2010/main" val="3658653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dirty="0"/>
              <a:t>結論として「数値データの優位性」が確認されました。 </a:t>
            </a:r>
            <a:endParaRPr lang="en-US" altLang="ja-JP" b="0" dirty="0"/>
          </a:p>
          <a:p>
            <a:r>
              <a:rPr lang="ja-JP" altLang="en-US" b="0" dirty="0"/>
              <a:t>あらすじを用いたテキスト分析は、</a:t>
            </a:r>
            <a:r>
              <a:rPr lang="en-US" altLang="ja-JP" b="0" dirty="0"/>
              <a:t>3</a:t>
            </a:r>
            <a:r>
              <a:rPr lang="ja-JP" altLang="en-US" b="0" dirty="0"/>
              <a:t>手法とも結果が拮抗しており、テキスト単体では数値モデルの性能には及びませんでした。 </a:t>
            </a:r>
            <a:endParaRPr lang="en-US" altLang="ja-JP" b="0" dirty="0"/>
          </a:p>
          <a:p>
            <a:r>
              <a:rPr lang="ja-JP" altLang="en-US" b="0" dirty="0"/>
              <a:t>ただし、</a:t>
            </a:r>
            <a:r>
              <a:rPr lang="en-US" altLang="ja-JP" b="0" dirty="0"/>
              <a:t>LIME</a:t>
            </a:r>
            <a:r>
              <a:rPr lang="ja-JP" altLang="en-US" b="0" dirty="0"/>
              <a:t>による分析で、短編の積み重ねや企画参加といった、数値には表れない定性的なエタり要因を発見できました。</a:t>
            </a:r>
          </a:p>
          <a:p>
            <a:r>
              <a:rPr lang="ja-JP" altLang="en-US" b="0" dirty="0"/>
              <a:t>今後の展望として数値とあらすじを統合した「マルチモーダルモデルの構築」を行い、さらなる「誤分類の抑制」を目指します。</a:t>
            </a:r>
          </a:p>
          <a:p>
            <a:r>
              <a:rPr lang="ja-JP" altLang="en-US" b="0" dirty="0"/>
              <a:t>予測性能の向上に伴って、執筆者への支援のみならず読者にとっても「エタる可能性が高い作品」を見分けやすくなるため、安心して作品を読める環境づくりに貢献できると考えて</a:t>
            </a:r>
            <a:r>
              <a:rPr lang="ja-JP" altLang="en-US" b="0"/>
              <a:t>います。以上</a:t>
            </a:r>
            <a:r>
              <a:rPr lang="ja-JP" altLang="en-US" b="0" dirty="0"/>
              <a:t>で発表を終わります。</a:t>
            </a:r>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15</a:t>
            </a:fld>
            <a:endParaRPr kumimoji="1" lang="ja-JP" altLang="en-US"/>
          </a:p>
        </p:txBody>
      </p:sp>
    </p:spTree>
    <p:extLst>
      <p:ext uri="{BB962C8B-B14F-4D97-AF65-F5344CB8AC3E}">
        <p14:creationId xmlns:p14="http://schemas.microsoft.com/office/powerpoint/2010/main" val="4041158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想定される質疑応答（</a:t>
            </a:r>
            <a:r>
              <a:rPr lang="en-US" altLang="ja-JP" b="1" dirty="0"/>
              <a:t>Q&amp;A</a:t>
            </a:r>
            <a:r>
              <a:rPr lang="ja-JP" altLang="en-US" b="1" dirty="0"/>
              <a:t>）対策</a:t>
            </a:r>
          </a:p>
          <a:p>
            <a:r>
              <a:rPr lang="ja-JP" altLang="en-US" dirty="0"/>
              <a:t>発表後の</a:t>
            </a:r>
            <a:r>
              <a:rPr lang="en-US" altLang="ja-JP" dirty="0"/>
              <a:t>2</a:t>
            </a:r>
            <a:r>
              <a:rPr lang="ja-JP" altLang="en-US" dirty="0"/>
              <a:t>分間で聞かれそうな質問とその回答例です。</a:t>
            </a:r>
          </a:p>
          <a:p>
            <a:r>
              <a:rPr lang="en-US" altLang="ja-JP" b="1" dirty="0"/>
              <a:t>Q1. </a:t>
            </a:r>
            <a:r>
              <a:rPr lang="ja-JP" altLang="en-US" b="1" dirty="0"/>
              <a:t>なぜ</a:t>
            </a:r>
            <a:r>
              <a:rPr lang="en-US" altLang="ja-JP" b="1" dirty="0"/>
              <a:t>BERT</a:t>
            </a:r>
            <a:r>
              <a:rPr lang="ja-JP" altLang="en-US" b="1" dirty="0"/>
              <a:t>がそこまで高性能（</a:t>
            </a:r>
            <a:r>
              <a:rPr lang="en-US" altLang="ja-JP" b="1" dirty="0"/>
              <a:t>90%</a:t>
            </a:r>
            <a:r>
              <a:rPr lang="ja-JP" altLang="en-US" b="1" dirty="0"/>
              <a:t>）になったのですか？</a:t>
            </a:r>
            <a:endParaRPr lang="ja-JP" altLang="en-US" dirty="0"/>
          </a:p>
          <a:p>
            <a:r>
              <a:rPr lang="en-US" altLang="ja-JP" b="1" dirty="0"/>
              <a:t>A.</a:t>
            </a:r>
            <a:r>
              <a:rPr lang="ja-JP" altLang="en-US" dirty="0"/>
              <a:t> </a:t>
            </a:r>
            <a:r>
              <a:rPr lang="en-US" altLang="ja-JP" dirty="0"/>
              <a:t>BERT</a:t>
            </a:r>
            <a:r>
              <a:rPr lang="ja-JP" altLang="en-US" dirty="0"/>
              <a:t>は単語単体ではなく文脈を双方向から理解できるためです。特に</a:t>
            </a:r>
            <a:r>
              <a:rPr lang="en-US" altLang="ja-JP" dirty="0"/>
              <a:t>LIME</a:t>
            </a:r>
            <a:r>
              <a:rPr lang="ja-JP" altLang="en-US" dirty="0"/>
              <a:t>の結果からも分かる通り、丁寧語の使用など「文体」に含まれる作者の几帳面さや、微妙なニュアンスを捉えられたことが、</a:t>
            </a:r>
            <a:r>
              <a:rPr lang="en-US" altLang="ja-JP" dirty="0"/>
              <a:t>TF-IDF</a:t>
            </a:r>
            <a:r>
              <a:rPr lang="ja-JP" altLang="en-US" dirty="0"/>
              <a:t>などとの決定的な差になったと考えています。</a:t>
            </a:r>
          </a:p>
          <a:p>
            <a:r>
              <a:rPr lang="en-US" altLang="ja-JP" b="1" dirty="0"/>
              <a:t>Q2. </a:t>
            </a:r>
            <a:r>
              <a:rPr lang="ja-JP" altLang="en-US" b="1" dirty="0"/>
              <a:t>「完結」という単語がエタりに寄与するのはデータがおかしいのでは？</a:t>
            </a:r>
            <a:endParaRPr lang="ja-JP" altLang="en-US" dirty="0"/>
          </a:p>
          <a:p>
            <a:r>
              <a:rPr lang="en-US" altLang="ja-JP" b="1" dirty="0"/>
              <a:t>A.</a:t>
            </a:r>
            <a:r>
              <a:rPr lang="ja-JP" altLang="en-US" dirty="0"/>
              <a:t> 定義上、システム設定が「連載中」であればエタりとみなすため、データ自体は仕様通りです。むしろ、「あらすじで完結と言っているのに設定を変えていない」というヒューマンエラーをモデルが正しく「エタり（放置）」の特徴として見つけ出した点が、この分析の興味深い成果だと考えています。</a:t>
            </a:r>
          </a:p>
          <a:p>
            <a:r>
              <a:rPr lang="en-US" altLang="ja-JP" b="1" dirty="0"/>
              <a:t>Q3. </a:t>
            </a:r>
            <a:r>
              <a:rPr lang="ja-JP" altLang="en-US" b="1" dirty="0"/>
              <a:t>実用化するとき、性能</a:t>
            </a:r>
            <a:r>
              <a:rPr lang="en-US" altLang="ja-JP" b="1" dirty="0"/>
              <a:t>78%(</a:t>
            </a:r>
            <a:r>
              <a:rPr lang="ja-JP" altLang="en-US" b="1" dirty="0"/>
              <a:t>数値</a:t>
            </a:r>
            <a:r>
              <a:rPr lang="en-US" altLang="ja-JP" b="1" dirty="0"/>
              <a:t>)</a:t>
            </a:r>
            <a:r>
              <a:rPr lang="ja-JP" altLang="en-US" b="1" dirty="0"/>
              <a:t>と</a:t>
            </a:r>
            <a:r>
              <a:rPr lang="en-US" altLang="ja-JP" b="1" dirty="0"/>
              <a:t>90%(BERT)</a:t>
            </a:r>
            <a:r>
              <a:rPr lang="ja-JP" altLang="en-US" b="1" dirty="0"/>
              <a:t>どちらを使いますか？</a:t>
            </a:r>
            <a:endParaRPr lang="ja-JP" altLang="en-US" dirty="0"/>
          </a:p>
          <a:p>
            <a:r>
              <a:rPr lang="en-US" altLang="ja-JP" b="1" dirty="0"/>
              <a:t>A.</a:t>
            </a:r>
            <a:r>
              <a:rPr lang="ja-JP" altLang="en-US" dirty="0"/>
              <a:t> 理想は両方を組み合わせたマルチモーダルモデルです。ただ、投稿初期段階（データが少ない状態）ではあらすじ等のテキスト情報が有用で、連載が長期化してくると更新頻度などの数値情報が効いてくると予想されるため、フェーズによって重み付けを変えるのが適切だと考えています。</a:t>
            </a:r>
          </a:p>
          <a:p>
            <a:r>
              <a:rPr lang="en-US" altLang="ja-JP" b="1" dirty="0"/>
              <a:t>Q4. </a:t>
            </a:r>
            <a:r>
              <a:rPr lang="ja-JP" altLang="en-US" b="1" dirty="0"/>
              <a:t>どのような支援システムを想定していますか？</a:t>
            </a:r>
            <a:endParaRPr lang="ja-JP" altLang="en-US" dirty="0"/>
          </a:p>
          <a:p>
            <a:r>
              <a:rPr lang="en-US" altLang="ja-JP" b="1" dirty="0"/>
              <a:t>A.</a:t>
            </a:r>
            <a:r>
              <a:rPr lang="ja-JP" altLang="en-US" dirty="0"/>
              <a:t> 執筆画面において、更新間隔が空きすぎたり、あらすじにネガティブな兆候が出た際にアラートを出す機能を想定しています。また、単に警告するだけでなく、生成</a:t>
            </a:r>
            <a:r>
              <a:rPr lang="en-US" altLang="ja-JP" dirty="0"/>
              <a:t>AI</a:t>
            </a:r>
            <a:r>
              <a:rPr lang="ja-JP" altLang="en-US" dirty="0"/>
              <a:t>を用いて「次の展開のアイデア」を提示することで、モチベーション低下を防ぐ仕組みを作りたいです。</a:t>
            </a:r>
          </a:p>
          <a:p>
            <a:r>
              <a:rPr lang="ja-JP" altLang="en-US" b="1" dirty="0"/>
              <a:t>資料作成のアドバイス</a:t>
            </a:r>
          </a:p>
          <a:p>
            <a:r>
              <a:rPr lang="ja-JP" altLang="en-US" b="1" dirty="0"/>
              <a:t>図表を大きく</a:t>
            </a:r>
            <a:r>
              <a:rPr lang="en-US" altLang="ja-JP" dirty="0"/>
              <a:t>: </a:t>
            </a:r>
            <a:r>
              <a:rPr lang="ja-JP" altLang="en-US" dirty="0"/>
              <a:t>スライド</a:t>
            </a:r>
            <a:r>
              <a:rPr lang="en-US" altLang="ja-JP" dirty="0"/>
              <a:t>7</a:t>
            </a:r>
            <a:r>
              <a:rPr lang="ja-JP" altLang="en-US" dirty="0"/>
              <a:t>、</a:t>
            </a:r>
            <a:r>
              <a:rPr lang="en-US" altLang="ja-JP" dirty="0"/>
              <a:t>8</a:t>
            </a:r>
            <a:r>
              <a:rPr lang="ja-JP" altLang="en-US" dirty="0"/>
              <a:t>、</a:t>
            </a:r>
            <a:r>
              <a:rPr lang="en-US" altLang="ja-JP" dirty="0"/>
              <a:t>9</a:t>
            </a:r>
            <a:r>
              <a:rPr lang="ja-JP" altLang="en-US" dirty="0"/>
              <a:t>のグラフや</a:t>
            </a:r>
            <a:r>
              <a:rPr lang="en-US" altLang="ja-JP" dirty="0"/>
              <a:t>LIME</a:t>
            </a:r>
            <a:r>
              <a:rPr lang="ja-JP" altLang="en-US" dirty="0"/>
              <a:t>の画像は、文字を読ませるのではなく「色（青と赤）の傾向」をパッと見せるように大きく配置してください。</a:t>
            </a:r>
          </a:p>
          <a:p>
            <a:r>
              <a:rPr lang="ja-JP" altLang="en-US" b="1" dirty="0"/>
              <a:t>文字は少なく</a:t>
            </a:r>
            <a:r>
              <a:rPr lang="en-US" altLang="ja-JP" dirty="0"/>
              <a:t>: </a:t>
            </a:r>
            <a:r>
              <a:rPr lang="ja-JP" altLang="en-US" dirty="0"/>
              <a:t>スライドに書いてあることをそのまま読むのは</a:t>
            </a:r>
            <a:r>
              <a:rPr lang="en-US" altLang="ja-JP" dirty="0"/>
              <a:t>NG</a:t>
            </a:r>
            <a:r>
              <a:rPr lang="ja-JP" altLang="en-US" dirty="0"/>
              <a:t>です。スライドは箇条書きにし、詳細は口頭で補足しましょう。</a:t>
            </a:r>
          </a:p>
          <a:p>
            <a:endParaRPr kumimoji="1" lang="ja-JP" altLang="en-US" dirty="0"/>
          </a:p>
        </p:txBody>
      </p:sp>
      <p:sp>
        <p:nvSpPr>
          <p:cNvPr id="4" name="スライド番号プレースホルダー 3"/>
          <p:cNvSpPr>
            <a:spLocks noGrp="1"/>
          </p:cNvSpPr>
          <p:nvPr>
            <p:ph type="sldNum" sz="quarter" idx="5"/>
          </p:nvPr>
        </p:nvSpPr>
        <p:spPr/>
        <p:txBody>
          <a:bodyPr/>
          <a:lstStyle/>
          <a:p>
            <a:fld id="{9ABF0DE7-1166-456E-A1F7-534AEBE59C57}" type="slidenum">
              <a:rPr kumimoji="1" lang="ja-JP" altLang="en-US" smtClean="0"/>
              <a:t>16</a:t>
            </a:fld>
            <a:endParaRPr kumimoji="1" lang="ja-JP" altLang="en-US"/>
          </a:p>
        </p:txBody>
      </p:sp>
    </p:spTree>
    <p:extLst>
      <p:ext uri="{BB962C8B-B14F-4D97-AF65-F5344CB8AC3E}">
        <p14:creationId xmlns:p14="http://schemas.microsoft.com/office/powerpoint/2010/main" val="3063677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260DB2-95D1-5C5A-41DD-D0B4EA21853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9D42BDE-AF49-C939-CCD5-C340FD7FE9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C6357BC-022F-2AA1-3340-1E9D19B87CD5}"/>
              </a:ext>
            </a:extLst>
          </p:cNvPr>
          <p:cNvSpPr>
            <a:spLocks noGrp="1"/>
          </p:cNvSpPr>
          <p:nvPr>
            <p:ph type="dt" sz="half" idx="10"/>
          </p:nvPr>
        </p:nvSpPr>
        <p:spPr/>
        <p:txBody>
          <a:bodyPr/>
          <a:lstStyle/>
          <a:p>
            <a:fld id="{047121D6-A0BF-43EC-AA37-D55B58146187}" type="datetime1">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63D990FA-E07C-2779-6F20-33581D83E6A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B86C350-7C2C-3F8D-390D-D9A3462C4DAE}"/>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3694213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5BFEA3-B20B-E665-8BDF-C7DCFD2B9EC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D0CF664-7511-8CD5-977B-F1E0D9B0DE7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5B3BFE-46A1-EDB5-F526-FBE1498E0511}"/>
              </a:ext>
            </a:extLst>
          </p:cNvPr>
          <p:cNvSpPr>
            <a:spLocks noGrp="1"/>
          </p:cNvSpPr>
          <p:nvPr>
            <p:ph type="dt" sz="half" idx="10"/>
          </p:nvPr>
        </p:nvSpPr>
        <p:spPr/>
        <p:txBody>
          <a:bodyPr/>
          <a:lstStyle/>
          <a:p>
            <a:fld id="{C4FCA76D-C037-4CCB-A2D3-0C16C6832BAB}" type="datetime1">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2DEEAD81-AB03-0A6E-D7C2-CB5FD9D311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1DFADCA-F97D-056C-6F95-3DFEE94709A0}"/>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4167590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7F1225-C3CF-D685-4FC1-40133A395E1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5B7369-6114-AEB9-EF30-F2C4440549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A2F2576-42AB-03C4-993F-61DDFA2836FC}"/>
              </a:ext>
            </a:extLst>
          </p:cNvPr>
          <p:cNvSpPr>
            <a:spLocks noGrp="1"/>
          </p:cNvSpPr>
          <p:nvPr>
            <p:ph type="dt" sz="half" idx="10"/>
          </p:nvPr>
        </p:nvSpPr>
        <p:spPr/>
        <p:txBody>
          <a:bodyPr/>
          <a:lstStyle/>
          <a:p>
            <a:fld id="{55556E65-C38E-4C68-9F55-8958A2829AE1}" type="datetime1">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4A718FA7-8FF5-59C8-7FFE-AC5F585C72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E6C0D74-B0D1-D229-4BD8-4B08F5CB5250}"/>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71958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684396-67F8-53EA-50B4-D9D81DE1995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3E0EB65-276E-8DB0-AB2F-4C54F47656A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1229FAC-FF2E-BBC4-37FA-90B90044AE0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C9B9C9D-A553-3DFD-7A7D-39B47FB6541E}"/>
              </a:ext>
            </a:extLst>
          </p:cNvPr>
          <p:cNvSpPr>
            <a:spLocks noGrp="1"/>
          </p:cNvSpPr>
          <p:nvPr>
            <p:ph type="dt" sz="half" idx="10"/>
          </p:nvPr>
        </p:nvSpPr>
        <p:spPr/>
        <p:txBody>
          <a:bodyPr/>
          <a:lstStyle/>
          <a:p>
            <a:fld id="{7F7CB565-A751-412B-B7A6-248628A025E8}" type="datetime1">
              <a:rPr kumimoji="1" lang="ja-JP" altLang="en-US" smtClean="0"/>
              <a:t>2026/2/9</a:t>
            </a:fld>
            <a:endParaRPr kumimoji="1" lang="ja-JP" altLang="en-US"/>
          </a:p>
        </p:txBody>
      </p:sp>
      <p:sp>
        <p:nvSpPr>
          <p:cNvPr id="6" name="フッター プレースホルダー 5">
            <a:extLst>
              <a:ext uri="{FF2B5EF4-FFF2-40B4-BE49-F238E27FC236}">
                <a16:creationId xmlns:a16="http://schemas.microsoft.com/office/drawing/2014/main" id="{24D2D4E1-6915-F363-DB2B-FB9D0E2736D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85A2F91-2D9F-FC2A-2E4E-C1D1CBCA2B94}"/>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4192331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DDAA1B-66ED-5756-4081-DB89C0BF0D9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6A41283-6D98-E0DC-658D-E029C84155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E9C28DA-BBAE-8C87-DD77-8B0EF80820B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7B4B5E4-06CC-EDFA-36C2-3771752AEA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A140558-842E-E80F-EC4C-200A3260B7E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7620B3D-C6D2-ABDE-A4BC-6E64D0014002}"/>
              </a:ext>
            </a:extLst>
          </p:cNvPr>
          <p:cNvSpPr>
            <a:spLocks noGrp="1"/>
          </p:cNvSpPr>
          <p:nvPr>
            <p:ph type="dt" sz="half" idx="10"/>
          </p:nvPr>
        </p:nvSpPr>
        <p:spPr/>
        <p:txBody>
          <a:bodyPr/>
          <a:lstStyle/>
          <a:p>
            <a:fld id="{AEC9495D-CF49-43C5-9C6D-7CD1DEB9B8B7}" type="datetime1">
              <a:rPr kumimoji="1" lang="ja-JP" altLang="en-US" smtClean="0"/>
              <a:t>2026/2/9</a:t>
            </a:fld>
            <a:endParaRPr kumimoji="1" lang="ja-JP" altLang="en-US"/>
          </a:p>
        </p:txBody>
      </p:sp>
      <p:sp>
        <p:nvSpPr>
          <p:cNvPr id="8" name="フッター プレースホルダー 7">
            <a:extLst>
              <a:ext uri="{FF2B5EF4-FFF2-40B4-BE49-F238E27FC236}">
                <a16:creationId xmlns:a16="http://schemas.microsoft.com/office/drawing/2014/main" id="{500B21EC-8D1F-F7E8-BBE0-EE363B82EAE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ADA8709-5D83-4C7E-BA1B-C459365CB8DB}"/>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2641430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D7C116-55DF-3756-F5C4-A1B7CD887FF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22B4B81-DCEC-2C52-6552-B05B276B1240}"/>
              </a:ext>
            </a:extLst>
          </p:cNvPr>
          <p:cNvSpPr>
            <a:spLocks noGrp="1"/>
          </p:cNvSpPr>
          <p:nvPr>
            <p:ph type="dt" sz="half" idx="10"/>
          </p:nvPr>
        </p:nvSpPr>
        <p:spPr/>
        <p:txBody>
          <a:bodyPr/>
          <a:lstStyle/>
          <a:p>
            <a:fld id="{28E7EDF0-3649-4F70-8D1C-D42AC93FDB97}" type="datetime1">
              <a:rPr kumimoji="1" lang="ja-JP" altLang="en-US" smtClean="0"/>
              <a:t>2026/2/9</a:t>
            </a:fld>
            <a:endParaRPr kumimoji="1" lang="ja-JP" altLang="en-US"/>
          </a:p>
        </p:txBody>
      </p:sp>
      <p:sp>
        <p:nvSpPr>
          <p:cNvPr id="4" name="フッター プレースホルダー 3">
            <a:extLst>
              <a:ext uri="{FF2B5EF4-FFF2-40B4-BE49-F238E27FC236}">
                <a16:creationId xmlns:a16="http://schemas.microsoft.com/office/drawing/2014/main" id="{D67BA439-FA1C-1764-2E46-3C1A126EF2C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DE2D650-FDBC-8F6C-27C4-D3ADB7EA5047}"/>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3625805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ACFADC1-C131-1AA6-89BB-71EA5121A4C4}"/>
              </a:ext>
            </a:extLst>
          </p:cNvPr>
          <p:cNvSpPr>
            <a:spLocks noGrp="1"/>
          </p:cNvSpPr>
          <p:nvPr>
            <p:ph type="dt" sz="half" idx="10"/>
          </p:nvPr>
        </p:nvSpPr>
        <p:spPr/>
        <p:txBody>
          <a:bodyPr/>
          <a:lstStyle/>
          <a:p>
            <a:fld id="{7593A1C9-E1F9-43C8-9F74-EB76DBD5CE45}" type="datetime1">
              <a:rPr kumimoji="1" lang="ja-JP" altLang="en-US" smtClean="0"/>
              <a:t>2026/2/9</a:t>
            </a:fld>
            <a:endParaRPr kumimoji="1" lang="ja-JP" altLang="en-US"/>
          </a:p>
        </p:txBody>
      </p:sp>
      <p:sp>
        <p:nvSpPr>
          <p:cNvPr id="3" name="フッター プレースホルダー 2">
            <a:extLst>
              <a:ext uri="{FF2B5EF4-FFF2-40B4-BE49-F238E27FC236}">
                <a16:creationId xmlns:a16="http://schemas.microsoft.com/office/drawing/2014/main" id="{1207D912-2D92-C765-8563-1F29F6F1A34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BAD4356-6084-8F4A-B68D-687FC389C046}"/>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2660601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7525E1-D2FB-8145-4EAD-76B51469927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97707A8-A135-F994-049E-A6883A26AC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6E1CFE3-A1CD-610C-C51E-30E3BFE8A8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B8C34D7-137E-D6AA-806D-84DE100A4B27}"/>
              </a:ext>
            </a:extLst>
          </p:cNvPr>
          <p:cNvSpPr>
            <a:spLocks noGrp="1"/>
          </p:cNvSpPr>
          <p:nvPr>
            <p:ph type="dt" sz="half" idx="10"/>
          </p:nvPr>
        </p:nvSpPr>
        <p:spPr/>
        <p:txBody>
          <a:bodyPr/>
          <a:lstStyle/>
          <a:p>
            <a:fld id="{FFEEBB4E-E241-4031-ABB6-E106BD9C60D4}" type="datetime1">
              <a:rPr kumimoji="1" lang="ja-JP" altLang="en-US" smtClean="0"/>
              <a:t>2026/2/9</a:t>
            </a:fld>
            <a:endParaRPr kumimoji="1" lang="ja-JP" altLang="en-US"/>
          </a:p>
        </p:txBody>
      </p:sp>
      <p:sp>
        <p:nvSpPr>
          <p:cNvPr id="6" name="フッター プレースホルダー 5">
            <a:extLst>
              <a:ext uri="{FF2B5EF4-FFF2-40B4-BE49-F238E27FC236}">
                <a16:creationId xmlns:a16="http://schemas.microsoft.com/office/drawing/2014/main" id="{F9E1B37B-C77C-48C1-5B72-B1A17E2D6B9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1575D92-31F6-D09D-B254-1BBA402E8401}"/>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2448345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60F0FD-B319-79E8-C48C-C772E0B9121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600DC90-9A89-E91E-19FB-2283C3C96E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9D7C7B0-6850-D2E1-2342-B5D90F6236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A2C5B3F-E59C-AF97-A0EE-77618068F732}"/>
              </a:ext>
            </a:extLst>
          </p:cNvPr>
          <p:cNvSpPr>
            <a:spLocks noGrp="1"/>
          </p:cNvSpPr>
          <p:nvPr>
            <p:ph type="dt" sz="half" idx="10"/>
          </p:nvPr>
        </p:nvSpPr>
        <p:spPr/>
        <p:txBody>
          <a:bodyPr/>
          <a:lstStyle/>
          <a:p>
            <a:fld id="{2900D39F-66D2-4CC4-A270-F3CDC908ED80}" type="datetime1">
              <a:rPr kumimoji="1" lang="ja-JP" altLang="en-US" smtClean="0"/>
              <a:t>2026/2/9</a:t>
            </a:fld>
            <a:endParaRPr kumimoji="1" lang="ja-JP" altLang="en-US"/>
          </a:p>
        </p:txBody>
      </p:sp>
      <p:sp>
        <p:nvSpPr>
          <p:cNvPr id="6" name="フッター プレースホルダー 5">
            <a:extLst>
              <a:ext uri="{FF2B5EF4-FFF2-40B4-BE49-F238E27FC236}">
                <a16:creationId xmlns:a16="http://schemas.microsoft.com/office/drawing/2014/main" id="{F0FD9177-2D8B-A42F-278E-4C8F95B351B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311F067-F86E-9A62-6D3F-0ADB4AE213AD}"/>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1043271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503CA5-623E-30D2-4A89-19C1AC21B6F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6EF9077-6C7A-F5AC-1A19-F3601C3D3CE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6E0E9F-E508-8FDE-9AD7-6B2B660B8627}"/>
              </a:ext>
            </a:extLst>
          </p:cNvPr>
          <p:cNvSpPr>
            <a:spLocks noGrp="1"/>
          </p:cNvSpPr>
          <p:nvPr>
            <p:ph type="dt" sz="half" idx="10"/>
          </p:nvPr>
        </p:nvSpPr>
        <p:spPr/>
        <p:txBody>
          <a:bodyPr/>
          <a:lstStyle/>
          <a:p>
            <a:fld id="{0898949E-51F9-4541-939B-841874ACFC1A}" type="datetime1">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8C11ABAE-C108-2A8D-590F-EC4987100CC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3C3053-5EF1-5C88-47AD-C63FAD540DD0}"/>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603461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626E766-23E9-0EBF-49DB-8D57A576491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871CAA1-CCD5-6F59-F426-9A44E2ECCE8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EB6E0B3-71E3-638F-F0CF-06186CF53CF5}"/>
              </a:ext>
            </a:extLst>
          </p:cNvPr>
          <p:cNvSpPr>
            <a:spLocks noGrp="1"/>
          </p:cNvSpPr>
          <p:nvPr>
            <p:ph type="dt" sz="half" idx="10"/>
          </p:nvPr>
        </p:nvSpPr>
        <p:spPr/>
        <p:txBody>
          <a:bodyPr/>
          <a:lstStyle/>
          <a:p>
            <a:fld id="{49F2FD91-F7FA-40C6-AA42-72B81E2020B3}" type="datetime1">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5EC48F04-F14E-2297-206A-ED0FAB576E8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BD5B1F-A420-2F76-34E5-C20D89C7E339}"/>
              </a:ext>
            </a:extLst>
          </p:cNvPr>
          <p:cNvSpPr>
            <a:spLocks noGrp="1"/>
          </p:cNvSpPr>
          <p:nvPr>
            <p:ph type="sldNum" sz="quarter" idx="12"/>
          </p:nvPr>
        </p:nvSpPr>
        <p:spPr/>
        <p:txBody>
          <a:body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3310564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75B7CC9-45F9-6AD6-81D8-776D9BF763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24FF556-0E97-1518-6D2A-E0C4FE19E4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BACE206-A4FD-0591-845A-007278AC73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547D35-4585-4D62-B5BE-70D6103805D8}" type="datetime1">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BCF47AD7-7DFD-346E-C3B0-F6F1ABB04F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3F29B7D-B9FF-BB79-79C9-1F793B11AD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5BCB22-CB69-44BC-B16E-26E4C24063E2}" type="slidenum">
              <a:rPr kumimoji="1" lang="ja-JP" altLang="en-US" smtClean="0"/>
              <a:t>‹#›</a:t>
            </a:fld>
            <a:endParaRPr kumimoji="1" lang="ja-JP" altLang="en-US"/>
          </a:p>
        </p:txBody>
      </p:sp>
    </p:spTree>
    <p:extLst>
      <p:ext uri="{BB962C8B-B14F-4D97-AF65-F5344CB8AC3E}">
        <p14:creationId xmlns:p14="http://schemas.microsoft.com/office/powerpoint/2010/main" val="38321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E1CF4-8868-DEB2-596C-DB6AD76BD2AD}"/>
              </a:ext>
            </a:extLst>
          </p:cNvPr>
          <p:cNvSpPr>
            <a:spLocks noGrp="1"/>
          </p:cNvSpPr>
          <p:nvPr>
            <p:ph type="ctrTitle"/>
          </p:nvPr>
        </p:nvSpPr>
        <p:spPr/>
        <p:txBody>
          <a:bodyPr>
            <a:normAutofit/>
          </a:bodyPr>
          <a:lstStyle/>
          <a:p>
            <a:r>
              <a:rPr lang="ja-JP" altLang="en-US" sz="4400" b="1" dirty="0"/>
              <a:t>ウェブ小説のメタデータに基づく</a:t>
            </a:r>
            <a:br>
              <a:rPr lang="en-US" altLang="ja-JP" sz="4400" b="1" dirty="0"/>
            </a:br>
            <a:r>
              <a:rPr lang="ja-JP" altLang="en-US" sz="4400" b="1" dirty="0"/>
              <a:t>連載放棄（エタり）の予測</a:t>
            </a:r>
            <a:endParaRPr kumimoji="1" lang="ja-JP" altLang="en-US" sz="4400" b="1" dirty="0"/>
          </a:p>
        </p:txBody>
      </p:sp>
      <p:sp>
        <p:nvSpPr>
          <p:cNvPr id="3" name="字幕 2">
            <a:extLst>
              <a:ext uri="{FF2B5EF4-FFF2-40B4-BE49-F238E27FC236}">
                <a16:creationId xmlns:a16="http://schemas.microsoft.com/office/drawing/2014/main" id="{C6F4E8AE-B1A9-90D3-5BEB-0DBD036A2419}"/>
              </a:ext>
            </a:extLst>
          </p:cNvPr>
          <p:cNvSpPr>
            <a:spLocks noGrp="1"/>
          </p:cNvSpPr>
          <p:nvPr>
            <p:ph type="subTitle" idx="1"/>
          </p:nvPr>
        </p:nvSpPr>
        <p:spPr/>
        <p:txBody>
          <a:bodyPr/>
          <a:lstStyle/>
          <a:p>
            <a:r>
              <a:rPr lang="ja-JP" altLang="en-US" dirty="0"/>
              <a:t>電気通信大学　</a:t>
            </a:r>
            <a:r>
              <a:rPr lang="en-US" altLang="ja-JP" dirty="0"/>
              <a:t>Ⅰ</a:t>
            </a:r>
            <a:r>
              <a:rPr lang="ja-JP" altLang="en-US" dirty="0"/>
              <a:t>類　メディア情報学プログラム</a:t>
            </a:r>
            <a:endParaRPr lang="en-US" altLang="ja-JP" dirty="0"/>
          </a:p>
          <a:p>
            <a:r>
              <a:rPr lang="ja-JP" altLang="en-US" dirty="0"/>
              <a:t>久野研究室</a:t>
            </a:r>
            <a:endParaRPr lang="en-US" altLang="ja-JP" dirty="0"/>
          </a:p>
          <a:p>
            <a:r>
              <a:rPr lang="en-US" altLang="ja-JP" dirty="0"/>
              <a:t>2210306</a:t>
            </a:r>
            <a:r>
              <a:rPr lang="ja-JP" altLang="en-US" dirty="0"/>
              <a:t>　佐藤玲瑠</a:t>
            </a:r>
            <a:endParaRPr kumimoji="1" lang="ja-JP" altLang="en-US" dirty="0"/>
          </a:p>
        </p:txBody>
      </p:sp>
    </p:spTree>
    <p:extLst>
      <p:ext uri="{BB962C8B-B14F-4D97-AF65-F5344CB8AC3E}">
        <p14:creationId xmlns:p14="http://schemas.microsoft.com/office/powerpoint/2010/main" val="2458879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13417F-C3C2-6A2D-2F9B-058A43504BE4}"/>
              </a:ext>
            </a:extLst>
          </p:cNvPr>
          <p:cNvSpPr>
            <a:spLocks noGrp="1"/>
          </p:cNvSpPr>
          <p:nvPr>
            <p:ph type="title"/>
          </p:nvPr>
        </p:nvSpPr>
        <p:spPr/>
        <p:txBody>
          <a:bodyPr/>
          <a:lstStyle/>
          <a:p>
            <a:r>
              <a:rPr lang="ja-JP" altLang="en-US" dirty="0"/>
              <a:t>研究背景と課題</a:t>
            </a:r>
            <a:endParaRPr kumimoji="1" lang="ja-JP" altLang="en-US" dirty="0"/>
          </a:p>
        </p:txBody>
      </p:sp>
      <p:sp>
        <p:nvSpPr>
          <p:cNvPr id="3" name="コンテンツ プレースホルダー 2">
            <a:extLst>
              <a:ext uri="{FF2B5EF4-FFF2-40B4-BE49-F238E27FC236}">
                <a16:creationId xmlns:a16="http://schemas.microsoft.com/office/drawing/2014/main" id="{AA501C82-7E09-5B92-E995-CDA04CCFA9BB}"/>
              </a:ext>
            </a:extLst>
          </p:cNvPr>
          <p:cNvSpPr>
            <a:spLocks noGrp="1"/>
          </p:cNvSpPr>
          <p:nvPr>
            <p:ph idx="1"/>
          </p:nvPr>
        </p:nvSpPr>
        <p:spPr>
          <a:xfrm>
            <a:off x="838200" y="1825625"/>
            <a:ext cx="5257800" cy="1433390"/>
          </a:xfrm>
        </p:spPr>
        <p:txBody>
          <a:bodyPr>
            <a:normAutofit/>
          </a:bodyPr>
          <a:lstStyle/>
          <a:p>
            <a:r>
              <a:rPr lang="ja-JP" altLang="en-US" sz="2400" dirty="0">
                <a:solidFill>
                  <a:schemeClr val="tx1">
                    <a:lumMod val="85000"/>
                  </a:schemeClr>
                </a:solidFill>
              </a:rPr>
              <a:t>ウェブ小説投稿サイト</a:t>
            </a:r>
            <a:br>
              <a:rPr lang="en-US" altLang="ja-JP" sz="2400" dirty="0">
                <a:solidFill>
                  <a:schemeClr val="tx1">
                    <a:lumMod val="85000"/>
                  </a:schemeClr>
                </a:solidFill>
              </a:rPr>
            </a:br>
            <a:r>
              <a:rPr lang="ja-JP" altLang="en-US" sz="2200" b="1" dirty="0">
                <a:solidFill>
                  <a:schemeClr val="tx1">
                    <a:lumMod val="85000"/>
                  </a:schemeClr>
                </a:solidFill>
              </a:rPr>
              <a:t>誰でも簡単に小説を投稿できる</a:t>
            </a:r>
            <a:br>
              <a:rPr lang="en-US" altLang="ja-JP" sz="2200" b="1" dirty="0">
                <a:solidFill>
                  <a:schemeClr val="tx1">
                    <a:lumMod val="85000"/>
                  </a:schemeClr>
                </a:solidFill>
              </a:rPr>
            </a:br>
            <a:r>
              <a:rPr lang="ja-JP" altLang="en-US" sz="2200" dirty="0">
                <a:solidFill>
                  <a:schemeClr val="tx1">
                    <a:lumMod val="85000"/>
                  </a:schemeClr>
                </a:solidFill>
              </a:rPr>
              <a:t>普及に伴う膨大な作品データ</a:t>
            </a:r>
            <a:endParaRPr lang="en-US" altLang="ja-JP" sz="2200" dirty="0">
              <a:solidFill>
                <a:schemeClr val="tx1">
                  <a:lumMod val="85000"/>
                </a:schemeClr>
              </a:solidFill>
            </a:endParaRPr>
          </a:p>
        </p:txBody>
      </p:sp>
      <p:sp>
        <p:nvSpPr>
          <p:cNvPr id="4" name="テキスト ボックス 3">
            <a:extLst>
              <a:ext uri="{FF2B5EF4-FFF2-40B4-BE49-F238E27FC236}">
                <a16:creationId xmlns:a16="http://schemas.microsoft.com/office/drawing/2014/main" id="{57081528-C167-A254-8DB6-33CC61DB8DCE}"/>
              </a:ext>
            </a:extLst>
          </p:cNvPr>
          <p:cNvSpPr txBox="1"/>
          <p:nvPr/>
        </p:nvSpPr>
        <p:spPr>
          <a:xfrm>
            <a:off x="175002" y="6428618"/>
            <a:ext cx="3406391" cy="338554"/>
          </a:xfrm>
          <a:prstGeom prst="rect">
            <a:avLst/>
          </a:prstGeom>
          <a:noFill/>
        </p:spPr>
        <p:txBody>
          <a:bodyPr wrap="square" rtlCol="0">
            <a:spAutoFit/>
          </a:bodyPr>
          <a:lstStyle/>
          <a:p>
            <a:r>
              <a:rPr lang="en-US" altLang="ja-JP" sz="1600" dirty="0">
                <a:solidFill>
                  <a:schemeClr val="tx1">
                    <a:lumMod val="50000"/>
                    <a:lumOff val="50000"/>
                  </a:schemeClr>
                </a:solidFill>
              </a:rPr>
              <a:t>*1 eternal=</a:t>
            </a:r>
            <a:r>
              <a:rPr lang="ja-JP" altLang="en-US" sz="1600" dirty="0">
                <a:solidFill>
                  <a:schemeClr val="tx1">
                    <a:lumMod val="50000"/>
                    <a:lumOff val="50000"/>
                  </a:schemeClr>
                </a:solidFill>
              </a:rPr>
              <a:t>永遠 が由来とされる</a:t>
            </a:r>
            <a:endParaRPr kumimoji="1" lang="ja-JP" altLang="en-US" sz="1600" dirty="0">
              <a:solidFill>
                <a:schemeClr val="tx1">
                  <a:lumMod val="50000"/>
                  <a:lumOff val="50000"/>
                </a:schemeClr>
              </a:solidFill>
            </a:endParaRPr>
          </a:p>
        </p:txBody>
      </p:sp>
      <p:pic>
        <p:nvPicPr>
          <p:cNvPr id="6" name="図 5" descr="グラフィカル ユーザー インターフェイス, アプリケーション&#10;&#10;AI 生成コンテンツは誤りを含む可能性があります。">
            <a:extLst>
              <a:ext uri="{FF2B5EF4-FFF2-40B4-BE49-F238E27FC236}">
                <a16:creationId xmlns:a16="http://schemas.microsoft.com/office/drawing/2014/main" id="{B5C0F09E-7463-2F40-6564-9D84B2140FD8}"/>
              </a:ext>
            </a:extLst>
          </p:cNvPr>
          <p:cNvPicPr>
            <a:picLocks noChangeAspect="1"/>
          </p:cNvPicPr>
          <p:nvPr/>
        </p:nvPicPr>
        <p:blipFill>
          <a:blip r:embed="rId3">
            <a:extLst>
              <a:ext uri="{28A0092B-C50C-407E-A947-70E740481C1C}">
                <a14:useLocalDpi xmlns:a14="http://schemas.microsoft.com/office/drawing/2010/main" val="0"/>
              </a:ext>
            </a:extLst>
          </a:blip>
          <a:srcRect l="-1" r="27137" b="59370"/>
          <a:stretch>
            <a:fillRect/>
          </a:stretch>
        </p:blipFill>
        <p:spPr>
          <a:xfrm>
            <a:off x="1937236" y="3391806"/>
            <a:ext cx="8317523" cy="2897258"/>
          </a:xfrm>
          <a:prstGeom prst="rect">
            <a:avLst/>
          </a:prstGeom>
          <a:ln w="12700">
            <a:solidFill>
              <a:schemeClr val="tx1"/>
            </a:solidFill>
          </a:ln>
        </p:spPr>
      </p:pic>
      <p:sp>
        <p:nvSpPr>
          <p:cNvPr id="7" name="コンテンツ プレースホルダー 2">
            <a:extLst>
              <a:ext uri="{FF2B5EF4-FFF2-40B4-BE49-F238E27FC236}">
                <a16:creationId xmlns:a16="http://schemas.microsoft.com/office/drawing/2014/main" id="{7ADFB813-DAE3-940C-1CA8-A4D1CBAE6A65}"/>
              </a:ext>
            </a:extLst>
          </p:cNvPr>
          <p:cNvSpPr txBox="1">
            <a:spLocks/>
          </p:cNvSpPr>
          <p:nvPr/>
        </p:nvSpPr>
        <p:spPr>
          <a:xfrm>
            <a:off x="6096000" y="1825625"/>
            <a:ext cx="5257800" cy="1433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dirty="0">
                <a:solidFill>
                  <a:schemeClr val="tx1">
                    <a:lumMod val="85000"/>
                  </a:schemeClr>
                </a:solidFill>
              </a:rPr>
              <a:t>作品がしばしば</a:t>
            </a:r>
            <a:r>
              <a:rPr lang="ja-JP" altLang="en-US" sz="2400" b="1" dirty="0">
                <a:solidFill>
                  <a:schemeClr val="tx1">
                    <a:lumMod val="85000"/>
                  </a:schemeClr>
                </a:solidFill>
              </a:rPr>
              <a:t>エタる</a:t>
            </a:r>
            <a:r>
              <a:rPr lang="en-US" altLang="ja-JP" sz="1600" dirty="0">
                <a:solidFill>
                  <a:schemeClr val="tx1">
                    <a:lumMod val="85000"/>
                  </a:schemeClr>
                </a:solidFill>
              </a:rPr>
              <a:t>*1</a:t>
            </a:r>
            <a:br>
              <a:rPr lang="en-US" altLang="ja-JP" sz="2400" dirty="0">
                <a:solidFill>
                  <a:schemeClr val="tx1">
                    <a:lumMod val="85000"/>
                  </a:schemeClr>
                </a:solidFill>
              </a:rPr>
            </a:br>
            <a:r>
              <a:rPr lang="ja-JP" altLang="en-US" sz="2400" b="1" dirty="0">
                <a:solidFill>
                  <a:schemeClr val="tx1">
                    <a:lumMod val="85000"/>
                  </a:schemeClr>
                </a:solidFill>
              </a:rPr>
              <a:t>未完結のまま作品が連載中断</a:t>
            </a:r>
            <a:br>
              <a:rPr lang="en-US" altLang="ja-JP" sz="2400" dirty="0">
                <a:solidFill>
                  <a:schemeClr val="tx1">
                    <a:lumMod val="85000"/>
                  </a:schemeClr>
                </a:solidFill>
              </a:rPr>
            </a:br>
            <a:r>
              <a:rPr lang="ja-JP" altLang="en-US" sz="2400" dirty="0">
                <a:solidFill>
                  <a:schemeClr val="tx1">
                    <a:lumMod val="85000"/>
                  </a:schemeClr>
                </a:solidFill>
              </a:rPr>
              <a:t>作者の執筆継続における課題</a:t>
            </a:r>
            <a:br>
              <a:rPr lang="en-US" altLang="ja-JP" sz="2400" dirty="0">
                <a:solidFill>
                  <a:schemeClr val="tx1">
                    <a:lumMod val="85000"/>
                  </a:schemeClr>
                </a:solidFill>
              </a:rPr>
            </a:br>
            <a:r>
              <a:rPr lang="ja-JP" altLang="en-US" sz="2400" dirty="0">
                <a:solidFill>
                  <a:schemeClr val="tx1">
                    <a:lumMod val="85000"/>
                  </a:schemeClr>
                </a:solidFill>
              </a:rPr>
              <a:t>読者側の失望感</a:t>
            </a:r>
            <a:endParaRPr lang="en-US" altLang="ja-JP" sz="2400" dirty="0">
              <a:solidFill>
                <a:schemeClr val="tx1">
                  <a:lumMod val="85000"/>
                </a:schemeClr>
              </a:solidFill>
            </a:endParaRPr>
          </a:p>
        </p:txBody>
      </p:sp>
      <p:sp>
        <p:nvSpPr>
          <p:cNvPr id="8" name="テキスト ボックス 7">
            <a:extLst>
              <a:ext uri="{FF2B5EF4-FFF2-40B4-BE49-F238E27FC236}">
                <a16:creationId xmlns:a16="http://schemas.microsoft.com/office/drawing/2014/main" id="{9B0FF662-E398-E5FC-0AE7-A9AC2F8C1505}"/>
              </a:ext>
            </a:extLst>
          </p:cNvPr>
          <p:cNvSpPr txBox="1"/>
          <p:nvPr/>
        </p:nvSpPr>
        <p:spPr>
          <a:xfrm>
            <a:off x="4392801" y="6323598"/>
            <a:ext cx="3406391" cy="338554"/>
          </a:xfrm>
          <a:prstGeom prst="rect">
            <a:avLst/>
          </a:prstGeom>
          <a:noFill/>
        </p:spPr>
        <p:txBody>
          <a:bodyPr wrap="square" rtlCol="0">
            <a:spAutoFit/>
          </a:bodyPr>
          <a:lstStyle/>
          <a:p>
            <a:pPr algn="ctr"/>
            <a:r>
              <a:rPr lang="ja-JP" altLang="en-US" sz="1600" dirty="0"/>
              <a:t>図</a:t>
            </a:r>
            <a:r>
              <a:rPr lang="en-US" altLang="ja-JP" sz="1600" dirty="0"/>
              <a:t>1.</a:t>
            </a:r>
            <a:r>
              <a:rPr lang="ja-JP" altLang="en-US" sz="1600" dirty="0"/>
              <a:t> 小説作品ページに出る警告文</a:t>
            </a:r>
            <a:endParaRPr kumimoji="1" lang="ja-JP" altLang="en-US" sz="1600" dirty="0"/>
          </a:p>
        </p:txBody>
      </p:sp>
      <p:sp>
        <p:nvSpPr>
          <p:cNvPr id="5" name="スライド番号プレースホルダー 4">
            <a:extLst>
              <a:ext uri="{FF2B5EF4-FFF2-40B4-BE49-F238E27FC236}">
                <a16:creationId xmlns:a16="http://schemas.microsoft.com/office/drawing/2014/main" id="{FE827A2D-1959-2F75-9C8B-26D0DA18CB7C}"/>
              </a:ext>
            </a:extLst>
          </p:cNvPr>
          <p:cNvSpPr>
            <a:spLocks noGrp="1"/>
          </p:cNvSpPr>
          <p:nvPr>
            <p:ph type="sldNum" sz="quarter" idx="12"/>
          </p:nvPr>
        </p:nvSpPr>
        <p:spPr/>
        <p:txBody>
          <a:bodyPr/>
          <a:lstStyle/>
          <a:p>
            <a:fld id="{425BCB22-CB69-44BC-B16E-26E4C24063E2}" type="slidenum">
              <a:rPr kumimoji="1" lang="ja-JP" altLang="en-US" smtClean="0"/>
              <a:t>2</a:t>
            </a:fld>
            <a:endParaRPr kumimoji="1" lang="ja-JP" altLang="en-US"/>
          </a:p>
        </p:txBody>
      </p:sp>
    </p:spTree>
    <p:extLst>
      <p:ext uri="{BB962C8B-B14F-4D97-AF65-F5344CB8AC3E}">
        <p14:creationId xmlns:p14="http://schemas.microsoft.com/office/powerpoint/2010/main" val="113229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9E1D82A-D07C-05DB-28D5-482D18945D55}"/>
              </a:ext>
            </a:extLst>
          </p:cNvPr>
          <p:cNvSpPr>
            <a:spLocks noGrp="1"/>
          </p:cNvSpPr>
          <p:nvPr>
            <p:ph idx="1"/>
          </p:nvPr>
        </p:nvSpPr>
        <p:spPr>
          <a:xfrm>
            <a:off x="838200" y="1690691"/>
            <a:ext cx="10515600" cy="4229464"/>
          </a:xfrm>
        </p:spPr>
        <p:txBody>
          <a:bodyPr>
            <a:normAutofit/>
          </a:bodyPr>
          <a:lstStyle/>
          <a:p>
            <a:r>
              <a:rPr kumimoji="1" lang="ja-JP" altLang="en-US" sz="2400" dirty="0"/>
              <a:t>清水ら</a:t>
            </a:r>
            <a:r>
              <a:rPr lang="en-US" altLang="ja-JP" sz="1600" dirty="0"/>
              <a:t>[1]</a:t>
            </a:r>
            <a:r>
              <a:rPr kumimoji="1" lang="ja-JP" altLang="en-US" sz="2400" dirty="0"/>
              <a:t>の研究（ランキング予測）</a:t>
            </a:r>
            <a:br>
              <a:rPr kumimoji="1" lang="en-US" altLang="ja-JP" sz="2400" dirty="0"/>
            </a:br>
            <a:r>
              <a:rPr kumimoji="1" lang="ja-JP" altLang="en-US" sz="2400" dirty="0"/>
              <a:t>読者のブックマーク行動を「集合知」と捉え、</a:t>
            </a:r>
            <a:br>
              <a:rPr kumimoji="1" lang="en-US" altLang="ja-JP" sz="2400" dirty="0"/>
            </a:br>
            <a:r>
              <a:rPr kumimoji="1" lang="ja-JP" altLang="en-US" sz="2400" dirty="0"/>
              <a:t>読者と作品のネットワーク構造（二部グラフ）を分析。</a:t>
            </a:r>
            <a:br>
              <a:rPr kumimoji="1" lang="en-US" altLang="ja-JP" sz="2400" dirty="0"/>
            </a:br>
            <a:r>
              <a:rPr kumimoji="1" lang="ja-JP" altLang="en-US" sz="2400" dirty="0"/>
              <a:t>多くの良作を知る「目利き」読者を特定することで、</a:t>
            </a:r>
            <a:br>
              <a:rPr kumimoji="1" lang="en-US" altLang="ja-JP" sz="2400" dirty="0"/>
            </a:br>
            <a:r>
              <a:rPr kumimoji="1" lang="ja-JP" altLang="en-US" sz="2400" dirty="0"/>
              <a:t>将来のヒット作を早期に予測する手法を提案。</a:t>
            </a:r>
            <a:br>
              <a:rPr kumimoji="1" lang="en-US" altLang="ja-JP" sz="2400" dirty="0"/>
            </a:br>
            <a:r>
              <a:rPr kumimoji="1" lang="ja-JP" altLang="en-US" sz="2400" dirty="0"/>
              <a:t>→</a:t>
            </a:r>
            <a:r>
              <a:rPr kumimoji="1" lang="ja-JP" altLang="en-US" sz="2400" b="1" dirty="0"/>
              <a:t>「成功（ヒット）」の予測</a:t>
            </a:r>
            <a:endParaRPr kumimoji="1" lang="en-US" altLang="ja-JP" sz="2400" dirty="0"/>
          </a:p>
          <a:p>
            <a:r>
              <a:rPr kumimoji="1" lang="ja-JP" altLang="en-US" sz="2400" dirty="0"/>
              <a:t>堺ら</a:t>
            </a:r>
            <a:r>
              <a:rPr kumimoji="1" lang="en-US" altLang="ja-JP" sz="1600" dirty="0"/>
              <a:t>[2]</a:t>
            </a:r>
            <a:r>
              <a:rPr kumimoji="1" lang="ja-JP" altLang="en-US" sz="2400" dirty="0"/>
              <a:t>の研究（トレンド分析）</a:t>
            </a:r>
            <a:br>
              <a:rPr kumimoji="1" lang="en-US" altLang="ja-JP" sz="2400" dirty="0"/>
            </a:br>
            <a:r>
              <a:rPr kumimoji="1" lang="ja-JP" altLang="en-US" sz="2400" dirty="0"/>
              <a:t>あらすじに含まれる単語を分析し、</a:t>
            </a:r>
            <a:br>
              <a:rPr kumimoji="1" lang="en-US" altLang="ja-JP" sz="2400" dirty="0"/>
            </a:br>
            <a:r>
              <a:rPr kumimoji="1" lang="ja-JP" altLang="en-US" sz="2400" dirty="0"/>
              <a:t>類似語を統合して年次ごとの流行語を抽出。</a:t>
            </a:r>
            <a:br>
              <a:rPr kumimoji="1" lang="en-US" altLang="ja-JP" sz="2400" dirty="0"/>
            </a:br>
            <a:r>
              <a:rPr kumimoji="1" lang="ja-JP" altLang="en-US" sz="2400" dirty="0"/>
              <a:t>「転移」「異世界」といったキーワードの爆発的な増加を可視化し、</a:t>
            </a:r>
            <a:br>
              <a:rPr kumimoji="1" lang="en-US" altLang="ja-JP" sz="2400" dirty="0"/>
            </a:br>
            <a:r>
              <a:rPr kumimoji="1" lang="ja-JP" altLang="en-US" sz="2400" dirty="0"/>
              <a:t>ジャンルのテンプレート化を定量的に示した。</a:t>
            </a:r>
            <a:br>
              <a:rPr kumimoji="1" lang="en-US" altLang="ja-JP" sz="2400" dirty="0"/>
            </a:br>
            <a:r>
              <a:rPr kumimoji="1" lang="ja-JP" altLang="en-US" sz="2400" dirty="0"/>
              <a:t>→</a:t>
            </a:r>
            <a:r>
              <a:rPr kumimoji="1" lang="ja-JP" altLang="en-US" sz="2400" b="1" dirty="0"/>
              <a:t>「マクロな傾向（流行）」の分析</a:t>
            </a:r>
            <a:endParaRPr kumimoji="1" lang="ja-JP" altLang="en-US" sz="2400" dirty="0"/>
          </a:p>
        </p:txBody>
      </p:sp>
      <p:sp>
        <p:nvSpPr>
          <p:cNvPr id="2" name="タイトル 1">
            <a:extLst>
              <a:ext uri="{FF2B5EF4-FFF2-40B4-BE49-F238E27FC236}">
                <a16:creationId xmlns:a16="http://schemas.microsoft.com/office/drawing/2014/main" id="{5C90C5C7-C94B-6498-D111-FA9F8FE4B223}"/>
              </a:ext>
            </a:extLst>
          </p:cNvPr>
          <p:cNvSpPr>
            <a:spLocks noGrp="1"/>
          </p:cNvSpPr>
          <p:nvPr>
            <p:ph type="title"/>
          </p:nvPr>
        </p:nvSpPr>
        <p:spPr/>
        <p:txBody>
          <a:bodyPr/>
          <a:lstStyle/>
          <a:p>
            <a:r>
              <a:rPr kumimoji="1" lang="ja-JP" altLang="en-US" dirty="0"/>
              <a:t>関連研究</a:t>
            </a:r>
          </a:p>
        </p:txBody>
      </p:sp>
      <p:sp>
        <p:nvSpPr>
          <p:cNvPr id="4" name="テキスト ボックス 3">
            <a:extLst>
              <a:ext uri="{FF2B5EF4-FFF2-40B4-BE49-F238E27FC236}">
                <a16:creationId xmlns:a16="http://schemas.microsoft.com/office/drawing/2014/main" id="{9FC61913-1D6E-0C61-24C7-D03A06204195}"/>
              </a:ext>
            </a:extLst>
          </p:cNvPr>
          <p:cNvSpPr txBox="1"/>
          <p:nvPr/>
        </p:nvSpPr>
        <p:spPr>
          <a:xfrm>
            <a:off x="838200" y="6231265"/>
            <a:ext cx="10515600" cy="523220"/>
          </a:xfrm>
          <a:prstGeom prst="rect">
            <a:avLst/>
          </a:prstGeom>
          <a:noFill/>
        </p:spPr>
        <p:txBody>
          <a:bodyPr wrap="square" rtlCol="0">
            <a:spAutoFit/>
          </a:bodyPr>
          <a:lstStyle/>
          <a:p>
            <a:r>
              <a:rPr kumimoji="1" lang="en-US" altLang="ja-JP" sz="1400" dirty="0"/>
              <a:t>[1] </a:t>
            </a:r>
            <a:r>
              <a:rPr lang="ja-JP" altLang="en-US" sz="1400" dirty="0"/>
              <a:t>集合知に基づくオンライン小説のランキング手法の提案と評価 </a:t>
            </a:r>
            <a:r>
              <a:rPr lang="en-US" altLang="ja-JP" sz="1400" dirty="0"/>
              <a:t>(2013)</a:t>
            </a:r>
            <a:endParaRPr kumimoji="1" lang="en-US" altLang="ja-JP" sz="1400" dirty="0"/>
          </a:p>
          <a:p>
            <a:r>
              <a:rPr lang="en-US" altLang="ja-JP" sz="1400" dirty="0"/>
              <a:t>[2]</a:t>
            </a:r>
            <a:r>
              <a:rPr lang="ja-JP" altLang="en-US" sz="1400" dirty="0"/>
              <a:t>オンライン小説の流行語抽出 </a:t>
            </a:r>
            <a:r>
              <a:rPr lang="en-US" altLang="ja-JP" sz="1400" dirty="0"/>
              <a:t>(2020)</a:t>
            </a:r>
            <a:endParaRPr kumimoji="1" lang="ja-JP" altLang="en-US" sz="1400" dirty="0"/>
          </a:p>
        </p:txBody>
      </p:sp>
      <p:sp>
        <p:nvSpPr>
          <p:cNvPr id="5" name="スライド番号プレースホルダー 4">
            <a:extLst>
              <a:ext uri="{FF2B5EF4-FFF2-40B4-BE49-F238E27FC236}">
                <a16:creationId xmlns:a16="http://schemas.microsoft.com/office/drawing/2014/main" id="{0D158C6A-0897-A970-3C33-20D11584F1EB}"/>
              </a:ext>
            </a:extLst>
          </p:cNvPr>
          <p:cNvSpPr>
            <a:spLocks noGrp="1"/>
          </p:cNvSpPr>
          <p:nvPr>
            <p:ph type="sldNum" sz="quarter" idx="12"/>
          </p:nvPr>
        </p:nvSpPr>
        <p:spPr/>
        <p:txBody>
          <a:bodyPr/>
          <a:lstStyle/>
          <a:p>
            <a:fld id="{425BCB22-CB69-44BC-B16E-26E4C24063E2}" type="slidenum">
              <a:rPr kumimoji="1" lang="ja-JP" altLang="en-US" smtClean="0"/>
              <a:t>3</a:t>
            </a:fld>
            <a:endParaRPr kumimoji="1" lang="ja-JP" altLang="en-US"/>
          </a:p>
        </p:txBody>
      </p:sp>
    </p:spTree>
    <p:extLst>
      <p:ext uri="{BB962C8B-B14F-4D97-AF65-F5344CB8AC3E}">
        <p14:creationId xmlns:p14="http://schemas.microsoft.com/office/powerpoint/2010/main" val="2605329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07893C-C2D1-469F-4E7D-C1F050D82FC0}"/>
              </a:ext>
            </a:extLst>
          </p:cNvPr>
          <p:cNvSpPr>
            <a:spLocks noGrp="1"/>
          </p:cNvSpPr>
          <p:nvPr>
            <p:ph type="title"/>
          </p:nvPr>
        </p:nvSpPr>
        <p:spPr/>
        <p:txBody>
          <a:bodyPr/>
          <a:lstStyle/>
          <a:p>
            <a:r>
              <a:rPr kumimoji="1" lang="ja-JP" altLang="en-US" dirty="0"/>
              <a:t>目的</a:t>
            </a:r>
          </a:p>
        </p:txBody>
      </p:sp>
      <p:sp>
        <p:nvSpPr>
          <p:cNvPr id="3" name="コンテンツ プレースホルダー 2">
            <a:extLst>
              <a:ext uri="{FF2B5EF4-FFF2-40B4-BE49-F238E27FC236}">
                <a16:creationId xmlns:a16="http://schemas.microsoft.com/office/drawing/2014/main" id="{94DA38D4-8FC1-A690-89A9-B3E417B6D781}"/>
              </a:ext>
            </a:extLst>
          </p:cNvPr>
          <p:cNvSpPr>
            <a:spLocks noGrp="1"/>
          </p:cNvSpPr>
          <p:nvPr>
            <p:ph idx="1"/>
          </p:nvPr>
        </p:nvSpPr>
        <p:spPr>
          <a:xfrm>
            <a:off x="838200" y="1825625"/>
            <a:ext cx="10515600" cy="4351338"/>
          </a:xfrm>
        </p:spPr>
        <p:txBody>
          <a:bodyPr>
            <a:normAutofit/>
          </a:bodyPr>
          <a:lstStyle/>
          <a:p>
            <a:r>
              <a:rPr kumimoji="1" lang="ja-JP" altLang="en-US" sz="3600" dirty="0"/>
              <a:t>目的</a:t>
            </a:r>
            <a:r>
              <a:rPr kumimoji="1" lang="en-US" altLang="ja-JP" sz="3600" dirty="0"/>
              <a:t>1</a:t>
            </a:r>
            <a:r>
              <a:rPr kumimoji="1" lang="ja-JP" altLang="en-US" sz="3600" dirty="0"/>
              <a:t>：</a:t>
            </a:r>
            <a:r>
              <a:rPr kumimoji="1" lang="ja-JP" altLang="en-US" sz="3600" b="1" dirty="0"/>
              <a:t>「エタり」予測モデルの構築</a:t>
            </a:r>
            <a:endParaRPr lang="en-US" altLang="ja-JP" sz="3600" b="1" dirty="0"/>
          </a:p>
          <a:p>
            <a:pPr lvl="1"/>
            <a:r>
              <a:rPr kumimoji="1" lang="ja-JP" altLang="en-US" sz="3200" dirty="0"/>
              <a:t>数値データによる予測モデルの構築</a:t>
            </a:r>
            <a:endParaRPr kumimoji="1" lang="en-US" altLang="ja-JP" sz="3200" dirty="0"/>
          </a:p>
          <a:p>
            <a:pPr lvl="1"/>
            <a:r>
              <a:rPr kumimoji="1" lang="ja-JP" altLang="en-US" sz="3200" dirty="0"/>
              <a:t>あらすじテキストを用いた予測モデルの構築</a:t>
            </a:r>
            <a:br>
              <a:rPr kumimoji="1" lang="en-US" altLang="ja-JP" sz="3200" dirty="0"/>
            </a:br>
            <a:endParaRPr kumimoji="1" lang="en-US" altLang="ja-JP" sz="3200" dirty="0"/>
          </a:p>
          <a:p>
            <a:r>
              <a:rPr kumimoji="1" lang="ja-JP" altLang="en-US" sz="3600" dirty="0"/>
              <a:t>目的</a:t>
            </a:r>
            <a:r>
              <a:rPr kumimoji="1" lang="en-US" altLang="ja-JP" sz="3600" dirty="0"/>
              <a:t>2</a:t>
            </a:r>
            <a:r>
              <a:rPr kumimoji="1" lang="ja-JP" altLang="en-US" sz="3600" dirty="0"/>
              <a:t>：</a:t>
            </a:r>
            <a:r>
              <a:rPr kumimoji="1" lang="ja-JP" altLang="en-US" sz="3600" b="1" dirty="0"/>
              <a:t>「エタり」を識別する要因の解明</a:t>
            </a:r>
            <a:endParaRPr lang="en-US" altLang="ja-JP" sz="3600" b="1" dirty="0"/>
          </a:p>
          <a:p>
            <a:pPr marL="457200" lvl="1" indent="0">
              <a:buNone/>
            </a:pPr>
            <a:r>
              <a:rPr kumimoji="1" lang="ja-JP" altLang="en-US" sz="3200" dirty="0"/>
              <a:t>あらすじを用いた予測モデルについて、</a:t>
            </a:r>
            <a:br>
              <a:rPr kumimoji="1" lang="en-US" altLang="ja-JP" sz="3200" dirty="0"/>
            </a:br>
            <a:r>
              <a:rPr kumimoji="1" lang="en-US" altLang="ja-JP" sz="3200" dirty="0"/>
              <a:t>LIME</a:t>
            </a:r>
            <a:r>
              <a:rPr kumimoji="1" lang="ja-JP" altLang="en-US" sz="3200" dirty="0"/>
              <a:t>による判断の根拠の可視化を行う。</a:t>
            </a:r>
            <a:endParaRPr kumimoji="1" lang="en-US" altLang="ja-JP" sz="3200" dirty="0"/>
          </a:p>
        </p:txBody>
      </p:sp>
      <p:sp>
        <p:nvSpPr>
          <p:cNvPr id="4" name="スライド番号プレースホルダー 3">
            <a:extLst>
              <a:ext uri="{FF2B5EF4-FFF2-40B4-BE49-F238E27FC236}">
                <a16:creationId xmlns:a16="http://schemas.microsoft.com/office/drawing/2014/main" id="{97AF46F3-A3F7-3029-5648-E7C3743F5ABA}"/>
              </a:ext>
            </a:extLst>
          </p:cNvPr>
          <p:cNvSpPr>
            <a:spLocks noGrp="1"/>
          </p:cNvSpPr>
          <p:nvPr>
            <p:ph type="sldNum" sz="quarter" idx="12"/>
          </p:nvPr>
        </p:nvSpPr>
        <p:spPr/>
        <p:txBody>
          <a:bodyPr/>
          <a:lstStyle/>
          <a:p>
            <a:fld id="{425BCB22-CB69-44BC-B16E-26E4C24063E2}" type="slidenum">
              <a:rPr kumimoji="1" lang="ja-JP" altLang="en-US" smtClean="0"/>
              <a:t>4</a:t>
            </a:fld>
            <a:endParaRPr kumimoji="1" lang="ja-JP" altLang="en-US"/>
          </a:p>
        </p:txBody>
      </p:sp>
    </p:spTree>
    <p:extLst>
      <p:ext uri="{BB962C8B-B14F-4D97-AF65-F5344CB8AC3E}">
        <p14:creationId xmlns:p14="http://schemas.microsoft.com/office/powerpoint/2010/main" val="165459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DCEDB2-D598-74E4-2A89-B293277CBC52}"/>
              </a:ext>
            </a:extLst>
          </p:cNvPr>
          <p:cNvSpPr>
            <a:spLocks noGrp="1"/>
          </p:cNvSpPr>
          <p:nvPr>
            <p:ph type="title"/>
          </p:nvPr>
        </p:nvSpPr>
        <p:spPr/>
        <p:txBody>
          <a:bodyPr/>
          <a:lstStyle/>
          <a:p>
            <a:r>
              <a:rPr lang="ja-JP" altLang="en-US" dirty="0"/>
              <a:t>研究対象</a:t>
            </a:r>
            <a:endParaRPr kumimoji="1" lang="ja-JP" altLang="en-US" dirty="0"/>
          </a:p>
        </p:txBody>
      </p:sp>
      <p:sp>
        <p:nvSpPr>
          <p:cNvPr id="3" name="コンテンツ プレースホルダー 2">
            <a:extLst>
              <a:ext uri="{FF2B5EF4-FFF2-40B4-BE49-F238E27FC236}">
                <a16:creationId xmlns:a16="http://schemas.microsoft.com/office/drawing/2014/main" id="{76E71FAC-D23A-DB3C-719B-4B84EC51D024}"/>
              </a:ext>
            </a:extLst>
          </p:cNvPr>
          <p:cNvSpPr>
            <a:spLocks noGrp="1"/>
          </p:cNvSpPr>
          <p:nvPr>
            <p:ph idx="1"/>
          </p:nvPr>
        </p:nvSpPr>
        <p:spPr>
          <a:xfrm>
            <a:off x="838200" y="1825624"/>
            <a:ext cx="10515600" cy="4530725"/>
          </a:xfrm>
        </p:spPr>
        <p:txBody>
          <a:bodyPr>
            <a:normAutofit/>
          </a:bodyPr>
          <a:lstStyle/>
          <a:p>
            <a:r>
              <a:rPr lang="ja-JP" altLang="en-US" sz="3200" b="1" dirty="0"/>
              <a:t>対象サイト：小説家になろう</a:t>
            </a:r>
            <a:endParaRPr lang="en-US" altLang="ja-JP" sz="3200" b="1" dirty="0"/>
          </a:p>
          <a:p>
            <a:pPr lvl="1"/>
            <a:r>
              <a:rPr lang="ja-JP" altLang="en-US" sz="2800" dirty="0"/>
              <a:t>日本最大級の小説投稿サイト（掲載数</a:t>
            </a:r>
            <a:r>
              <a:rPr lang="en-US" altLang="ja-JP" sz="2800" dirty="0"/>
              <a:t>100</a:t>
            </a:r>
            <a:r>
              <a:rPr lang="ja-JP" altLang="en-US" sz="2800" dirty="0"/>
              <a:t>万作品以上）</a:t>
            </a:r>
            <a:endParaRPr lang="en-US" altLang="ja-JP" sz="2800" dirty="0"/>
          </a:p>
          <a:p>
            <a:pPr lvl="1"/>
            <a:r>
              <a:rPr lang="ja-JP" altLang="en-US" sz="2800" dirty="0"/>
              <a:t>公式</a:t>
            </a:r>
            <a:r>
              <a:rPr lang="en-US" altLang="ja-JP" sz="2800" dirty="0"/>
              <a:t>API</a:t>
            </a:r>
            <a:r>
              <a:rPr lang="ja-JP" altLang="en-US" sz="2800" dirty="0"/>
              <a:t>を用いて全作品のメタデータを取得</a:t>
            </a:r>
            <a:br>
              <a:rPr kumimoji="1" lang="en-US" altLang="ja-JP" sz="2800" dirty="0"/>
            </a:br>
            <a:endParaRPr kumimoji="1" lang="en-US" altLang="ja-JP" sz="2800" dirty="0"/>
          </a:p>
          <a:p>
            <a:r>
              <a:rPr kumimoji="1" lang="ja-JP" altLang="en-US" sz="3200" dirty="0"/>
              <a:t>「エタり」の定義</a:t>
            </a:r>
            <a:endParaRPr kumimoji="1" lang="en-US" altLang="ja-JP" sz="3200" dirty="0"/>
          </a:p>
          <a:p>
            <a:pPr lvl="1"/>
            <a:r>
              <a:rPr lang="ja-JP" altLang="en-US" sz="2800" dirty="0"/>
              <a:t>エタり：「連載中」設定かつ最終更新から</a:t>
            </a:r>
            <a:r>
              <a:rPr lang="en-US" altLang="ja-JP" sz="2800" dirty="0"/>
              <a:t>1</a:t>
            </a:r>
            <a:r>
              <a:rPr lang="ja-JP" altLang="en-US" sz="2800" dirty="0"/>
              <a:t>年以上経過</a:t>
            </a:r>
            <a:endParaRPr lang="en-US" altLang="ja-JP" sz="2800" dirty="0"/>
          </a:p>
          <a:p>
            <a:pPr lvl="1"/>
            <a:r>
              <a:rPr lang="ja-JP" altLang="en-US" sz="2800" dirty="0"/>
              <a:t>完結：設定が「完結済み」</a:t>
            </a:r>
            <a:endParaRPr lang="en-US" altLang="ja-JP" sz="2800" dirty="0"/>
          </a:p>
          <a:p>
            <a:pPr lvl="1"/>
            <a:r>
              <a:rPr lang="ja-JP" altLang="en-US" sz="2800" dirty="0"/>
              <a:t>除外：</a:t>
            </a:r>
            <a:r>
              <a:rPr lang="en-US" altLang="ja-JP" sz="2800" dirty="0"/>
              <a:t>1</a:t>
            </a:r>
            <a:r>
              <a:rPr lang="ja-JP" altLang="en-US" sz="2800" dirty="0"/>
              <a:t>年以内に更新されている作品、短編作品。</a:t>
            </a:r>
            <a:endParaRPr lang="en-US" altLang="ja-JP" sz="2800" dirty="0"/>
          </a:p>
        </p:txBody>
      </p:sp>
      <p:sp>
        <p:nvSpPr>
          <p:cNvPr id="4" name="スライド番号プレースホルダー 3">
            <a:extLst>
              <a:ext uri="{FF2B5EF4-FFF2-40B4-BE49-F238E27FC236}">
                <a16:creationId xmlns:a16="http://schemas.microsoft.com/office/drawing/2014/main" id="{0C65DE51-D7FC-0FD9-9E8B-49754B6D95EB}"/>
              </a:ext>
            </a:extLst>
          </p:cNvPr>
          <p:cNvSpPr>
            <a:spLocks noGrp="1"/>
          </p:cNvSpPr>
          <p:nvPr>
            <p:ph type="sldNum" sz="quarter" idx="12"/>
          </p:nvPr>
        </p:nvSpPr>
        <p:spPr/>
        <p:txBody>
          <a:bodyPr/>
          <a:lstStyle/>
          <a:p>
            <a:fld id="{425BCB22-CB69-44BC-B16E-26E4C24063E2}" type="slidenum">
              <a:rPr kumimoji="1" lang="ja-JP" altLang="en-US" smtClean="0"/>
              <a:t>5</a:t>
            </a:fld>
            <a:endParaRPr kumimoji="1" lang="ja-JP" altLang="en-US"/>
          </a:p>
        </p:txBody>
      </p:sp>
      <p:sp>
        <p:nvSpPr>
          <p:cNvPr id="5" name="吹き出し: 四角形 4">
            <a:extLst>
              <a:ext uri="{FF2B5EF4-FFF2-40B4-BE49-F238E27FC236}">
                <a16:creationId xmlns:a16="http://schemas.microsoft.com/office/drawing/2014/main" id="{7C5EF1E1-5A2A-24DF-2127-90F10A73154D}"/>
              </a:ext>
            </a:extLst>
          </p:cNvPr>
          <p:cNvSpPr/>
          <p:nvPr/>
        </p:nvSpPr>
        <p:spPr>
          <a:xfrm>
            <a:off x="6512170" y="3505200"/>
            <a:ext cx="3470030" cy="527172"/>
          </a:xfrm>
          <a:prstGeom prst="wedgeRectCallout">
            <a:avLst>
              <a:gd name="adj1" fmla="val -43806"/>
              <a:gd name="adj2" fmla="val -10181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rgbClr val="FF0000"/>
                </a:solidFill>
              </a:rPr>
              <a:t>数値データ</a:t>
            </a:r>
            <a:r>
              <a:rPr kumimoji="1" lang="en-US" altLang="ja-JP" b="1" dirty="0">
                <a:solidFill>
                  <a:srgbClr val="FF0000"/>
                </a:solidFill>
              </a:rPr>
              <a:t> + </a:t>
            </a:r>
            <a:r>
              <a:rPr kumimoji="1" lang="ja-JP" altLang="en-US" b="1" dirty="0">
                <a:solidFill>
                  <a:srgbClr val="FF0000"/>
                </a:solidFill>
              </a:rPr>
              <a:t>あらすじデータ</a:t>
            </a:r>
          </a:p>
        </p:txBody>
      </p:sp>
    </p:spTree>
    <p:extLst>
      <p:ext uri="{BB962C8B-B14F-4D97-AF65-F5344CB8AC3E}">
        <p14:creationId xmlns:p14="http://schemas.microsoft.com/office/powerpoint/2010/main" val="2804618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1BC9C7-096D-7151-2A9B-009388B9F757}"/>
              </a:ext>
            </a:extLst>
          </p:cNvPr>
          <p:cNvSpPr>
            <a:spLocks noGrp="1"/>
          </p:cNvSpPr>
          <p:nvPr>
            <p:ph type="title"/>
          </p:nvPr>
        </p:nvSpPr>
        <p:spPr/>
        <p:txBody>
          <a:bodyPr/>
          <a:lstStyle/>
          <a:p>
            <a:r>
              <a:rPr lang="ja-JP" altLang="en-US" dirty="0"/>
              <a:t>データセット</a:t>
            </a:r>
            <a:endParaRPr kumimoji="1" lang="ja-JP" altLang="en-US" dirty="0"/>
          </a:p>
        </p:txBody>
      </p:sp>
      <p:sp>
        <p:nvSpPr>
          <p:cNvPr id="3" name="コンテンツ プレースホルダー 2">
            <a:extLst>
              <a:ext uri="{FF2B5EF4-FFF2-40B4-BE49-F238E27FC236}">
                <a16:creationId xmlns:a16="http://schemas.microsoft.com/office/drawing/2014/main" id="{976F092E-A181-A3D1-1287-06E0220D5249}"/>
              </a:ext>
            </a:extLst>
          </p:cNvPr>
          <p:cNvSpPr>
            <a:spLocks noGrp="1"/>
          </p:cNvSpPr>
          <p:nvPr>
            <p:ph idx="1"/>
          </p:nvPr>
        </p:nvSpPr>
        <p:spPr>
          <a:xfrm>
            <a:off x="838200" y="1690689"/>
            <a:ext cx="10515600" cy="5030786"/>
          </a:xfrm>
        </p:spPr>
        <p:txBody>
          <a:bodyPr>
            <a:normAutofit/>
          </a:bodyPr>
          <a:lstStyle/>
          <a:p>
            <a:r>
              <a:rPr kumimoji="1" lang="ja-JP" altLang="en-US" b="1" dirty="0"/>
              <a:t>恋愛</a:t>
            </a:r>
            <a:br>
              <a:rPr kumimoji="1" lang="en-US" altLang="ja-JP" dirty="0"/>
            </a:br>
            <a:r>
              <a:rPr kumimoji="1" lang="ja-JP" altLang="en-US" sz="2200" dirty="0"/>
              <a:t>異世界、現実世界</a:t>
            </a:r>
            <a:endParaRPr kumimoji="1" lang="en-US" altLang="ja-JP" dirty="0"/>
          </a:p>
          <a:p>
            <a:r>
              <a:rPr lang="ja-JP" altLang="en-US" b="1" dirty="0"/>
              <a:t>ファンタジー</a:t>
            </a:r>
            <a:br>
              <a:rPr lang="en-US" altLang="ja-JP" dirty="0"/>
            </a:br>
            <a:r>
              <a:rPr lang="ja-JP" altLang="en-US" sz="2200" dirty="0"/>
              <a:t>ハイファンタジー、ローファンタジー</a:t>
            </a:r>
            <a:endParaRPr lang="en-US" altLang="ja-JP" sz="2600" dirty="0"/>
          </a:p>
          <a:p>
            <a:r>
              <a:rPr kumimoji="1" lang="ja-JP" altLang="en-US" b="1" dirty="0"/>
              <a:t>文芸</a:t>
            </a:r>
            <a:br>
              <a:rPr kumimoji="1" lang="en-US" altLang="ja-JP" dirty="0"/>
            </a:br>
            <a:r>
              <a:rPr kumimoji="1" lang="ja-JP" altLang="en-US" sz="2200" dirty="0"/>
              <a:t>純文学、歴史、推理、ホラー、アクション、コメディー</a:t>
            </a:r>
            <a:endParaRPr kumimoji="1" lang="en-US" altLang="ja-JP" dirty="0"/>
          </a:p>
          <a:p>
            <a:r>
              <a:rPr lang="en-US" altLang="ja-JP" b="1" dirty="0"/>
              <a:t>SF</a:t>
            </a:r>
            <a:br>
              <a:rPr lang="en-US" altLang="ja-JP" dirty="0"/>
            </a:br>
            <a:r>
              <a:rPr lang="en-US" altLang="ja-JP" sz="2200" dirty="0"/>
              <a:t>VR</a:t>
            </a:r>
            <a:r>
              <a:rPr lang="ja-JP" altLang="en-US" sz="2200" dirty="0"/>
              <a:t>ゲーム、宇宙、空想科学、パニック</a:t>
            </a:r>
            <a:endParaRPr lang="en-US" altLang="ja-JP" dirty="0"/>
          </a:p>
          <a:p>
            <a:r>
              <a:rPr kumimoji="1" lang="ja-JP" altLang="en-US" b="1" dirty="0"/>
              <a:t>その他</a:t>
            </a:r>
            <a:br>
              <a:rPr kumimoji="1" lang="en-US" altLang="ja-JP" dirty="0"/>
            </a:br>
            <a:r>
              <a:rPr kumimoji="1" lang="ja-JP" altLang="en-US" sz="2000" dirty="0"/>
              <a:t>童話、詩、エッセイ、リプレイ、その他</a:t>
            </a:r>
            <a:br>
              <a:rPr kumimoji="1" lang="en-US" altLang="ja-JP" sz="2000" dirty="0"/>
            </a:br>
            <a:endParaRPr kumimoji="1" lang="en-US" altLang="ja-JP" dirty="0"/>
          </a:p>
          <a:p>
            <a:pPr marL="0" indent="0">
              <a:buNone/>
            </a:pPr>
            <a:r>
              <a:rPr lang="en-US" altLang="ja-JP" sz="2400" b="1" dirty="0"/>
              <a:t>※</a:t>
            </a:r>
            <a:r>
              <a:rPr lang="ja-JP" altLang="en-US" sz="2400" b="1" dirty="0"/>
              <a:t>ノンジャンル</a:t>
            </a:r>
            <a:r>
              <a:rPr lang="ja-JP" altLang="en-US" sz="2400" dirty="0"/>
              <a:t>：ジャンル区分改正に伴い更新されなかった作品</a:t>
            </a:r>
            <a:endParaRPr kumimoji="1" lang="ja-JP" altLang="en-US" sz="2400" dirty="0"/>
          </a:p>
        </p:txBody>
      </p:sp>
      <p:sp>
        <p:nvSpPr>
          <p:cNvPr id="4" name="スライド番号プレースホルダー 3">
            <a:extLst>
              <a:ext uri="{FF2B5EF4-FFF2-40B4-BE49-F238E27FC236}">
                <a16:creationId xmlns:a16="http://schemas.microsoft.com/office/drawing/2014/main" id="{9FA7FAD8-3ED7-9D01-B449-772DF4A6E94C}"/>
              </a:ext>
            </a:extLst>
          </p:cNvPr>
          <p:cNvSpPr>
            <a:spLocks noGrp="1"/>
          </p:cNvSpPr>
          <p:nvPr>
            <p:ph type="sldNum" sz="quarter" idx="12"/>
          </p:nvPr>
        </p:nvSpPr>
        <p:spPr/>
        <p:txBody>
          <a:bodyPr/>
          <a:lstStyle/>
          <a:p>
            <a:fld id="{425BCB22-CB69-44BC-B16E-26E4C24063E2}" type="slidenum">
              <a:rPr kumimoji="1" lang="ja-JP" altLang="en-US" smtClean="0"/>
              <a:t>6</a:t>
            </a:fld>
            <a:endParaRPr kumimoji="1" lang="ja-JP" altLang="en-US"/>
          </a:p>
        </p:txBody>
      </p:sp>
    </p:spTree>
    <p:extLst>
      <p:ext uri="{BB962C8B-B14F-4D97-AF65-F5344CB8AC3E}">
        <p14:creationId xmlns:p14="http://schemas.microsoft.com/office/powerpoint/2010/main" val="1951445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7DF982-B896-35E8-9224-041446EB20B1}"/>
              </a:ext>
            </a:extLst>
          </p:cNvPr>
          <p:cNvSpPr>
            <a:spLocks noGrp="1"/>
          </p:cNvSpPr>
          <p:nvPr>
            <p:ph type="title"/>
          </p:nvPr>
        </p:nvSpPr>
        <p:spPr/>
        <p:txBody>
          <a:bodyPr/>
          <a:lstStyle/>
          <a:p>
            <a:r>
              <a:rPr kumimoji="1" lang="ja-JP" altLang="en-US" dirty="0"/>
              <a:t>分析手法</a:t>
            </a:r>
          </a:p>
        </p:txBody>
      </p:sp>
      <p:sp>
        <p:nvSpPr>
          <p:cNvPr id="3" name="コンテンツ プレースホルダー 2">
            <a:extLst>
              <a:ext uri="{FF2B5EF4-FFF2-40B4-BE49-F238E27FC236}">
                <a16:creationId xmlns:a16="http://schemas.microsoft.com/office/drawing/2014/main" id="{A14A8A5C-D3B1-CA0D-7F63-153E2B9B70BC}"/>
              </a:ext>
            </a:extLst>
          </p:cNvPr>
          <p:cNvSpPr>
            <a:spLocks noGrp="1"/>
          </p:cNvSpPr>
          <p:nvPr>
            <p:ph idx="1"/>
          </p:nvPr>
        </p:nvSpPr>
        <p:spPr>
          <a:xfrm>
            <a:off x="838200" y="1690688"/>
            <a:ext cx="10515600" cy="4802187"/>
          </a:xfrm>
        </p:spPr>
        <p:txBody>
          <a:bodyPr>
            <a:normAutofit/>
          </a:bodyPr>
          <a:lstStyle/>
          <a:p>
            <a:r>
              <a:rPr kumimoji="1" lang="ja-JP" altLang="en-US" dirty="0"/>
              <a:t>分析</a:t>
            </a:r>
            <a:r>
              <a:rPr kumimoji="1" lang="en-US" altLang="ja-JP" dirty="0"/>
              <a:t>1</a:t>
            </a:r>
            <a:r>
              <a:rPr kumimoji="1" lang="ja-JP" altLang="en-US" dirty="0"/>
              <a:t>：数値データ</a:t>
            </a:r>
            <a:endParaRPr kumimoji="1" lang="en-US" altLang="ja-JP" dirty="0"/>
          </a:p>
          <a:p>
            <a:pPr lvl="1"/>
            <a:r>
              <a:rPr kumimoji="1" lang="ja-JP" altLang="en-US" dirty="0"/>
              <a:t>特徴量：話数や評価ポイント、更新頻度などの数値データ</a:t>
            </a:r>
            <a:endParaRPr kumimoji="1" lang="en-US" altLang="ja-JP" dirty="0"/>
          </a:p>
          <a:p>
            <a:pPr lvl="1"/>
            <a:r>
              <a:rPr lang="ja-JP" altLang="en-US" dirty="0"/>
              <a:t>モデル：</a:t>
            </a:r>
            <a:br>
              <a:rPr lang="en-US" altLang="ja-JP" dirty="0"/>
            </a:br>
            <a:r>
              <a:rPr lang="ja-JP" altLang="en-US" dirty="0"/>
              <a:t>　決定木</a:t>
            </a:r>
            <a:r>
              <a:rPr lang="en-US" altLang="ja-JP" dirty="0"/>
              <a:t>3</a:t>
            </a:r>
            <a:r>
              <a:rPr lang="ja-JP" altLang="en-US" dirty="0"/>
              <a:t>種（</a:t>
            </a:r>
            <a:r>
              <a:rPr lang="en-US" altLang="ja-JP" dirty="0" err="1"/>
              <a:t>XGBoost</a:t>
            </a:r>
            <a:r>
              <a:rPr lang="ja-JP" altLang="en-US" dirty="0"/>
              <a:t>等）、線形ロジスティック回帰、その他</a:t>
            </a:r>
            <a:r>
              <a:rPr lang="en-US" altLang="ja-JP" dirty="0"/>
              <a:t>3</a:t>
            </a:r>
            <a:r>
              <a:rPr lang="ja-JP" altLang="en-US" dirty="0"/>
              <a:t>種</a:t>
            </a:r>
            <a:endParaRPr lang="en-US" altLang="ja-JP" dirty="0"/>
          </a:p>
          <a:p>
            <a:pPr lvl="1"/>
            <a:r>
              <a:rPr kumimoji="1" lang="ja-JP" altLang="en-US" dirty="0"/>
              <a:t>解釈：特徴量重要度による要因分析</a:t>
            </a:r>
            <a:br>
              <a:rPr kumimoji="1" lang="en-US" altLang="ja-JP" dirty="0"/>
            </a:br>
            <a:endParaRPr kumimoji="1" lang="en-US" altLang="ja-JP" dirty="0"/>
          </a:p>
          <a:p>
            <a:r>
              <a:rPr lang="ja-JP" altLang="en-US" dirty="0"/>
              <a:t>分析</a:t>
            </a:r>
            <a:r>
              <a:rPr lang="en-US" altLang="ja-JP" dirty="0"/>
              <a:t>2</a:t>
            </a:r>
            <a:r>
              <a:rPr lang="ja-JP" altLang="en-US" dirty="0"/>
              <a:t>：テキストデータ（あらすじ）</a:t>
            </a:r>
            <a:endParaRPr lang="en-US" altLang="ja-JP" dirty="0"/>
          </a:p>
          <a:p>
            <a:pPr lvl="1"/>
            <a:r>
              <a:rPr kumimoji="1" lang="en-US" altLang="ja-JP" b="1" dirty="0"/>
              <a:t>TF-IDF</a:t>
            </a:r>
            <a:r>
              <a:rPr kumimoji="1" lang="en-US" altLang="ja-JP" dirty="0"/>
              <a:t> + </a:t>
            </a:r>
            <a:r>
              <a:rPr kumimoji="1" lang="ja-JP" altLang="en-US" dirty="0"/>
              <a:t>ロジスティック回帰</a:t>
            </a:r>
            <a:endParaRPr kumimoji="1" lang="en-US" altLang="ja-JP" dirty="0"/>
          </a:p>
          <a:p>
            <a:pPr lvl="1"/>
            <a:r>
              <a:rPr lang="en-US" altLang="ja-JP" dirty="0" err="1"/>
              <a:t>SentencePiece</a:t>
            </a:r>
            <a:r>
              <a:rPr lang="en-US" altLang="ja-JP" dirty="0"/>
              <a:t> + </a:t>
            </a:r>
            <a:r>
              <a:rPr lang="ja-JP" altLang="en-US" b="1" dirty="0"/>
              <a:t>双方向</a:t>
            </a:r>
            <a:r>
              <a:rPr lang="en-US" altLang="ja-JP" b="1" dirty="0"/>
              <a:t>LSTM</a:t>
            </a:r>
          </a:p>
          <a:p>
            <a:pPr lvl="1"/>
            <a:r>
              <a:rPr kumimoji="1" lang="en-US" altLang="ja-JP" b="1" dirty="0"/>
              <a:t>BERT</a:t>
            </a:r>
          </a:p>
          <a:p>
            <a:pPr lvl="1"/>
            <a:r>
              <a:rPr kumimoji="1" lang="ja-JP" altLang="en-US" dirty="0"/>
              <a:t>解釈：</a:t>
            </a:r>
            <a:r>
              <a:rPr kumimoji="1" lang="en-US" altLang="ja-JP" b="1" dirty="0"/>
              <a:t>LIME</a:t>
            </a:r>
            <a:r>
              <a:rPr kumimoji="1" lang="ja-JP" altLang="en-US" dirty="0"/>
              <a:t>による重要語の可視化</a:t>
            </a:r>
          </a:p>
        </p:txBody>
      </p:sp>
      <p:sp>
        <p:nvSpPr>
          <p:cNvPr id="4" name="スライド番号プレースホルダー 3">
            <a:extLst>
              <a:ext uri="{FF2B5EF4-FFF2-40B4-BE49-F238E27FC236}">
                <a16:creationId xmlns:a16="http://schemas.microsoft.com/office/drawing/2014/main" id="{458775E8-A323-7CF3-2BC6-E93309795CD3}"/>
              </a:ext>
            </a:extLst>
          </p:cNvPr>
          <p:cNvSpPr>
            <a:spLocks noGrp="1"/>
          </p:cNvSpPr>
          <p:nvPr>
            <p:ph type="sldNum" sz="quarter" idx="12"/>
          </p:nvPr>
        </p:nvSpPr>
        <p:spPr/>
        <p:txBody>
          <a:bodyPr/>
          <a:lstStyle/>
          <a:p>
            <a:fld id="{425BCB22-CB69-44BC-B16E-26E4C24063E2}" type="slidenum">
              <a:rPr kumimoji="1" lang="ja-JP" altLang="en-US" smtClean="0"/>
              <a:t>7</a:t>
            </a:fld>
            <a:endParaRPr kumimoji="1" lang="ja-JP" altLang="en-US"/>
          </a:p>
        </p:txBody>
      </p:sp>
    </p:spTree>
    <p:extLst>
      <p:ext uri="{BB962C8B-B14F-4D97-AF65-F5344CB8AC3E}">
        <p14:creationId xmlns:p14="http://schemas.microsoft.com/office/powerpoint/2010/main" val="2033687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682ACF-973F-9620-4C6F-DE334F407D99}"/>
              </a:ext>
            </a:extLst>
          </p:cNvPr>
          <p:cNvSpPr>
            <a:spLocks noGrp="1"/>
          </p:cNvSpPr>
          <p:nvPr>
            <p:ph type="title"/>
          </p:nvPr>
        </p:nvSpPr>
        <p:spPr/>
        <p:txBody>
          <a:bodyPr/>
          <a:lstStyle/>
          <a:p>
            <a:r>
              <a:rPr lang="ja-JP" altLang="en-US" dirty="0"/>
              <a:t>結果 分析</a:t>
            </a:r>
            <a:r>
              <a:rPr lang="en-US" altLang="ja-JP" dirty="0"/>
              <a:t>1</a:t>
            </a:r>
            <a:r>
              <a:rPr lang="ja-JP" altLang="en-US" dirty="0"/>
              <a:t> </a:t>
            </a:r>
            <a:r>
              <a:rPr lang="en-US" altLang="ja-JP" dirty="0"/>
              <a:t>:</a:t>
            </a:r>
            <a:r>
              <a:rPr lang="ja-JP" altLang="en-US" dirty="0"/>
              <a:t> 数値データの予測性能</a:t>
            </a:r>
            <a:endParaRPr kumimoji="1" lang="ja-JP" altLang="en-US" dirty="0"/>
          </a:p>
        </p:txBody>
      </p:sp>
      <p:graphicFrame>
        <p:nvGraphicFramePr>
          <p:cNvPr id="4" name="コンテンツ プレースホルダー 3">
            <a:extLst>
              <a:ext uri="{FF2B5EF4-FFF2-40B4-BE49-F238E27FC236}">
                <a16:creationId xmlns:a16="http://schemas.microsoft.com/office/drawing/2014/main" id="{EC3D8F63-6242-45D3-7F40-798DEF20E2A4}"/>
              </a:ext>
            </a:extLst>
          </p:cNvPr>
          <p:cNvGraphicFramePr>
            <a:graphicFrameLocks noGrp="1"/>
          </p:cNvGraphicFramePr>
          <p:nvPr>
            <p:ph idx="1"/>
            <p:extLst>
              <p:ext uri="{D42A27DB-BD31-4B8C-83A1-F6EECF244321}">
                <p14:modId xmlns:p14="http://schemas.microsoft.com/office/powerpoint/2010/main" val="1627866406"/>
              </p:ext>
            </p:extLst>
          </p:nvPr>
        </p:nvGraphicFramePr>
        <p:xfrm>
          <a:off x="644975" y="3414891"/>
          <a:ext cx="5451025" cy="3107292"/>
        </p:xfrm>
        <a:graphic>
          <a:graphicData uri="http://schemas.openxmlformats.org/drawingml/2006/table">
            <a:tbl>
              <a:tblPr firstRow="1" bandRow="1">
                <a:tableStyleId>{9D7B26C5-4107-4FEC-AEDC-1716B250A1EF}</a:tableStyleId>
              </a:tblPr>
              <a:tblGrid>
                <a:gridCol w="1851025">
                  <a:extLst>
                    <a:ext uri="{9D8B030D-6E8A-4147-A177-3AD203B41FA5}">
                      <a16:colId xmlns:a16="http://schemas.microsoft.com/office/drawing/2014/main" val="2707418822"/>
                    </a:ext>
                  </a:extLst>
                </a:gridCol>
                <a:gridCol w="900000">
                  <a:extLst>
                    <a:ext uri="{9D8B030D-6E8A-4147-A177-3AD203B41FA5}">
                      <a16:colId xmlns:a16="http://schemas.microsoft.com/office/drawing/2014/main" val="3555876689"/>
                    </a:ext>
                  </a:extLst>
                </a:gridCol>
                <a:gridCol w="900000">
                  <a:extLst>
                    <a:ext uri="{9D8B030D-6E8A-4147-A177-3AD203B41FA5}">
                      <a16:colId xmlns:a16="http://schemas.microsoft.com/office/drawing/2014/main" val="764906577"/>
                    </a:ext>
                  </a:extLst>
                </a:gridCol>
                <a:gridCol w="900000">
                  <a:extLst>
                    <a:ext uri="{9D8B030D-6E8A-4147-A177-3AD203B41FA5}">
                      <a16:colId xmlns:a16="http://schemas.microsoft.com/office/drawing/2014/main" val="3149079588"/>
                    </a:ext>
                  </a:extLst>
                </a:gridCol>
                <a:gridCol w="900000">
                  <a:extLst>
                    <a:ext uri="{9D8B030D-6E8A-4147-A177-3AD203B41FA5}">
                      <a16:colId xmlns:a16="http://schemas.microsoft.com/office/drawing/2014/main" val="3434638974"/>
                    </a:ext>
                  </a:extLst>
                </a:gridCol>
              </a:tblGrid>
              <a:tr h="436052">
                <a:tc>
                  <a:txBody>
                    <a:bodyPr/>
                    <a:lstStyle/>
                    <a:p>
                      <a:pPr algn="ctr" fontAlgn="ctr">
                        <a:buNone/>
                      </a:pP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モデル</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dirty="0">
                          <a:solidFill>
                            <a:srgbClr val="000000"/>
                          </a:solidFill>
                          <a:effectLst/>
                        </a:rPr>
                        <a:t>正解率</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dirty="0">
                          <a:solidFill>
                            <a:srgbClr val="000000"/>
                          </a:solidFill>
                          <a:effectLst/>
                        </a:rPr>
                        <a:t>適合率</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dirty="0">
                          <a:solidFill>
                            <a:srgbClr val="000000"/>
                          </a:solidFill>
                          <a:effectLst/>
                        </a:rPr>
                        <a:t>再現率</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dirty="0">
                          <a:solidFill>
                            <a:srgbClr val="000000"/>
                          </a:solidFill>
                          <a:effectLst/>
                        </a:rPr>
                        <a:t>F1</a:t>
                      </a:r>
                      <a:r>
                        <a:rPr lang="ja-JP" altLang="en-US" sz="1600" b="0" u="none" strike="noStrike" dirty="0">
                          <a:solidFill>
                            <a:srgbClr val="000000"/>
                          </a:solidFill>
                          <a:effectLst/>
                        </a:rPr>
                        <a:t>値</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813747225"/>
                  </a:ext>
                </a:extLst>
              </a:tr>
              <a:tr h="436052">
                <a:tc>
                  <a:txBody>
                    <a:bodyPr/>
                    <a:lstStyle/>
                    <a:p>
                      <a:pPr algn="ctr" fontAlgn="ctr">
                        <a:buNone/>
                      </a:pPr>
                      <a:r>
                        <a:rPr lang="en-US" sz="1600" b="0" u="none" strike="noStrike" dirty="0" err="1">
                          <a:solidFill>
                            <a:srgbClr val="000000"/>
                          </a:solidFill>
                          <a:effectLst/>
                        </a:rPr>
                        <a:t>XGBoost</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0.783</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0.789</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0.775</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0.782</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4201504885"/>
                  </a:ext>
                </a:extLst>
              </a:tr>
              <a:tr h="436052">
                <a:tc>
                  <a:txBody>
                    <a:bodyPr/>
                    <a:lstStyle/>
                    <a:p>
                      <a:pPr algn="ctr" fontAlgn="ctr">
                        <a:buNone/>
                      </a:pPr>
                      <a:r>
                        <a:rPr lang="en-US" sz="1600" b="0" u="none" strike="noStrike" dirty="0">
                          <a:solidFill>
                            <a:srgbClr val="000000"/>
                          </a:solidFill>
                          <a:effectLst/>
                        </a:rPr>
                        <a:t>LightGBM</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0.782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0.788</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0.773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0.780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201001585"/>
                  </a:ext>
                </a:extLst>
              </a:tr>
              <a:tr h="436052">
                <a:tc>
                  <a:txBody>
                    <a:bodyPr/>
                    <a:lstStyle/>
                    <a:p>
                      <a:pPr algn="ctr" fontAlgn="ctr">
                        <a:buNone/>
                      </a:pPr>
                      <a:r>
                        <a:rPr lang="en-US" sz="1600" b="0" u="none" strike="noStrike" dirty="0" err="1">
                          <a:solidFill>
                            <a:srgbClr val="000000"/>
                          </a:solidFill>
                          <a:effectLst/>
                        </a:rPr>
                        <a:t>RandomForest</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0.764</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0.770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0.755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0.762</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525430089"/>
                  </a:ext>
                </a:extLst>
              </a:tr>
              <a:tr h="436052">
                <a:tc>
                  <a:txBody>
                    <a:bodyPr/>
                    <a:lstStyle/>
                    <a:p>
                      <a:pPr algn="ctr" fontAlgn="ctr">
                        <a:buNone/>
                      </a:pPr>
                      <a:r>
                        <a:rPr lang="en-US" sz="1600" b="0" u="none" strike="noStrike" dirty="0">
                          <a:solidFill>
                            <a:srgbClr val="000000"/>
                          </a:solidFill>
                          <a:effectLst/>
                        </a:rPr>
                        <a:t>MLP</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0.754</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0.749</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0.765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0.756</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799327528"/>
                  </a:ext>
                </a:extLst>
              </a:tr>
              <a:tr h="436052">
                <a:tc>
                  <a:txBody>
                    <a:bodyPr/>
                    <a:lstStyle/>
                    <a:p>
                      <a:pPr algn="ctr" fontAlgn="ctr">
                        <a:buNone/>
                      </a:pPr>
                      <a:r>
                        <a:rPr lang="en-US" sz="1600" b="0" u="none" strike="noStrike" dirty="0">
                          <a:solidFill>
                            <a:srgbClr val="000000"/>
                          </a:solidFill>
                          <a:effectLst/>
                        </a:rPr>
                        <a:t>SVM</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0.673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0.778</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0.722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553296039"/>
                  </a:ext>
                </a:extLst>
              </a:tr>
              <a:tr h="490980">
                <a:tc>
                  <a:txBody>
                    <a:bodyPr/>
                    <a:lstStyle/>
                    <a:p>
                      <a:pPr algn="ctr" fontAlgn="ctr">
                        <a:buNone/>
                      </a:pPr>
                      <a:r>
                        <a:rPr lang="en-US" sz="1600" b="0" u="none" strike="noStrike" dirty="0" err="1">
                          <a:solidFill>
                            <a:srgbClr val="000000"/>
                          </a:solidFill>
                          <a:effectLst/>
                        </a:rPr>
                        <a:t>LogisticRegression</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0.658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0.625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0.787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0.697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330752126"/>
                  </a:ext>
                </a:extLst>
              </a:tr>
            </a:tbl>
          </a:graphicData>
        </a:graphic>
      </p:graphicFrame>
      <p:sp>
        <p:nvSpPr>
          <p:cNvPr id="10" name="テキスト ボックス 9">
            <a:extLst>
              <a:ext uri="{FF2B5EF4-FFF2-40B4-BE49-F238E27FC236}">
                <a16:creationId xmlns:a16="http://schemas.microsoft.com/office/drawing/2014/main" id="{7263E5D1-6D14-5494-655E-ADCA6EBDDE60}"/>
              </a:ext>
            </a:extLst>
          </p:cNvPr>
          <p:cNvSpPr txBox="1"/>
          <p:nvPr/>
        </p:nvSpPr>
        <p:spPr>
          <a:xfrm>
            <a:off x="2061474" y="3045559"/>
            <a:ext cx="2618025" cy="369332"/>
          </a:xfrm>
          <a:prstGeom prst="rect">
            <a:avLst/>
          </a:prstGeom>
          <a:noFill/>
        </p:spPr>
        <p:txBody>
          <a:bodyPr wrap="none" rtlCol="0">
            <a:spAutoFit/>
          </a:bodyPr>
          <a:lstStyle/>
          <a:p>
            <a:pPr algn="ctr"/>
            <a:r>
              <a:rPr kumimoji="1" lang="ja-JP" altLang="en-US" dirty="0"/>
              <a:t>表</a:t>
            </a:r>
            <a:r>
              <a:rPr kumimoji="1" lang="en-US" altLang="ja-JP" dirty="0"/>
              <a:t>. </a:t>
            </a:r>
            <a:r>
              <a:rPr kumimoji="1" lang="ja-JP" altLang="en-US" dirty="0"/>
              <a:t>各モデルの性能評価</a:t>
            </a:r>
          </a:p>
        </p:txBody>
      </p:sp>
      <p:pic>
        <p:nvPicPr>
          <p:cNvPr id="12" name="図 11" descr="グラフ, 棒グラフ&#10;&#10;AI 生成コンテンツは誤りを含む可能性があります。">
            <a:extLst>
              <a:ext uri="{FF2B5EF4-FFF2-40B4-BE49-F238E27FC236}">
                <a16:creationId xmlns:a16="http://schemas.microsoft.com/office/drawing/2014/main" id="{BB5B8519-7FD4-2DD7-284A-553A69A6DC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8" y="2680648"/>
            <a:ext cx="5609490" cy="3472203"/>
          </a:xfrm>
          <a:prstGeom prst="rect">
            <a:avLst/>
          </a:prstGeom>
        </p:spPr>
      </p:pic>
      <p:sp>
        <p:nvSpPr>
          <p:cNvPr id="13" name="テキスト ボックス 12">
            <a:extLst>
              <a:ext uri="{FF2B5EF4-FFF2-40B4-BE49-F238E27FC236}">
                <a16:creationId xmlns:a16="http://schemas.microsoft.com/office/drawing/2014/main" id="{46CC6E4E-2D5A-CD98-DABB-B881191CBA9F}"/>
              </a:ext>
            </a:extLst>
          </p:cNvPr>
          <p:cNvSpPr txBox="1"/>
          <p:nvPr/>
        </p:nvSpPr>
        <p:spPr>
          <a:xfrm>
            <a:off x="7355287" y="6152851"/>
            <a:ext cx="3090911" cy="369332"/>
          </a:xfrm>
          <a:prstGeom prst="rect">
            <a:avLst/>
          </a:prstGeom>
          <a:noFill/>
        </p:spPr>
        <p:txBody>
          <a:bodyPr wrap="none" rtlCol="0">
            <a:spAutoFit/>
          </a:bodyPr>
          <a:lstStyle/>
          <a:p>
            <a:pPr algn="ctr"/>
            <a:r>
              <a:rPr lang="ja-JP" altLang="en-US" dirty="0"/>
              <a:t>図</a:t>
            </a:r>
            <a:r>
              <a:rPr lang="en-US" altLang="ja-JP" dirty="0"/>
              <a:t>. </a:t>
            </a:r>
            <a:r>
              <a:rPr kumimoji="1" lang="ja-JP" altLang="en-US" dirty="0"/>
              <a:t>特徴量重要度 </a:t>
            </a:r>
            <a:r>
              <a:rPr kumimoji="1" lang="en-US" altLang="ja-JP" dirty="0"/>
              <a:t>- </a:t>
            </a:r>
            <a:r>
              <a:rPr kumimoji="1" lang="en-US" altLang="ja-JP" dirty="0" err="1"/>
              <a:t>XGBoost</a:t>
            </a:r>
            <a:endParaRPr kumimoji="1" lang="ja-JP" altLang="en-US" dirty="0"/>
          </a:p>
        </p:txBody>
      </p:sp>
      <p:pic>
        <p:nvPicPr>
          <p:cNvPr id="3" name="図 2" descr="グラフ, 棒グラフ&#10;&#10;AI 生成コンテンツは誤りを含む可能性があります。">
            <a:extLst>
              <a:ext uri="{FF2B5EF4-FFF2-40B4-BE49-F238E27FC236}">
                <a16:creationId xmlns:a16="http://schemas.microsoft.com/office/drawing/2014/main" id="{87627048-5EA7-7782-8D3A-E40E11E9726C}"/>
              </a:ext>
            </a:extLst>
          </p:cNvPr>
          <p:cNvPicPr>
            <a:picLocks noChangeAspect="1"/>
          </p:cNvPicPr>
          <p:nvPr/>
        </p:nvPicPr>
        <p:blipFill>
          <a:blip r:embed="rId3">
            <a:extLst>
              <a:ext uri="{28A0092B-C50C-407E-A947-70E740481C1C}">
                <a14:useLocalDpi xmlns:a14="http://schemas.microsoft.com/office/drawing/2010/main" val="0"/>
              </a:ext>
            </a:extLst>
          </a:blip>
          <a:srcRect l="4285" t="6821" r="70219" b="67013"/>
          <a:stretch>
            <a:fillRect/>
          </a:stretch>
        </p:blipFill>
        <p:spPr>
          <a:xfrm>
            <a:off x="8323383" y="3595598"/>
            <a:ext cx="3212123" cy="2040488"/>
          </a:xfrm>
          <a:prstGeom prst="rect">
            <a:avLst/>
          </a:prstGeom>
        </p:spPr>
      </p:pic>
      <p:sp>
        <p:nvSpPr>
          <p:cNvPr id="5" name="スライド番号プレースホルダー 4">
            <a:extLst>
              <a:ext uri="{FF2B5EF4-FFF2-40B4-BE49-F238E27FC236}">
                <a16:creationId xmlns:a16="http://schemas.microsoft.com/office/drawing/2014/main" id="{818AB999-8FAD-4BD2-4F82-B77870874E98}"/>
              </a:ext>
            </a:extLst>
          </p:cNvPr>
          <p:cNvSpPr>
            <a:spLocks noGrp="1"/>
          </p:cNvSpPr>
          <p:nvPr>
            <p:ph type="sldNum" sz="quarter" idx="12"/>
          </p:nvPr>
        </p:nvSpPr>
        <p:spPr/>
        <p:txBody>
          <a:bodyPr/>
          <a:lstStyle/>
          <a:p>
            <a:fld id="{425BCB22-CB69-44BC-B16E-26E4C24063E2}" type="slidenum">
              <a:rPr kumimoji="1" lang="ja-JP" altLang="en-US" smtClean="0"/>
              <a:t>8</a:t>
            </a:fld>
            <a:endParaRPr kumimoji="1" lang="ja-JP" altLang="en-US"/>
          </a:p>
        </p:txBody>
      </p:sp>
      <p:sp>
        <p:nvSpPr>
          <p:cNvPr id="6" name="テキスト ボックス 5">
            <a:extLst>
              <a:ext uri="{FF2B5EF4-FFF2-40B4-BE49-F238E27FC236}">
                <a16:creationId xmlns:a16="http://schemas.microsoft.com/office/drawing/2014/main" id="{33E2E749-8885-1D4C-46C3-3376893B6813}"/>
              </a:ext>
            </a:extLst>
          </p:cNvPr>
          <p:cNvSpPr txBox="1"/>
          <p:nvPr/>
        </p:nvSpPr>
        <p:spPr>
          <a:xfrm>
            <a:off x="838198" y="1686829"/>
            <a:ext cx="10515599" cy="954107"/>
          </a:xfrm>
          <a:prstGeom prst="rect">
            <a:avLst/>
          </a:prstGeom>
          <a:noFill/>
        </p:spPr>
        <p:txBody>
          <a:bodyPr wrap="square" rtlCol="0">
            <a:spAutoFit/>
          </a:bodyPr>
          <a:lstStyle/>
          <a:p>
            <a:pPr marL="457200" indent="-457200">
              <a:buFont typeface="Arial" panose="020B0604020202020204" pitchFamily="34" charset="0"/>
              <a:buChar char="•"/>
            </a:pPr>
            <a:r>
              <a:rPr kumimoji="1" lang="ja-JP" altLang="en-US" sz="2800" dirty="0"/>
              <a:t>全作品対象では</a:t>
            </a:r>
            <a:r>
              <a:rPr lang="en-US" altLang="ja-JP" sz="2800" dirty="0" err="1"/>
              <a:t>XGBoost</a:t>
            </a:r>
            <a:r>
              <a:rPr lang="ja-JP" altLang="en-US" sz="2800" dirty="0"/>
              <a:t>と</a:t>
            </a:r>
            <a:r>
              <a:rPr lang="en-US" altLang="ja-JP" sz="2800" dirty="0"/>
              <a:t>LightGBM</a:t>
            </a:r>
            <a:r>
              <a:rPr lang="ja-JP" altLang="en-US" sz="2800" dirty="0"/>
              <a:t>が優位</a:t>
            </a:r>
            <a:endParaRPr lang="en-US" altLang="ja-JP" sz="2800" dirty="0"/>
          </a:p>
          <a:p>
            <a:pPr marL="457200" indent="-457200">
              <a:buFont typeface="Arial" panose="020B0604020202020204" pitchFamily="34" charset="0"/>
              <a:buChar char="•"/>
            </a:pPr>
            <a:r>
              <a:rPr lang="ja-JP" altLang="en-US" sz="2800" dirty="0"/>
              <a:t>人気度より更新頻度の方が重要度は高い</a:t>
            </a:r>
            <a:endParaRPr lang="en-US" altLang="ja-JP" sz="2800" dirty="0"/>
          </a:p>
        </p:txBody>
      </p:sp>
    </p:spTree>
    <p:extLst>
      <p:ext uri="{BB962C8B-B14F-4D97-AF65-F5344CB8AC3E}">
        <p14:creationId xmlns:p14="http://schemas.microsoft.com/office/powerpoint/2010/main" val="3060928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EE5F2A-53AB-5341-B31C-9BA35EF4679F}"/>
              </a:ext>
            </a:extLst>
          </p:cNvPr>
          <p:cNvSpPr>
            <a:spLocks noGrp="1"/>
          </p:cNvSpPr>
          <p:nvPr>
            <p:ph type="title"/>
          </p:nvPr>
        </p:nvSpPr>
        <p:spPr/>
        <p:txBody>
          <a:bodyPr/>
          <a:lstStyle/>
          <a:p>
            <a:r>
              <a:rPr lang="ja-JP" altLang="en-US" dirty="0"/>
              <a:t>結果 分析</a:t>
            </a:r>
            <a:r>
              <a:rPr lang="en-US" altLang="ja-JP" dirty="0"/>
              <a:t>1</a:t>
            </a:r>
            <a:r>
              <a:rPr lang="ja-JP" altLang="en-US" dirty="0"/>
              <a:t>：ジャンル毎の予測性能</a:t>
            </a:r>
            <a:endParaRPr kumimoji="1" lang="ja-JP" altLang="en-US" dirty="0"/>
          </a:p>
        </p:txBody>
      </p:sp>
      <p:graphicFrame>
        <p:nvGraphicFramePr>
          <p:cNvPr id="5" name="コンテンツ プレースホルダー 4">
            <a:extLst>
              <a:ext uri="{FF2B5EF4-FFF2-40B4-BE49-F238E27FC236}">
                <a16:creationId xmlns:a16="http://schemas.microsoft.com/office/drawing/2014/main" id="{7CB421FB-9C69-871D-57EF-36C96A96D239}"/>
              </a:ext>
            </a:extLst>
          </p:cNvPr>
          <p:cNvGraphicFramePr>
            <a:graphicFrameLocks noGrp="1"/>
          </p:cNvGraphicFramePr>
          <p:nvPr>
            <p:ph idx="1"/>
            <p:extLst>
              <p:ext uri="{D42A27DB-BD31-4B8C-83A1-F6EECF244321}">
                <p14:modId xmlns:p14="http://schemas.microsoft.com/office/powerpoint/2010/main" val="2789512750"/>
              </p:ext>
            </p:extLst>
          </p:nvPr>
        </p:nvGraphicFramePr>
        <p:xfrm>
          <a:off x="838200" y="2892875"/>
          <a:ext cx="10515600" cy="3600000"/>
        </p:xfrm>
        <a:graphic>
          <a:graphicData uri="http://schemas.openxmlformats.org/drawingml/2006/table">
            <a:tbl>
              <a:tblPr firstRow="1" bandRow="1">
                <a:tableStyleId>{9D7B26C5-4107-4FEC-AEDC-1716B250A1EF}</a:tableStyleId>
              </a:tblPr>
              <a:tblGrid>
                <a:gridCol w="1752600">
                  <a:extLst>
                    <a:ext uri="{9D8B030D-6E8A-4147-A177-3AD203B41FA5}">
                      <a16:colId xmlns:a16="http://schemas.microsoft.com/office/drawing/2014/main" val="4190164012"/>
                    </a:ext>
                  </a:extLst>
                </a:gridCol>
                <a:gridCol w="1752600">
                  <a:extLst>
                    <a:ext uri="{9D8B030D-6E8A-4147-A177-3AD203B41FA5}">
                      <a16:colId xmlns:a16="http://schemas.microsoft.com/office/drawing/2014/main" val="1650244350"/>
                    </a:ext>
                  </a:extLst>
                </a:gridCol>
                <a:gridCol w="1752600">
                  <a:extLst>
                    <a:ext uri="{9D8B030D-6E8A-4147-A177-3AD203B41FA5}">
                      <a16:colId xmlns:a16="http://schemas.microsoft.com/office/drawing/2014/main" val="3452099450"/>
                    </a:ext>
                  </a:extLst>
                </a:gridCol>
                <a:gridCol w="1752600">
                  <a:extLst>
                    <a:ext uri="{9D8B030D-6E8A-4147-A177-3AD203B41FA5}">
                      <a16:colId xmlns:a16="http://schemas.microsoft.com/office/drawing/2014/main" val="1395810024"/>
                    </a:ext>
                  </a:extLst>
                </a:gridCol>
                <a:gridCol w="1752600">
                  <a:extLst>
                    <a:ext uri="{9D8B030D-6E8A-4147-A177-3AD203B41FA5}">
                      <a16:colId xmlns:a16="http://schemas.microsoft.com/office/drawing/2014/main" val="2942380665"/>
                    </a:ext>
                  </a:extLst>
                </a:gridCol>
                <a:gridCol w="1752600">
                  <a:extLst>
                    <a:ext uri="{9D8B030D-6E8A-4147-A177-3AD203B41FA5}">
                      <a16:colId xmlns:a16="http://schemas.microsoft.com/office/drawing/2014/main" val="3854004429"/>
                    </a:ext>
                  </a:extLst>
                </a:gridCol>
              </a:tblGrid>
              <a:tr h="360000">
                <a:tc>
                  <a:txBody>
                    <a:bodyPr/>
                    <a:lstStyle/>
                    <a:p>
                      <a:pPr algn="ctr" fontAlgn="ctr">
                        <a:buNone/>
                      </a:pPr>
                      <a:r>
                        <a:rPr lang="ja-JP" altLang="en-US" sz="1600" b="0" u="none" strike="noStrike" dirty="0">
                          <a:solidFill>
                            <a:srgbClr val="000000"/>
                          </a:solidFill>
                          <a:effectLst/>
                        </a:rPr>
                        <a:t>ジャンル</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最高性能モデル</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正解率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適合率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再現率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a:solidFill>
                            <a:srgbClr val="000000"/>
                          </a:solidFill>
                          <a:effectLst/>
                        </a:rPr>
                        <a:t>F1</a:t>
                      </a:r>
                      <a:r>
                        <a:rPr lang="ja-JP" altLang="en-US" sz="1600" b="0" u="none" strike="noStrike">
                          <a:solidFill>
                            <a:srgbClr val="000000"/>
                          </a:solidFill>
                          <a:effectLst/>
                        </a:rPr>
                        <a:t>値</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620769718"/>
                  </a:ext>
                </a:extLst>
              </a:tr>
              <a:tr h="360000">
                <a:tc>
                  <a:txBody>
                    <a:bodyPr/>
                    <a:lstStyle/>
                    <a:p>
                      <a:pPr algn="ctr" fontAlgn="ctr">
                        <a:buNone/>
                      </a:pPr>
                      <a:r>
                        <a:rPr lang="ja-JP" altLang="en-US" sz="1600" b="0" u="none" strike="noStrike" dirty="0">
                          <a:solidFill>
                            <a:srgbClr val="000000"/>
                          </a:solidFill>
                          <a:effectLst/>
                        </a:rPr>
                        <a:t>全作品 </a:t>
                      </a:r>
                      <a:r>
                        <a:rPr lang="en-US" altLang="ja-JP" sz="1600" b="0" u="none" strike="noStrike" dirty="0">
                          <a:solidFill>
                            <a:srgbClr val="000000"/>
                          </a:solidFill>
                          <a:effectLst/>
                        </a:rPr>
                        <a:t>(</a:t>
                      </a:r>
                      <a:r>
                        <a:rPr lang="en-US" sz="1600" b="0" u="none" strike="noStrike" dirty="0">
                          <a:solidFill>
                            <a:srgbClr val="000000"/>
                          </a:solidFill>
                          <a:effectLst/>
                        </a:rPr>
                        <a:t>All)</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a:solidFill>
                            <a:srgbClr val="000000"/>
                          </a:solidFill>
                          <a:effectLst/>
                        </a:rPr>
                        <a:t>XGBoost</a:t>
                      </a:r>
                      <a:endParaRPr 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0.783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0.789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0.775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0.782</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817755182"/>
                  </a:ext>
                </a:extLst>
              </a:tr>
              <a:tr h="360000">
                <a:tc>
                  <a:txBody>
                    <a:bodyPr/>
                    <a:lstStyle/>
                    <a:p>
                      <a:pPr algn="ctr" fontAlgn="ctr">
                        <a:buNone/>
                      </a:pPr>
                      <a:r>
                        <a:rPr lang="zh-TW" altLang="en-US" sz="1600" b="1" u="none" strike="noStrike" dirty="0">
                          <a:solidFill>
                            <a:srgbClr val="000000"/>
                          </a:solidFill>
                          <a:effectLst/>
                        </a:rPr>
                        <a:t>異世界（恋愛）</a:t>
                      </a:r>
                      <a:endParaRPr lang="zh-TW" altLang="en-US"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1" u="none" strike="noStrike" dirty="0" err="1">
                          <a:solidFill>
                            <a:srgbClr val="000000"/>
                          </a:solidFill>
                          <a:effectLst/>
                        </a:rPr>
                        <a:t>XGBoost</a:t>
                      </a:r>
                      <a:endParaRPr lang="en-US"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0.875</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0.880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0.868</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0.874</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616308351"/>
                  </a:ext>
                </a:extLst>
              </a:tr>
              <a:tr h="360000">
                <a:tc>
                  <a:txBody>
                    <a:bodyPr/>
                    <a:lstStyle/>
                    <a:p>
                      <a:pPr algn="ctr" fontAlgn="ctr">
                        <a:buNone/>
                      </a:pPr>
                      <a:r>
                        <a:rPr lang="ja-JP" altLang="en-US" sz="1600" b="0" u="none" strike="noStrike">
                          <a:solidFill>
                            <a:srgbClr val="000000"/>
                          </a:solidFill>
                          <a:effectLst/>
                        </a:rPr>
                        <a:t>童話</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dirty="0">
                          <a:solidFill>
                            <a:srgbClr val="000000"/>
                          </a:solidFill>
                          <a:effectLst/>
                        </a:rPr>
                        <a:t>MLP (</a:t>
                      </a:r>
                      <a:r>
                        <a:rPr lang="en-US" sz="1600" b="0" u="none" strike="noStrike" dirty="0" err="1">
                          <a:solidFill>
                            <a:srgbClr val="000000"/>
                          </a:solidFill>
                          <a:effectLst/>
                        </a:rPr>
                        <a:t>NeuralNet</a:t>
                      </a:r>
                      <a:r>
                        <a:rPr lang="en-US" sz="1600" b="0" u="none" strike="noStrike" dirty="0">
                          <a:solidFill>
                            <a:srgbClr val="000000"/>
                          </a:solidFill>
                          <a:effectLst/>
                        </a:rPr>
                        <a:t>)</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0.789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0.792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0.791</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0.789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339215353"/>
                  </a:ext>
                </a:extLst>
              </a:tr>
              <a:tr h="360000">
                <a:tc>
                  <a:txBody>
                    <a:bodyPr/>
                    <a:lstStyle/>
                    <a:p>
                      <a:pPr algn="ctr" fontAlgn="ctr">
                        <a:buNone/>
                      </a:pPr>
                      <a:r>
                        <a:rPr lang="ja-JP" altLang="en-US" sz="1600" b="0" u="none" strike="noStrike">
                          <a:solidFill>
                            <a:srgbClr val="000000"/>
                          </a:solidFill>
                          <a:effectLst/>
                        </a:rPr>
                        <a:t>純文学</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dirty="0" err="1">
                          <a:solidFill>
                            <a:srgbClr val="000000"/>
                          </a:solidFill>
                          <a:effectLst/>
                        </a:rPr>
                        <a:t>XGBoost</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0.783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0.773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0.801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0.787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312667409"/>
                  </a:ext>
                </a:extLst>
              </a:tr>
              <a:tr h="360000">
                <a:tc>
                  <a:txBody>
                    <a:bodyPr/>
                    <a:lstStyle/>
                    <a:p>
                      <a:pPr algn="ctr" fontAlgn="ctr">
                        <a:buNone/>
                      </a:pPr>
                      <a:r>
                        <a:rPr lang="ja-JP" altLang="en-US" sz="1600" b="0" u="none" strike="noStrike" dirty="0">
                          <a:solidFill>
                            <a:srgbClr val="000000"/>
                          </a:solidFill>
                          <a:effectLst/>
                        </a:rPr>
                        <a:t>ホラー</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a:solidFill>
                            <a:srgbClr val="000000"/>
                          </a:solidFill>
                          <a:effectLst/>
                        </a:rPr>
                        <a:t>LightGBM</a:t>
                      </a:r>
                      <a:endParaRPr 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0.783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0.775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0.798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0.786</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274651589"/>
                  </a:ext>
                </a:extLst>
              </a:tr>
              <a:tr h="360000">
                <a:tc>
                  <a:txBody>
                    <a:bodyPr/>
                    <a:lstStyle/>
                    <a:p>
                      <a:pPr algn="ctr" fontAlgn="ctr">
                        <a:buNone/>
                      </a:pPr>
                      <a:r>
                        <a:rPr lang="zh-TW" altLang="en-US" sz="1600" b="0" u="none" strike="noStrike">
                          <a:solidFill>
                            <a:srgbClr val="000000"/>
                          </a:solidFill>
                          <a:effectLst/>
                        </a:rPr>
                        <a:t>現実世界（恋愛）</a:t>
                      </a:r>
                      <a:endParaRPr lang="zh-TW"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a:solidFill>
                            <a:srgbClr val="000000"/>
                          </a:solidFill>
                          <a:effectLst/>
                        </a:rPr>
                        <a:t>LightGBM</a:t>
                      </a:r>
                      <a:endParaRPr 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0.784</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0.790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0.773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0.781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203469064"/>
                  </a:ext>
                </a:extLst>
              </a:tr>
              <a:tr h="360000">
                <a:tc>
                  <a:txBody>
                    <a:bodyPr/>
                    <a:lstStyle/>
                    <a:p>
                      <a:pPr algn="ctr" fontAlgn="ctr">
                        <a:buNone/>
                      </a:pPr>
                      <a:r>
                        <a:rPr lang="ja-JP" altLang="en-US" sz="1600" b="0" u="none" strike="noStrike">
                          <a:solidFill>
                            <a:srgbClr val="000000"/>
                          </a:solidFill>
                          <a:effectLst/>
                        </a:rPr>
                        <a:t>ノンジャンル</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a:solidFill>
                            <a:srgbClr val="000000"/>
                          </a:solidFill>
                          <a:effectLst/>
                        </a:rPr>
                        <a:t>LightGBM</a:t>
                      </a:r>
                      <a:endParaRPr 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0.775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0.793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0.745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0.768</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928868387"/>
                  </a:ext>
                </a:extLst>
              </a:tr>
              <a:tr h="360000">
                <a:tc>
                  <a:txBody>
                    <a:bodyPr/>
                    <a:lstStyle/>
                    <a:p>
                      <a:pPr algn="ctr" fontAlgn="ctr">
                        <a:buNone/>
                      </a:pPr>
                      <a:r>
                        <a:rPr lang="ja-JP" altLang="en-US" sz="1600" b="0" u="none" strike="noStrike" dirty="0">
                          <a:solidFill>
                            <a:srgbClr val="000000"/>
                          </a:solidFill>
                          <a:effectLst/>
                        </a:rPr>
                        <a:t>ヒューマンドラマ</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a:solidFill>
                            <a:srgbClr val="000000"/>
                          </a:solidFill>
                          <a:effectLst/>
                        </a:rPr>
                        <a:t>XGBoost</a:t>
                      </a:r>
                      <a:endParaRPr 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0.766</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0.773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0.755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0.763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4017545045"/>
                  </a:ext>
                </a:extLst>
              </a:tr>
              <a:tr h="360000">
                <a:tc>
                  <a:txBody>
                    <a:bodyPr/>
                    <a:lstStyle/>
                    <a:p>
                      <a:pPr algn="ctr" fontAlgn="ctr">
                        <a:buNone/>
                      </a:pPr>
                      <a:r>
                        <a:rPr lang="ja-JP" altLang="en-US" sz="1600" b="0" u="none" strike="noStrike">
                          <a:solidFill>
                            <a:srgbClr val="000000"/>
                          </a:solidFill>
                          <a:effectLst/>
                        </a:rPr>
                        <a:t>コメディー</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a:solidFill>
                            <a:srgbClr val="000000"/>
                          </a:solidFill>
                          <a:effectLst/>
                        </a:rPr>
                        <a:t>XGBoost</a:t>
                      </a:r>
                      <a:endParaRPr 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0.737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0.745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0.722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0.733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785885195"/>
                  </a:ext>
                </a:extLst>
              </a:tr>
            </a:tbl>
          </a:graphicData>
        </a:graphic>
      </p:graphicFrame>
      <p:sp>
        <p:nvSpPr>
          <p:cNvPr id="4" name="スライド番号プレースホルダー 3">
            <a:extLst>
              <a:ext uri="{FF2B5EF4-FFF2-40B4-BE49-F238E27FC236}">
                <a16:creationId xmlns:a16="http://schemas.microsoft.com/office/drawing/2014/main" id="{4C050DE7-BD68-B349-0D6F-A3877B92654A}"/>
              </a:ext>
            </a:extLst>
          </p:cNvPr>
          <p:cNvSpPr>
            <a:spLocks noGrp="1"/>
          </p:cNvSpPr>
          <p:nvPr>
            <p:ph type="sldNum" sz="quarter" idx="12"/>
          </p:nvPr>
        </p:nvSpPr>
        <p:spPr/>
        <p:txBody>
          <a:bodyPr/>
          <a:lstStyle/>
          <a:p>
            <a:fld id="{425BCB22-CB69-44BC-B16E-26E4C24063E2}" type="slidenum">
              <a:rPr kumimoji="1" lang="ja-JP" altLang="en-US" smtClean="0"/>
              <a:t>9</a:t>
            </a:fld>
            <a:endParaRPr kumimoji="1" lang="ja-JP" altLang="en-US"/>
          </a:p>
        </p:txBody>
      </p:sp>
      <p:sp>
        <p:nvSpPr>
          <p:cNvPr id="6" name="テキスト ボックス 5">
            <a:extLst>
              <a:ext uri="{FF2B5EF4-FFF2-40B4-BE49-F238E27FC236}">
                <a16:creationId xmlns:a16="http://schemas.microsoft.com/office/drawing/2014/main" id="{39EA0AAD-CFE9-FAD5-9AD8-E4D7F91D4339}"/>
              </a:ext>
            </a:extLst>
          </p:cNvPr>
          <p:cNvSpPr txBox="1"/>
          <p:nvPr/>
        </p:nvSpPr>
        <p:spPr>
          <a:xfrm>
            <a:off x="4671571" y="2523543"/>
            <a:ext cx="2848857" cy="369332"/>
          </a:xfrm>
          <a:prstGeom prst="rect">
            <a:avLst/>
          </a:prstGeom>
          <a:noFill/>
        </p:spPr>
        <p:txBody>
          <a:bodyPr wrap="none" rtlCol="0">
            <a:spAutoFit/>
          </a:bodyPr>
          <a:lstStyle/>
          <a:p>
            <a:pPr algn="ctr"/>
            <a:r>
              <a:rPr kumimoji="1" lang="ja-JP" altLang="en-US" dirty="0"/>
              <a:t>表</a:t>
            </a:r>
            <a:r>
              <a:rPr kumimoji="1" lang="en-US" altLang="ja-JP" dirty="0"/>
              <a:t>. </a:t>
            </a:r>
            <a:r>
              <a:rPr kumimoji="1" lang="ja-JP" altLang="en-US" dirty="0"/>
              <a:t>各ジャンルの性能評価</a:t>
            </a:r>
          </a:p>
        </p:txBody>
      </p:sp>
      <p:sp>
        <p:nvSpPr>
          <p:cNvPr id="7" name="テキスト ボックス 6">
            <a:extLst>
              <a:ext uri="{FF2B5EF4-FFF2-40B4-BE49-F238E27FC236}">
                <a16:creationId xmlns:a16="http://schemas.microsoft.com/office/drawing/2014/main" id="{70DC5B86-4B6E-7AC9-2C71-D80B1C987D34}"/>
              </a:ext>
            </a:extLst>
          </p:cNvPr>
          <p:cNvSpPr txBox="1"/>
          <p:nvPr/>
        </p:nvSpPr>
        <p:spPr>
          <a:xfrm>
            <a:off x="838201" y="1690688"/>
            <a:ext cx="10515599" cy="954107"/>
          </a:xfrm>
          <a:prstGeom prst="rect">
            <a:avLst/>
          </a:prstGeom>
          <a:noFill/>
        </p:spPr>
        <p:txBody>
          <a:bodyPr wrap="square" rtlCol="0">
            <a:spAutoFit/>
          </a:bodyPr>
          <a:lstStyle/>
          <a:p>
            <a:pPr marL="457200" indent="-457200">
              <a:buFont typeface="Arial" panose="020B0604020202020204" pitchFamily="34" charset="0"/>
              <a:buChar char="•"/>
            </a:pPr>
            <a:r>
              <a:rPr kumimoji="1" lang="ja-JP" altLang="en-US" sz="2800" dirty="0"/>
              <a:t>異世界（恋愛）ジャンルのモデル性能が極めて高い</a:t>
            </a:r>
            <a:endParaRPr kumimoji="1" lang="en-US" altLang="ja-JP" sz="2800" dirty="0"/>
          </a:p>
          <a:p>
            <a:pPr marL="457200" indent="-457200">
              <a:buFont typeface="Arial" panose="020B0604020202020204" pitchFamily="34" charset="0"/>
              <a:buChar char="•"/>
            </a:pPr>
            <a:r>
              <a:rPr lang="ja-JP" altLang="en-US" sz="2800" dirty="0"/>
              <a:t>一部性能の悪化</a:t>
            </a:r>
            <a:endParaRPr lang="en-US" altLang="ja-JP" sz="2800" dirty="0"/>
          </a:p>
        </p:txBody>
      </p:sp>
    </p:spTree>
    <p:extLst>
      <p:ext uri="{BB962C8B-B14F-4D97-AF65-F5344CB8AC3E}">
        <p14:creationId xmlns:p14="http://schemas.microsoft.com/office/powerpoint/2010/main" val="1576914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E024F3-FCC6-54F8-3B1D-095A26C6B950}"/>
              </a:ext>
            </a:extLst>
          </p:cNvPr>
          <p:cNvSpPr>
            <a:spLocks noGrp="1"/>
          </p:cNvSpPr>
          <p:nvPr>
            <p:ph type="title"/>
          </p:nvPr>
        </p:nvSpPr>
        <p:spPr/>
        <p:txBody>
          <a:bodyPr/>
          <a:lstStyle/>
          <a:p>
            <a:r>
              <a:rPr lang="ja-JP" altLang="en-US" dirty="0"/>
              <a:t>結果</a:t>
            </a:r>
            <a:r>
              <a:rPr lang="en-US" altLang="ja-JP" dirty="0"/>
              <a:t>2</a:t>
            </a:r>
            <a:r>
              <a:rPr lang="ja-JP" altLang="en-US" dirty="0"/>
              <a:t>：</a:t>
            </a:r>
            <a:r>
              <a:rPr lang="en-US" altLang="ja-JP" dirty="0"/>
              <a:t>TF-IDF</a:t>
            </a:r>
            <a:endParaRPr kumimoji="1" lang="ja-JP" altLang="en-US" dirty="0"/>
          </a:p>
        </p:txBody>
      </p:sp>
      <p:sp>
        <p:nvSpPr>
          <p:cNvPr id="7" name="テキスト ボックス 6">
            <a:extLst>
              <a:ext uri="{FF2B5EF4-FFF2-40B4-BE49-F238E27FC236}">
                <a16:creationId xmlns:a16="http://schemas.microsoft.com/office/drawing/2014/main" id="{435B341E-334D-05D5-278C-621EDDE72247}"/>
              </a:ext>
            </a:extLst>
          </p:cNvPr>
          <p:cNvSpPr txBox="1"/>
          <p:nvPr/>
        </p:nvSpPr>
        <p:spPr>
          <a:xfrm>
            <a:off x="4902401" y="3175269"/>
            <a:ext cx="2387192" cy="369332"/>
          </a:xfrm>
          <a:prstGeom prst="rect">
            <a:avLst/>
          </a:prstGeom>
          <a:noFill/>
        </p:spPr>
        <p:txBody>
          <a:bodyPr wrap="none" rtlCol="0">
            <a:spAutoFit/>
          </a:bodyPr>
          <a:lstStyle/>
          <a:p>
            <a:r>
              <a:rPr lang="ja-JP" altLang="en-US" dirty="0"/>
              <a:t>表</a:t>
            </a:r>
            <a:r>
              <a:rPr lang="en-US" altLang="ja-JP" dirty="0"/>
              <a:t>. </a:t>
            </a:r>
            <a:r>
              <a:rPr lang="ja-JP" altLang="en-US" dirty="0"/>
              <a:t>各ジャンルの評価</a:t>
            </a:r>
            <a:endParaRPr kumimoji="1" lang="ja-JP" altLang="en-US" dirty="0"/>
          </a:p>
        </p:txBody>
      </p:sp>
      <p:sp>
        <p:nvSpPr>
          <p:cNvPr id="3" name="テキスト ボックス 2">
            <a:extLst>
              <a:ext uri="{FF2B5EF4-FFF2-40B4-BE49-F238E27FC236}">
                <a16:creationId xmlns:a16="http://schemas.microsoft.com/office/drawing/2014/main" id="{CCB742BE-F1FB-A6AD-7A52-8174CD0D8B62}"/>
              </a:ext>
            </a:extLst>
          </p:cNvPr>
          <p:cNvSpPr txBox="1"/>
          <p:nvPr/>
        </p:nvSpPr>
        <p:spPr>
          <a:xfrm>
            <a:off x="838198" y="1955925"/>
            <a:ext cx="10515599" cy="954107"/>
          </a:xfrm>
          <a:prstGeom prst="rect">
            <a:avLst/>
          </a:prstGeom>
          <a:noFill/>
        </p:spPr>
        <p:txBody>
          <a:bodyPr wrap="square" rtlCol="0">
            <a:spAutoFit/>
          </a:bodyPr>
          <a:lstStyle/>
          <a:p>
            <a:pPr marL="285750" indent="-285750">
              <a:buFont typeface="Arial" panose="020B0604020202020204" pitchFamily="34" charset="0"/>
              <a:buChar char="•"/>
            </a:pPr>
            <a:r>
              <a:rPr lang="ja-JP" altLang="en-US" sz="2800" dirty="0"/>
              <a:t>全データ：分析</a:t>
            </a:r>
            <a:r>
              <a:rPr lang="en-US" altLang="ja-JP" sz="2800" dirty="0"/>
              <a:t>1</a:t>
            </a:r>
            <a:r>
              <a:rPr lang="ja-JP" altLang="en-US" sz="2800" dirty="0"/>
              <a:t>（数値分類）と比較するとやや劣る</a:t>
            </a:r>
            <a:endParaRPr lang="en-US" altLang="ja-JP" sz="2800" dirty="0"/>
          </a:p>
          <a:p>
            <a:pPr marL="285750" indent="-285750">
              <a:buFont typeface="Arial" panose="020B0604020202020204" pitchFamily="34" charset="0"/>
              <a:buChar char="•"/>
            </a:pPr>
            <a:r>
              <a:rPr kumimoji="1" lang="ja-JP" altLang="en-US" sz="2800" dirty="0"/>
              <a:t>全体的な傾向として再現率優位</a:t>
            </a:r>
          </a:p>
        </p:txBody>
      </p:sp>
      <p:sp>
        <p:nvSpPr>
          <p:cNvPr id="9" name="スライド番号プレースホルダー 8">
            <a:extLst>
              <a:ext uri="{FF2B5EF4-FFF2-40B4-BE49-F238E27FC236}">
                <a16:creationId xmlns:a16="http://schemas.microsoft.com/office/drawing/2014/main" id="{1711B53D-FEA4-7ECC-CBF5-078372AAC7CF}"/>
              </a:ext>
            </a:extLst>
          </p:cNvPr>
          <p:cNvSpPr>
            <a:spLocks noGrp="1"/>
          </p:cNvSpPr>
          <p:nvPr>
            <p:ph type="sldNum" sz="quarter" idx="12"/>
          </p:nvPr>
        </p:nvSpPr>
        <p:spPr/>
        <p:txBody>
          <a:bodyPr/>
          <a:lstStyle/>
          <a:p>
            <a:fld id="{425BCB22-CB69-44BC-B16E-26E4C24063E2}" type="slidenum">
              <a:rPr kumimoji="1" lang="ja-JP" altLang="en-US" smtClean="0"/>
              <a:t>10</a:t>
            </a:fld>
            <a:endParaRPr kumimoji="1" lang="ja-JP" altLang="en-US"/>
          </a:p>
        </p:txBody>
      </p:sp>
      <p:graphicFrame>
        <p:nvGraphicFramePr>
          <p:cNvPr id="10" name="表 9">
            <a:extLst>
              <a:ext uri="{FF2B5EF4-FFF2-40B4-BE49-F238E27FC236}">
                <a16:creationId xmlns:a16="http://schemas.microsoft.com/office/drawing/2014/main" id="{D3C7509F-76D2-BD95-C533-DDA89A246014}"/>
              </a:ext>
            </a:extLst>
          </p:cNvPr>
          <p:cNvGraphicFramePr>
            <a:graphicFrameLocks noGrp="1"/>
          </p:cNvGraphicFramePr>
          <p:nvPr>
            <p:extLst>
              <p:ext uri="{D42A27DB-BD31-4B8C-83A1-F6EECF244321}">
                <p14:modId xmlns:p14="http://schemas.microsoft.com/office/powerpoint/2010/main" val="965193809"/>
              </p:ext>
            </p:extLst>
          </p:nvPr>
        </p:nvGraphicFramePr>
        <p:xfrm>
          <a:off x="838197" y="3539471"/>
          <a:ext cx="10515600" cy="2880000"/>
        </p:xfrm>
        <a:graphic>
          <a:graphicData uri="http://schemas.openxmlformats.org/drawingml/2006/table">
            <a:tbl>
              <a:tblPr firstRow="1" bandRow="1">
                <a:tableStyleId>{9D7B26C5-4107-4FEC-AEDC-1716B250A1EF}</a:tableStyleId>
              </a:tblPr>
              <a:tblGrid>
                <a:gridCol w="2103120">
                  <a:extLst>
                    <a:ext uri="{9D8B030D-6E8A-4147-A177-3AD203B41FA5}">
                      <a16:colId xmlns:a16="http://schemas.microsoft.com/office/drawing/2014/main" val="2202370464"/>
                    </a:ext>
                  </a:extLst>
                </a:gridCol>
                <a:gridCol w="2103120">
                  <a:extLst>
                    <a:ext uri="{9D8B030D-6E8A-4147-A177-3AD203B41FA5}">
                      <a16:colId xmlns:a16="http://schemas.microsoft.com/office/drawing/2014/main" val="3058974462"/>
                    </a:ext>
                  </a:extLst>
                </a:gridCol>
                <a:gridCol w="2103120">
                  <a:extLst>
                    <a:ext uri="{9D8B030D-6E8A-4147-A177-3AD203B41FA5}">
                      <a16:colId xmlns:a16="http://schemas.microsoft.com/office/drawing/2014/main" val="1396153328"/>
                    </a:ext>
                  </a:extLst>
                </a:gridCol>
                <a:gridCol w="2103120">
                  <a:extLst>
                    <a:ext uri="{9D8B030D-6E8A-4147-A177-3AD203B41FA5}">
                      <a16:colId xmlns:a16="http://schemas.microsoft.com/office/drawing/2014/main" val="3272653994"/>
                    </a:ext>
                  </a:extLst>
                </a:gridCol>
                <a:gridCol w="2103120">
                  <a:extLst>
                    <a:ext uri="{9D8B030D-6E8A-4147-A177-3AD203B41FA5}">
                      <a16:colId xmlns:a16="http://schemas.microsoft.com/office/drawing/2014/main" val="2915024603"/>
                    </a:ext>
                  </a:extLst>
                </a:gridCol>
              </a:tblGrid>
              <a:tr h="360000">
                <a:tc>
                  <a:txBody>
                    <a:bodyPr/>
                    <a:lstStyle/>
                    <a:p>
                      <a:pPr algn="ctr" fontAlgn="ctr">
                        <a:buNone/>
                      </a:pPr>
                      <a:r>
                        <a:rPr lang="ja-JP" altLang="en-US" sz="1600" b="0" u="none" strike="noStrike" dirty="0">
                          <a:solidFill>
                            <a:srgbClr val="000000"/>
                          </a:solidFill>
                          <a:effectLst/>
                        </a:rPr>
                        <a:t>ジャンル</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正解率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適合率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再現率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a:solidFill>
                            <a:srgbClr val="000000"/>
                          </a:solidFill>
                          <a:effectLst/>
                        </a:rPr>
                        <a:t>F1</a:t>
                      </a:r>
                      <a:r>
                        <a:rPr lang="ja-JP" altLang="en-US" sz="1600" b="0" u="none" strike="noStrike">
                          <a:solidFill>
                            <a:srgbClr val="000000"/>
                          </a:solidFill>
                          <a:effectLst/>
                        </a:rPr>
                        <a:t>値</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718618535"/>
                  </a:ext>
                </a:extLst>
              </a:tr>
              <a:tr h="360000">
                <a:tc>
                  <a:txBody>
                    <a:bodyPr/>
                    <a:lstStyle/>
                    <a:p>
                      <a:pPr algn="ctr" fontAlgn="ctr">
                        <a:buNone/>
                      </a:pPr>
                      <a:r>
                        <a:rPr lang="ja-JP" altLang="en-US" sz="1600" b="0" u="none" strike="noStrike" dirty="0">
                          <a:solidFill>
                            <a:srgbClr val="000000"/>
                          </a:solidFill>
                          <a:effectLst/>
                        </a:rPr>
                        <a:t>全作品 </a:t>
                      </a:r>
                      <a:r>
                        <a:rPr lang="en-US" altLang="ja-JP" sz="1600" b="0" u="none" strike="noStrike" dirty="0">
                          <a:solidFill>
                            <a:srgbClr val="000000"/>
                          </a:solidFill>
                          <a:effectLst/>
                        </a:rPr>
                        <a:t>(</a:t>
                      </a:r>
                      <a:r>
                        <a:rPr lang="en-US" sz="1600" b="0" u="none" strike="noStrike" dirty="0">
                          <a:solidFill>
                            <a:srgbClr val="000000"/>
                          </a:solidFill>
                          <a:effectLst/>
                        </a:rPr>
                        <a:t>All)</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0.708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0.726</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0.669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0.697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14946486"/>
                  </a:ext>
                </a:extLst>
              </a:tr>
              <a:tr h="360000">
                <a:tc>
                  <a:txBody>
                    <a:bodyPr/>
                    <a:lstStyle/>
                    <a:p>
                      <a:pPr algn="ctr" fontAlgn="ctr">
                        <a:buNone/>
                      </a:pPr>
                      <a:r>
                        <a:rPr lang="zh-TW" altLang="en-US" sz="1600" b="1" u="none" strike="noStrike" dirty="0">
                          <a:solidFill>
                            <a:srgbClr val="000000"/>
                          </a:solidFill>
                          <a:effectLst/>
                        </a:rPr>
                        <a:t>異世界（恋愛）</a:t>
                      </a:r>
                      <a:endParaRPr lang="zh-TW" altLang="en-US"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0.769</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0.772</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a:solidFill>
                            <a:srgbClr val="000000"/>
                          </a:solidFill>
                          <a:effectLst/>
                        </a:rPr>
                        <a:t>0.766</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0.769</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173759413"/>
                  </a:ext>
                </a:extLst>
              </a:tr>
              <a:tr h="360000">
                <a:tc>
                  <a:txBody>
                    <a:bodyPr/>
                    <a:lstStyle/>
                    <a:p>
                      <a:pPr algn="ctr" fontAlgn="ctr">
                        <a:buNone/>
                      </a:pPr>
                      <a:r>
                        <a:rPr lang="zh-TW" altLang="en-US" sz="1600" b="0" u="none" strike="noStrike">
                          <a:solidFill>
                            <a:srgbClr val="000000"/>
                          </a:solidFill>
                          <a:effectLst/>
                        </a:rPr>
                        <a:t>現実世界（恋愛）</a:t>
                      </a:r>
                      <a:endParaRPr lang="zh-TW"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0.767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0.785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0.735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0.759</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318820173"/>
                  </a:ext>
                </a:extLst>
              </a:tr>
              <a:tr h="360000">
                <a:tc>
                  <a:txBody>
                    <a:bodyPr/>
                    <a:lstStyle/>
                    <a:p>
                      <a:pPr algn="ctr" fontAlgn="ctr">
                        <a:buNone/>
                      </a:pPr>
                      <a:r>
                        <a:rPr lang="ja-JP" altLang="en-US" sz="1600" b="0" u="none" strike="noStrike" dirty="0">
                          <a:solidFill>
                            <a:srgbClr val="000000"/>
                          </a:solidFill>
                          <a:effectLst/>
                        </a:rPr>
                        <a:t>ヒューマンドラマ</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0.757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0.765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0.743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0.754</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059762456"/>
                  </a:ext>
                </a:extLst>
              </a:tr>
              <a:tr h="360000">
                <a:tc>
                  <a:txBody>
                    <a:bodyPr/>
                    <a:lstStyle/>
                    <a:p>
                      <a:pPr algn="ctr" fontAlgn="ctr">
                        <a:buNone/>
                      </a:pPr>
                      <a:r>
                        <a:rPr lang="ja-JP" altLang="en-US" sz="1600" b="0" u="none" strike="noStrike">
                          <a:solidFill>
                            <a:srgbClr val="000000"/>
                          </a:solidFill>
                          <a:effectLst/>
                        </a:rPr>
                        <a:t>童話</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0.766</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0.808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0.697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0.749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665626247"/>
                  </a:ext>
                </a:extLst>
              </a:tr>
              <a:tr h="360000">
                <a:tc>
                  <a:txBody>
                    <a:bodyPr/>
                    <a:lstStyle/>
                    <a:p>
                      <a:pPr algn="ctr" fontAlgn="ctr">
                        <a:buNone/>
                      </a:pPr>
                      <a:r>
                        <a:rPr lang="ja-JP" altLang="en-US" sz="1600" b="0" u="none" strike="noStrike">
                          <a:solidFill>
                            <a:srgbClr val="000000"/>
                          </a:solidFill>
                          <a:effectLst/>
                        </a:rPr>
                        <a:t>純文学</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0.703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0.710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0.687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0.699</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811211366"/>
                  </a:ext>
                </a:extLst>
              </a:tr>
              <a:tr h="360000">
                <a:tc>
                  <a:txBody>
                    <a:bodyPr/>
                    <a:lstStyle/>
                    <a:p>
                      <a:pPr algn="ctr" fontAlgn="ctr">
                        <a:buNone/>
                      </a:pPr>
                      <a:r>
                        <a:rPr lang="ja-JP" altLang="en-US" sz="1600" b="0" u="none" strike="noStrike" dirty="0">
                          <a:solidFill>
                            <a:srgbClr val="000000"/>
                          </a:solidFill>
                          <a:effectLst/>
                        </a:rPr>
                        <a:t>ノンジャンル</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0.677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0.678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0.673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0.676</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88512807"/>
                  </a:ext>
                </a:extLst>
              </a:tr>
            </a:tbl>
          </a:graphicData>
        </a:graphic>
      </p:graphicFrame>
    </p:spTree>
    <p:extLst>
      <p:ext uri="{BB962C8B-B14F-4D97-AF65-F5344CB8AC3E}">
        <p14:creationId xmlns:p14="http://schemas.microsoft.com/office/powerpoint/2010/main" val="369369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F1D867-D400-0CBB-6C69-E73444885149}"/>
              </a:ext>
            </a:extLst>
          </p:cNvPr>
          <p:cNvSpPr>
            <a:spLocks noGrp="1"/>
          </p:cNvSpPr>
          <p:nvPr>
            <p:ph type="title"/>
          </p:nvPr>
        </p:nvSpPr>
        <p:spPr/>
        <p:txBody>
          <a:bodyPr/>
          <a:lstStyle/>
          <a:p>
            <a:r>
              <a:rPr kumimoji="1" lang="ja-JP" altLang="en-US" dirty="0"/>
              <a:t>結果 分析</a:t>
            </a:r>
            <a:r>
              <a:rPr kumimoji="1" lang="en-US" altLang="ja-JP" dirty="0"/>
              <a:t>2</a:t>
            </a:r>
            <a:r>
              <a:rPr kumimoji="1" lang="ja-JP" altLang="en-US" dirty="0"/>
              <a:t>：双方向</a:t>
            </a:r>
            <a:r>
              <a:rPr kumimoji="1" lang="en-US" altLang="ja-JP" dirty="0"/>
              <a:t>LSTM</a:t>
            </a:r>
            <a:endParaRPr kumimoji="1" lang="ja-JP" altLang="en-US" dirty="0"/>
          </a:p>
        </p:txBody>
      </p:sp>
      <p:sp>
        <p:nvSpPr>
          <p:cNvPr id="13" name="テキスト ボックス 12">
            <a:extLst>
              <a:ext uri="{FF2B5EF4-FFF2-40B4-BE49-F238E27FC236}">
                <a16:creationId xmlns:a16="http://schemas.microsoft.com/office/drawing/2014/main" id="{E7B0849D-3ADC-BCF6-42AC-DF5F9EA0679B}"/>
              </a:ext>
            </a:extLst>
          </p:cNvPr>
          <p:cNvSpPr txBox="1"/>
          <p:nvPr/>
        </p:nvSpPr>
        <p:spPr>
          <a:xfrm>
            <a:off x="4902404" y="2399265"/>
            <a:ext cx="2387192" cy="369332"/>
          </a:xfrm>
          <a:prstGeom prst="rect">
            <a:avLst/>
          </a:prstGeom>
          <a:noFill/>
        </p:spPr>
        <p:txBody>
          <a:bodyPr wrap="none" rtlCol="0">
            <a:spAutoFit/>
          </a:bodyPr>
          <a:lstStyle/>
          <a:p>
            <a:r>
              <a:rPr lang="ja-JP" altLang="en-US" dirty="0"/>
              <a:t>表</a:t>
            </a:r>
            <a:r>
              <a:rPr lang="en-US" altLang="ja-JP" dirty="0"/>
              <a:t>. </a:t>
            </a:r>
            <a:r>
              <a:rPr lang="ja-JP" altLang="en-US" dirty="0"/>
              <a:t>各ジャンルの性能</a:t>
            </a:r>
            <a:endParaRPr kumimoji="1" lang="ja-JP" altLang="en-US" dirty="0"/>
          </a:p>
        </p:txBody>
      </p:sp>
      <p:sp>
        <p:nvSpPr>
          <p:cNvPr id="3" name="テキスト ボックス 2">
            <a:extLst>
              <a:ext uri="{FF2B5EF4-FFF2-40B4-BE49-F238E27FC236}">
                <a16:creationId xmlns:a16="http://schemas.microsoft.com/office/drawing/2014/main" id="{22D63053-C8D8-048F-D18D-4476EB1AEB5C}"/>
              </a:ext>
            </a:extLst>
          </p:cNvPr>
          <p:cNvSpPr txBox="1"/>
          <p:nvPr/>
        </p:nvSpPr>
        <p:spPr>
          <a:xfrm>
            <a:off x="838200" y="1690688"/>
            <a:ext cx="10515599" cy="523220"/>
          </a:xfrm>
          <a:prstGeom prst="rect">
            <a:avLst/>
          </a:prstGeom>
          <a:noFill/>
        </p:spPr>
        <p:txBody>
          <a:bodyPr wrap="square" rtlCol="0">
            <a:spAutoFit/>
          </a:bodyPr>
          <a:lstStyle/>
          <a:p>
            <a:pPr marL="457200" indent="-457200">
              <a:buFont typeface="Arial" panose="020B0604020202020204" pitchFamily="34" charset="0"/>
              <a:buChar char="•"/>
            </a:pPr>
            <a:r>
              <a:rPr kumimoji="1" lang="en-US" altLang="ja-JP" sz="2800" dirty="0"/>
              <a:t>TF-IDF</a:t>
            </a:r>
            <a:r>
              <a:rPr kumimoji="1" lang="ja-JP" altLang="en-US" sz="2800" dirty="0"/>
              <a:t>とほぼ同等だが、</a:t>
            </a:r>
            <a:r>
              <a:rPr lang="ja-JP" altLang="en-US" sz="2800" dirty="0"/>
              <a:t>一部性能の悪化</a:t>
            </a:r>
            <a:endParaRPr lang="en-US" altLang="ja-JP" sz="2800" dirty="0"/>
          </a:p>
        </p:txBody>
      </p:sp>
      <p:sp>
        <p:nvSpPr>
          <p:cNvPr id="7" name="スライド番号プレースホルダー 6">
            <a:extLst>
              <a:ext uri="{FF2B5EF4-FFF2-40B4-BE49-F238E27FC236}">
                <a16:creationId xmlns:a16="http://schemas.microsoft.com/office/drawing/2014/main" id="{C859676D-4428-5299-5866-1316F8C49FF2}"/>
              </a:ext>
            </a:extLst>
          </p:cNvPr>
          <p:cNvSpPr>
            <a:spLocks noGrp="1"/>
          </p:cNvSpPr>
          <p:nvPr>
            <p:ph type="sldNum" sz="quarter" idx="12"/>
          </p:nvPr>
        </p:nvSpPr>
        <p:spPr/>
        <p:txBody>
          <a:bodyPr/>
          <a:lstStyle/>
          <a:p>
            <a:fld id="{425BCB22-CB69-44BC-B16E-26E4C24063E2}" type="slidenum">
              <a:rPr kumimoji="1" lang="ja-JP" altLang="en-US" smtClean="0"/>
              <a:t>11</a:t>
            </a:fld>
            <a:endParaRPr kumimoji="1" lang="ja-JP" altLang="en-US"/>
          </a:p>
        </p:txBody>
      </p:sp>
      <p:graphicFrame>
        <p:nvGraphicFramePr>
          <p:cNvPr id="11" name="コンテンツ プレースホルダー 10">
            <a:extLst>
              <a:ext uri="{FF2B5EF4-FFF2-40B4-BE49-F238E27FC236}">
                <a16:creationId xmlns:a16="http://schemas.microsoft.com/office/drawing/2014/main" id="{93AB6939-AF1E-490E-A53B-A1F2E6E79C12}"/>
              </a:ext>
            </a:extLst>
          </p:cNvPr>
          <p:cNvGraphicFramePr>
            <a:graphicFrameLocks noGrp="1"/>
          </p:cNvGraphicFramePr>
          <p:nvPr>
            <p:ph idx="1"/>
            <p:extLst>
              <p:ext uri="{D42A27DB-BD31-4B8C-83A1-F6EECF244321}">
                <p14:modId xmlns:p14="http://schemas.microsoft.com/office/powerpoint/2010/main" val="1560417651"/>
              </p:ext>
            </p:extLst>
          </p:nvPr>
        </p:nvGraphicFramePr>
        <p:xfrm>
          <a:off x="838200" y="2768597"/>
          <a:ext cx="10515600" cy="3600000"/>
        </p:xfrm>
        <a:graphic>
          <a:graphicData uri="http://schemas.openxmlformats.org/drawingml/2006/table">
            <a:tbl>
              <a:tblPr firstRow="1" bandRow="1">
                <a:tableStyleId>{9D7B26C5-4107-4FEC-AEDC-1716B250A1EF}</a:tableStyleId>
              </a:tblPr>
              <a:tblGrid>
                <a:gridCol w="2103120">
                  <a:extLst>
                    <a:ext uri="{9D8B030D-6E8A-4147-A177-3AD203B41FA5}">
                      <a16:colId xmlns:a16="http://schemas.microsoft.com/office/drawing/2014/main" val="3553421938"/>
                    </a:ext>
                  </a:extLst>
                </a:gridCol>
                <a:gridCol w="2103120">
                  <a:extLst>
                    <a:ext uri="{9D8B030D-6E8A-4147-A177-3AD203B41FA5}">
                      <a16:colId xmlns:a16="http://schemas.microsoft.com/office/drawing/2014/main" val="22195686"/>
                    </a:ext>
                  </a:extLst>
                </a:gridCol>
                <a:gridCol w="2103120">
                  <a:extLst>
                    <a:ext uri="{9D8B030D-6E8A-4147-A177-3AD203B41FA5}">
                      <a16:colId xmlns:a16="http://schemas.microsoft.com/office/drawing/2014/main" val="2876517619"/>
                    </a:ext>
                  </a:extLst>
                </a:gridCol>
                <a:gridCol w="2103120">
                  <a:extLst>
                    <a:ext uri="{9D8B030D-6E8A-4147-A177-3AD203B41FA5}">
                      <a16:colId xmlns:a16="http://schemas.microsoft.com/office/drawing/2014/main" val="254239802"/>
                    </a:ext>
                  </a:extLst>
                </a:gridCol>
                <a:gridCol w="2103120">
                  <a:extLst>
                    <a:ext uri="{9D8B030D-6E8A-4147-A177-3AD203B41FA5}">
                      <a16:colId xmlns:a16="http://schemas.microsoft.com/office/drawing/2014/main" val="3376137847"/>
                    </a:ext>
                  </a:extLst>
                </a:gridCol>
              </a:tblGrid>
              <a:tr h="360000">
                <a:tc>
                  <a:txBody>
                    <a:bodyPr/>
                    <a:lstStyle/>
                    <a:p>
                      <a:pPr algn="ctr" fontAlgn="ctr">
                        <a:buNone/>
                      </a:pPr>
                      <a:r>
                        <a:rPr lang="ja-JP" altLang="en-US" sz="1600" b="0" u="none" strike="noStrike" dirty="0">
                          <a:solidFill>
                            <a:srgbClr val="000000"/>
                          </a:solidFill>
                          <a:effectLst/>
                        </a:rPr>
                        <a:t>ジャンル</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正解率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適合率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a:solidFill>
                            <a:srgbClr val="000000"/>
                          </a:solidFill>
                          <a:effectLst/>
                        </a:rPr>
                        <a:t>再現率</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sz="1600" b="0" u="none" strike="noStrike">
                          <a:solidFill>
                            <a:srgbClr val="000000"/>
                          </a:solidFill>
                          <a:effectLst/>
                        </a:rPr>
                        <a:t>F1</a:t>
                      </a:r>
                      <a:r>
                        <a:rPr lang="ja-JP" altLang="en-US" sz="1600" b="0" u="none" strike="noStrike">
                          <a:solidFill>
                            <a:srgbClr val="000000"/>
                          </a:solidFill>
                          <a:effectLst/>
                        </a:rPr>
                        <a:t>値</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77075913"/>
                  </a:ext>
                </a:extLst>
              </a:tr>
              <a:tr h="360000">
                <a:tc>
                  <a:txBody>
                    <a:bodyPr/>
                    <a:lstStyle/>
                    <a:p>
                      <a:pPr algn="ctr" fontAlgn="ctr">
                        <a:buNone/>
                      </a:pPr>
                      <a:r>
                        <a:rPr lang="ja-JP" altLang="en-US" sz="1600" b="0" u="none" strike="noStrike" dirty="0">
                          <a:solidFill>
                            <a:srgbClr val="000000"/>
                          </a:solidFill>
                          <a:effectLst/>
                        </a:rPr>
                        <a:t>全作品</a:t>
                      </a:r>
                      <a:r>
                        <a:rPr lang="en-US" altLang="ja-JP" sz="1600" b="0" u="none" strike="noStrike" dirty="0">
                          <a:solidFill>
                            <a:srgbClr val="000000"/>
                          </a:solidFill>
                          <a:effectLst/>
                        </a:rPr>
                        <a:t>(</a:t>
                      </a:r>
                      <a:r>
                        <a:rPr lang="en-US" sz="1600" b="0" u="none" strike="noStrike" dirty="0">
                          <a:solidFill>
                            <a:srgbClr val="000000"/>
                          </a:solidFill>
                          <a:effectLst/>
                        </a:rPr>
                        <a:t>All)</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0.706</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0.718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0.679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0.698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034635641"/>
                  </a:ext>
                </a:extLst>
              </a:tr>
              <a:tr h="360000">
                <a:tc>
                  <a:txBody>
                    <a:bodyPr/>
                    <a:lstStyle/>
                    <a:p>
                      <a:pPr algn="ctr" fontAlgn="ctr">
                        <a:buNone/>
                      </a:pPr>
                      <a:r>
                        <a:rPr lang="zh-TW" altLang="en-US" sz="1600" b="1" u="none" strike="noStrike" dirty="0">
                          <a:solidFill>
                            <a:srgbClr val="000000"/>
                          </a:solidFill>
                          <a:effectLst/>
                        </a:rPr>
                        <a:t>異世界（恋愛）</a:t>
                      </a:r>
                      <a:endParaRPr lang="zh-TW" altLang="en-US"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0.723</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0.697</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0.787</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0.739</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401577164"/>
                  </a:ext>
                </a:extLst>
              </a:tr>
              <a:tr h="360000">
                <a:tc>
                  <a:txBody>
                    <a:bodyPr/>
                    <a:lstStyle/>
                    <a:p>
                      <a:pPr algn="ctr" fontAlgn="ctr">
                        <a:buNone/>
                      </a:pPr>
                      <a:r>
                        <a:rPr lang="ja-JP" altLang="en-US" sz="1600" b="0" u="none" strike="noStrike">
                          <a:solidFill>
                            <a:srgbClr val="000000"/>
                          </a:solidFill>
                          <a:effectLst/>
                        </a:rPr>
                        <a:t>童話</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0.667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0.664</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0.678</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0.671</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729383938"/>
                  </a:ext>
                </a:extLst>
              </a:tr>
              <a:tr h="360000">
                <a:tc>
                  <a:txBody>
                    <a:bodyPr/>
                    <a:lstStyle/>
                    <a:p>
                      <a:pPr algn="ctr" fontAlgn="ctr">
                        <a:buNone/>
                      </a:pPr>
                      <a:r>
                        <a:rPr lang="ja-JP" altLang="en-US" sz="1600" b="0" u="none" strike="noStrike">
                          <a:solidFill>
                            <a:srgbClr val="000000"/>
                          </a:solidFill>
                          <a:effectLst/>
                        </a:rPr>
                        <a:t>ヒューマンドラマ</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0.680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0.693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0.647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0.669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4068162720"/>
                  </a:ext>
                </a:extLst>
              </a:tr>
              <a:tr h="360000">
                <a:tc>
                  <a:txBody>
                    <a:bodyPr/>
                    <a:lstStyle/>
                    <a:p>
                      <a:pPr algn="ctr" fontAlgn="ctr">
                        <a:buNone/>
                      </a:pPr>
                      <a:r>
                        <a:rPr lang="zh-TW" altLang="en-US" sz="1600" b="0" u="none" strike="noStrike">
                          <a:solidFill>
                            <a:srgbClr val="000000"/>
                          </a:solidFill>
                          <a:effectLst/>
                        </a:rPr>
                        <a:t>現実世界（恋愛）</a:t>
                      </a:r>
                      <a:endParaRPr lang="zh-TW"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0.670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0.712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0.573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0.635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884509171"/>
                  </a:ext>
                </a:extLst>
              </a:tr>
              <a:tr h="360000">
                <a:tc>
                  <a:txBody>
                    <a:bodyPr/>
                    <a:lstStyle/>
                    <a:p>
                      <a:pPr algn="ctr" fontAlgn="ctr">
                        <a:buNone/>
                      </a:pPr>
                      <a:r>
                        <a:rPr lang="ja-JP" altLang="en-US" sz="1600" b="0" u="none" strike="noStrike">
                          <a:solidFill>
                            <a:srgbClr val="000000"/>
                          </a:solidFill>
                          <a:effectLst/>
                        </a:rPr>
                        <a:t>コメディー</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0.626</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0.639</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0.579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0.607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972676492"/>
                  </a:ext>
                </a:extLst>
              </a:tr>
              <a:tr h="360000">
                <a:tc>
                  <a:txBody>
                    <a:bodyPr/>
                    <a:lstStyle/>
                    <a:p>
                      <a:pPr algn="ctr" fontAlgn="ctr">
                        <a:buNone/>
                      </a:pPr>
                      <a:r>
                        <a:rPr lang="ja-JP" altLang="en-US" sz="1600" b="0" u="none" strike="noStrike">
                          <a:solidFill>
                            <a:srgbClr val="000000"/>
                          </a:solidFill>
                          <a:effectLst/>
                        </a:rPr>
                        <a:t>ホラー</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0.640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0.669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0.551</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0.605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364946771"/>
                  </a:ext>
                </a:extLst>
              </a:tr>
              <a:tr h="360000">
                <a:tc>
                  <a:txBody>
                    <a:bodyPr/>
                    <a:lstStyle/>
                    <a:p>
                      <a:pPr algn="ctr" fontAlgn="ctr">
                        <a:buNone/>
                      </a:pPr>
                      <a:r>
                        <a:rPr lang="ja-JP" altLang="en-US" sz="1600" b="0" u="none" strike="noStrike">
                          <a:solidFill>
                            <a:srgbClr val="000000"/>
                          </a:solidFill>
                          <a:effectLst/>
                        </a:rPr>
                        <a:t>ノンジャンル</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0.637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0.673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0.531</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0.594</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315056224"/>
                  </a:ext>
                </a:extLst>
              </a:tr>
              <a:tr h="360000">
                <a:tc>
                  <a:txBody>
                    <a:bodyPr/>
                    <a:lstStyle/>
                    <a:p>
                      <a:pPr algn="ctr" fontAlgn="ctr">
                        <a:buNone/>
                      </a:pPr>
                      <a:r>
                        <a:rPr lang="ja-JP" altLang="en-US" sz="1600" b="0" u="none" strike="noStrike" dirty="0">
                          <a:solidFill>
                            <a:srgbClr val="000000"/>
                          </a:solidFill>
                          <a:effectLst/>
                        </a:rPr>
                        <a:t>純文学</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0.598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0.610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0.543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0.575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262716634"/>
                  </a:ext>
                </a:extLst>
              </a:tr>
            </a:tbl>
          </a:graphicData>
        </a:graphic>
      </p:graphicFrame>
    </p:spTree>
    <p:extLst>
      <p:ext uri="{BB962C8B-B14F-4D97-AF65-F5344CB8AC3E}">
        <p14:creationId xmlns:p14="http://schemas.microsoft.com/office/powerpoint/2010/main" val="949988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69F551-DE26-EB4D-92C4-947601B87A0A}"/>
              </a:ext>
            </a:extLst>
          </p:cNvPr>
          <p:cNvSpPr>
            <a:spLocks noGrp="1"/>
          </p:cNvSpPr>
          <p:nvPr>
            <p:ph type="title"/>
          </p:nvPr>
        </p:nvSpPr>
        <p:spPr/>
        <p:txBody>
          <a:bodyPr/>
          <a:lstStyle/>
          <a:p>
            <a:r>
              <a:rPr kumimoji="1" lang="ja-JP" altLang="en-US" dirty="0"/>
              <a:t>結果 分析</a:t>
            </a:r>
            <a:r>
              <a:rPr lang="en-US" altLang="ja-JP" dirty="0"/>
              <a:t>2</a:t>
            </a:r>
            <a:r>
              <a:rPr kumimoji="1" lang="ja-JP" altLang="en-US" dirty="0"/>
              <a:t>：</a:t>
            </a:r>
            <a:r>
              <a:rPr kumimoji="1" lang="en-US" altLang="ja-JP" dirty="0"/>
              <a:t>BERT</a:t>
            </a:r>
            <a:endParaRPr kumimoji="1" lang="ja-JP" altLang="en-US" dirty="0"/>
          </a:p>
        </p:txBody>
      </p:sp>
      <p:sp>
        <p:nvSpPr>
          <p:cNvPr id="6" name="テキスト ボックス 5">
            <a:extLst>
              <a:ext uri="{FF2B5EF4-FFF2-40B4-BE49-F238E27FC236}">
                <a16:creationId xmlns:a16="http://schemas.microsoft.com/office/drawing/2014/main" id="{91ACF423-0A09-EE51-9FFB-971A10A8B066}"/>
              </a:ext>
            </a:extLst>
          </p:cNvPr>
          <p:cNvSpPr txBox="1"/>
          <p:nvPr/>
        </p:nvSpPr>
        <p:spPr>
          <a:xfrm>
            <a:off x="4902404" y="2372402"/>
            <a:ext cx="2387192" cy="369332"/>
          </a:xfrm>
          <a:prstGeom prst="rect">
            <a:avLst/>
          </a:prstGeom>
          <a:noFill/>
        </p:spPr>
        <p:txBody>
          <a:bodyPr wrap="none" rtlCol="0">
            <a:spAutoFit/>
          </a:bodyPr>
          <a:lstStyle/>
          <a:p>
            <a:r>
              <a:rPr lang="ja-JP" altLang="en-US" dirty="0"/>
              <a:t>表</a:t>
            </a:r>
            <a:r>
              <a:rPr lang="en-US" altLang="ja-JP" dirty="0"/>
              <a:t>. </a:t>
            </a:r>
            <a:r>
              <a:rPr lang="ja-JP" altLang="en-US" dirty="0"/>
              <a:t>各ジャンルの性能</a:t>
            </a:r>
            <a:endParaRPr kumimoji="1" lang="ja-JP" altLang="en-US" dirty="0"/>
          </a:p>
        </p:txBody>
      </p:sp>
      <p:sp>
        <p:nvSpPr>
          <p:cNvPr id="3" name="テキスト ボックス 2">
            <a:extLst>
              <a:ext uri="{FF2B5EF4-FFF2-40B4-BE49-F238E27FC236}">
                <a16:creationId xmlns:a16="http://schemas.microsoft.com/office/drawing/2014/main" id="{B1FB162F-3FA9-79D0-0303-320C71D3D94E}"/>
              </a:ext>
            </a:extLst>
          </p:cNvPr>
          <p:cNvSpPr txBox="1"/>
          <p:nvPr/>
        </p:nvSpPr>
        <p:spPr>
          <a:xfrm>
            <a:off x="838201" y="1690688"/>
            <a:ext cx="10515599" cy="954107"/>
          </a:xfrm>
          <a:prstGeom prst="rect">
            <a:avLst/>
          </a:prstGeom>
          <a:noFill/>
        </p:spPr>
        <p:txBody>
          <a:bodyPr wrap="square" rtlCol="0">
            <a:spAutoFit/>
          </a:bodyPr>
          <a:lstStyle/>
          <a:p>
            <a:pPr marL="285750" indent="-285750">
              <a:buFont typeface="Arial" panose="020B0604020202020204" pitchFamily="34" charset="0"/>
              <a:buChar char="•"/>
            </a:pPr>
            <a:r>
              <a:rPr kumimoji="1" lang="en-US" altLang="ja-JP" sz="2800" dirty="0"/>
              <a:t>3</a:t>
            </a:r>
            <a:r>
              <a:rPr kumimoji="1" lang="ja-JP" altLang="en-US" sz="2800" dirty="0"/>
              <a:t>手法の中では最も高い性能</a:t>
            </a:r>
            <a:endParaRPr lang="en-US" altLang="ja-JP" sz="2800" dirty="0"/>
          </a:p>
          <a:p>
            <a:pPr marL="285750" indent="-285750">
              <a:buFont typeface="Arial" panose="020B0604020202020204" pitchFamily="34" charset="0"/>
              <a:buChar char="•"/>
            </a:pPr>
            <a:r>
              <a:rPr lang="ja-JP" altLang="en-US" sz="2800" dirty="0"/>
              <a:t>再現率優位</a:t>
            </a:r>
            <a:endParaRPr kumimoji="1" lang="en-US" altLang="ja-JP" sz="2800" dirty="0"/>
          </a:p>
        </p:txBody>
      </p:sp>
      <p:graphicFrame>
        <p:nvGraphicFramePr>
          <p:cNvPr id="8" name="コンテンツ プレースホルダー 7">
            <a:extLst>
              <a:ext uri="{FF2B5EF4-FFF2-40B4-BE49-F238E27FC236}">
                <a16:creationId xmlns:a16="http://schemas.microsoft.com/office/drawing/2014/main" id="{A692D3B1-1D7D-A8EA-467E-0A679BE28397}"/>
              </a:ext>
            </a:extLst>
          </p:cNvPr>
          <p:cNvGraphicFramePr>
            <a:graphicFrameLocks noGrp="1"/>
          </p:cNvGraphicFramePr>
          <p:nvPr>
            <p:ph idx="1"/>
            <p:extLst>
              <p:ext uri="{D42A27DB-BD31-4B8C-83A1-F6EECF244321}">
                <p14:modId xmlns:p14="http://schemas.microsoft.com/office/powerpoint/2010/main" val="1731234086"/>
              </p:ext>
            </p:extLst>
          </p:nvPr>
        </p:nvGraphicFramePr>
        <p:xfrm>
          <a:off x="838200" y="2741734"/>
          <a:ext cx="10515600" cy="3708400"/>
        </p:xfrm>
        <a:graphic>
          <a:graphicData uri="http://schemas.openxmlformats.org/drawingml/2006/table">
            <a:tbl>
              <a:tblPr firstRow="1" bandRow="1">
                <a:tableStyleId>{9D7B26C5-4107-4FEC-AEDC-1716B250A1EF}</a:tableStyleId>
              </a:tblPr>
              <a:tblGrid>
                <a:gridCol w="2103120">
                  <a:extLst>
                    <a:ext uri="{9D8B030D-6E8A-4147-A177-3AD203B41FA5}">
                      <a16:colId xmlns:a16="http://schemas.microsoft.com/office/drawing/2014/main" val="1034978262"/>
                    </a:ext>
                  </a:extLst>
                </a:gridCol>
                <a:gridCol w="2103120">
                  <a:extLst>
                    <a:ext uri="{9D8B030D-6E8A-4147-A177-3AD203B41FA5}">
                      <a16:colId xmlns:a16="http://schemas.microsoft.com/office/drawing/2014/main" val="1714994021"/>
                    </a:ext>
                  </a:extLst>
                </a:gridCol>
                <a:gridCol w="2103120">
                  <a:extLst>
                    <a:ext uri="{9D8B030D-6E8A-4147-A177-3AD203B41FA5}">
                      <a16:colId xmlns:a16="http://schemas.microsoft.com/office/drawing/2014/main" val="365572896"/>
                    </a:ext>
                  </a:extLst>
                </a:gridCol>
                <a:gridCol w="2103120">
                  <a:extLst>
                    <a:ext uri="{9D8B030D-6E8A-4147-A177-3AD203B41FA5}">
                      <a16:colId xmlns:a16="http://schemas.microsoft.com/office/drawing/2014/main" val="3885630770"/>
                    </a:ext>
                  </a:extLst>
                </a:gridCol>
                <a:gridCol w="2103120">
                  <a:extLst>
                    <a:ext uri="{9D8B030D-6E8A-4147-A177-3AD203B41FA5}">
                      <a16:colId xmlns:a16="http://schemas.microsoft.com/office/drawing/2014/main" val="1298846448"/>
                    </a:ext>
                  </a:extLst>
                </a:gridCol>
              </a:tblGrid>
              <a:tr h="370840">
                <a:tc>
                  <a:txBody>
                    <a:bodyPr/>
                    <a:lstStyle/>
                    <a:p>
                      <a:pPr algn="ctr" fontAlgn="ctr">
                        <a:buNone/>
                      </a:pPr>
                      <a:r>
                        <a:rPr lang="ja-JP" altLang="en-US" sz="1600" b="0" u="none" strike="noStrike" dirty="0">
                          <a:solidFill>
                            <a:srgbClr val="000000"/>
                          </a:solidFill>
                          <a:effectLst/>
                        </a:rPr>
                        <a:t>ジャンル</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dirty="0">
                          <a:solidFill>
                            <a:srgbClr val="000000"/>
                          </a:solidFill>
                          <a:effectLst/>
                        </a:rPr>
                        <a:t>正解率</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dirty="0">
                          <a:solidFill>
                            <a:srgbClr val="000000"/>
                          </a:solidFill>
                          <a:effectLst/>
                        </a:rPr>
                        <a:t>適合率</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ja-JP" altLang="en-US" sz="1600" b="0" u="none" strike="noStrike" dirty="0">
                          <a:solidFill>
                            <a:srgbClr val="000000"/>
                          </a:solidFill>
                          <a:effectLst/>
                        </a:rPr>
                        <a:t>再現率</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F1</a:t>
                      </a:r>
                      <a:r>
                        <a:rPr lang="ja-JP" altLang="en-US" sz="1600" b="0" u="none" strike="noStrike" dirty="0">
                          <a:solidFill>
                            <a:srgbClr val="000000"/>
                          </a:solidFill>
                          <a:effectLst/>
                        </a:rPr>
                        <a:t>値</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755287126"/>
                  </a:ext>
                </a:extLst>
              </a:tr>
              <a:tr h="370840">
                <a:tc>
                  <a:txBody>
                    <a:bodyPr/>
                    <a:lstStyle/>
                    <a:p>
                      <a:pPr algn="ctr" fontAlgn="ctr">
                        <a:buNone/>
                      </a:pPr>
                      <a:r>
                        <a:rPr lang="ja-JP" altLang="en-US" sz="1600" b="0" u="none" strike="noStrike" dirty="0">
                          <a:solidFill>
                            <a:srgbClr val="000000"/>
                          </a:solidFill>
                          <a:effectLst/>
                        </a:rPr>
                        <a:t>全作品 </a:t>
                      </a:r>
                      <a:r>
                        <a:rPr lang="en-US" altLang="ja-JP" sz="1600" b="0" u="none" strike="noStrike" dirty="0">
                          <a:solidFill>
                            <a:srgbClr val="000000"/>
                          </a:solidFill>
                          <a:effectLst/>
                        </a:rPr>
                        <a:t>(</a:t>
                      </a:r>
                      <a:r>
                        <a:rPr lang="en-US" sz="1600" b="0" u="none" strike="noStrike" dirty="0">
                          <a:solidFill>
                            <a:srgbClr val="000000"/>
                          </a:solidFill>
                          <a:effectLst/>
                        </a:rPr>
                        <a:t>All)</a:t>
                      </a:r>
                      <a:endParaRPr 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0.717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0.682</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0.812</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0.742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843538599"/>
                  </a:ext>
                </a:extLst>
              </a:tr>
              <a:tr h="370840">
                <a:tc>
                  <a:txBody>
                    <a:bodyPr/>
                    <a:lstStyle/>
                    <a:p>
                      <a:pPr algn="ctr" fontAlgn="ctr">
                        <a:buNone/>
                      </a:pPr>
                      <a:r>
                        <a:rPr lang="zh-TW" altLang="en-US" sz="1600" b="1" u="none" strike="noStrike" dirty="0">
                          <a:solidFill>
                            <a:srgbClr val="000000"/>
                          </a:solidFill>
                          <a:effectLst/>
                        </a:rPr>
                        <a:t>異世界（恋愛）</a:t>
                      </a:r>
                      <a:endParaRPr lang="zh-TW" altLang="en-US"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0.743</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0.699</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0.855</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1" u="none" strike="noStrike" dirty="0">
                          <a:solidFill>
                            <a:srgbClr val="000000"/>
                          </a:solidFill>
                          <a:effectLst/>
                        </a:rPr>
                        <a:t>0.769</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054549783"/>
                  </a:ext>
                </a:extLst>
              </a:tr>
              <a:tr h="370840">
                <a:tc>
                  <a:txBody>
                    <a:bodyPr/>
                    <a:lstStyle/>
                    <a:p>
                      <a:pPr algn="ctr" fontAlgn="ctr">
                        <a:buNone/>
                      </a:pPr>
                      <a:r>
                        <a:rPr lang="ja-JP" altLang="en-US" sz="1600" b="0" u="none" strike="noStrike" dirty="0">
                          <a:solidFill>
                            <a:srgbClr val="000000"/>
                          </a:solidFill>
                          <a:effectLst/>
                        </a:rPr>
                        <a:t>童話</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0.728</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0.680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0.860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0.759</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852471879"/>
                  </a:ext>
                </a:extLst>
              </a:tr>
              <a:tr h="370840">
                <a:tc>
                  <a:txBody>
                    <a:bodyPr/>
                    <a:lstStyle/>
                    <a:p>
                      <a:pPr algn="ctr" fontAlgn="ctr">
                        <a:buNone/>
                      </a:pPr>
                      <a:r>
                        <a:rPr lang="ja-JP" altLang="en-US" sz="1600" b="0" u="none" strike="noStrike" dirty="0">
                          <a:solidFill>
                            <a:srgbClr val="000000"/>
                          </a:solidFill>
                          <a:effectLst/>
                        </a:rPr>
                        <a:t>ホラー</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0.724</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0.706</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0.769</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0.736</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507051028"/>
                  </a:ext>
                </a:extLst>
              </a:tr>
              <a:tr h="370840">
                <a:tc>
                  <a:txBody>
                    <a:bodyPr/>
                    <a:lstStyle/>
                    <a:p>
                      <a:pPr algn="ctr" fontAlgn="ctr">
                        <a:buNone/>
                      </a:pPr>
                      <a:r>
                        <a:rPr lang="ja-JP" altLang="en-US" sz="1600" b="0" u="none" strike="noStrike">
                          <a:solidFill>
                            <a:srgbClr val="000000"/>
                          </a:solidFill>
                          <a:effectLst/>
                        </a:rPr>
                        <a:t>コメディー</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0.715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0.688</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0.787</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0.734</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026802509"/>
                  </a:ext>
                </a:extLst>
              </a:tr>
              <a:tr h="370840">
                <a:tc>
                  <a:txBody>
                    <a:bodyPr/>
                    <a:lstStyle/>
                    <a:p>
                      <a:pPr algn="ctr" fontAlgn="ctr">
                        <a:buNone/>
                      </a:pPr>
                      <a:r>
                        <a:rPr lang="ja-JP" altLang="en-US" sz="1600" b="0" u="none" strike="noStrike" dirty="0">
                          <a:solidFill>
                            <a:srgbClr val="000000"/>
                          </a:solidFill>
                          <a:effectLst/>
                        </a:rPr>
                        <a:t>ヒューマンドラマ</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0.683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0.641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0.831</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0.724</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605132127"/>
                  </a:ext>
                </a:extLst>
              </a:tr>
              <a:tr h="370840">
                <a:tc>
                  <a:txBody>
                    <a:bodyPr/>
                    <a:lstStyle/>
                    <a:p>
                      <a:pPr algn="ctr" fontAlgn="ctr">
                        <a:buNone/>
                      </a:pPr>
                      <a:r>
                        <a:rPr lang="zh-TW" altLang="en-US" sz="1600" b="0" u="none" strike="noStrike" dirty="0">
                          <a:solidFill>
                            <a:srgbClr val="000000"/>
                          </a:solidFill>
                          <a:effectLst/>
                        </a:rPr>
                        <a:t>現実世界（恋愛）</a:t>
                      </a:r>
                      <a:endParaRPr lang="zh-TW"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0.687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0.657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0.779</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0.713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989389082"/>
                  </a:ext>
                </a:extLst>
              </a:tr>
              <a:tr h="370840">
                <a:tc>
                  <a:txBody>
                    <a:bodyPr/>
                    <a:lstStyle/>
                    <a:p>
                      <a:pPr algn="ctr" fontAlgn="ctr">
                        <a:buNone/>
                      </a:pPr>
                      <a:r>
                        <a:rPr lang="ja-JP" altLang="en-US" sz="1600" b="0" u="none" strike="noStrike" dirty="0">
                          <a:solidFill>
                            <a:srgbClr val="000000"/>
                          </a:solidFill>
                          <a:effectLst/>
                        </a:rPr>
                        <a:t>純文学</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0.685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0.669</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0.730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0.698</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470176467"/>
                  </a:ext>
                </a:extLst>
              </a:tr>
              <a:tr h="370840">
                <a:tc>
                  <a:txBody>
                    <a:bodyPr/>
                    <a:lstStyle/>
                    <a:p>
                      <a:pPr algn="ctr" fontAlgn="ctr">
                        <a:buNone/>
                      </a:pPr>
                      <a:r>
                        <a:rPr lang="ja-JP" altLang="en-US" sz="1600" b="0" u="none" strike="noStrike" dirty="0">
                          <a:solidFill>
                            <a:srgbClr val="000000"/>
                          </a:solidFill>
                          <a:effectLst/>
                        </a:rPr>
                        <a:t>ノンジャンル</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a:solidFill>
                            <a:srgbClr val="000000"/>
                          </a:solidFill>
                          <a:effectLst/>
                        </a:rPr>
                        <a:t>0.637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0.608</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0.773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r>
                        <a:rPr lang="en-US" altLang="ja-JP" sz="1600" b="0" u="none" strike="noStrike" dirty="0">
                          <a:solidFill>
                            <a:srgbClr val="000000"/>
                          </a:solidFill>
                          <a:effectLst/>
                        </a:rPr>
                        <a:t>0.681</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257860073"/>
                  </a:ext>
                </a:extLst>
              </a:tr>
            </a:tbl>
          </a:graphicData>
        </a:graphic>
      </p:graphicFrame>
      <p:sp>
        <p:nvSpPr>
          <p:cNvPr id="9" name="スライド番号プレースホルダー 8">
            <a:extLst>
              <a:ext uri="{FF2B5EF4-FFF2-40B4-BE49-F238E27FC236}">
                <a16:creationId xmlns:a16="http://schemas.microsoft.com/office/drawing/2014/main" id="{EDFA3EDC-4623-0756-3738-5B783EA03F3A}"/>
              </a:ext>
            </a:extLst>
          </p:cNvPr>
          <p:cNvSpPr>
            <a:spLocks noGrp="1"/>
          </p:cNvSpPr>
          <p:nvPr>
            <p:ph type="sldNum" sz="quarter" idx="12"/>
          </p:nvPr>
        </p:nvSpPr>
        <p:spPr/>
        <p:txBody>
          <a:bodyPr/>
          <a:lstStyle/>
          <a:p>
            <a:fld id="{425BCB22-CB69-44BC-B16E-26E4C24063E2}" type="slidenum">
              <a:rPr kumimoji="1" lang="ja-JP" altLang="en-US" smtClean="0"/>
              <a:t>12</a:t>
            </a:fld>
            <a:endParaRPr kumimoji="1" lang="ja-JP" altLang="en-US"/>
          </a:p>
        </p:txBody>
      </p:sp>
    </p:spTree>
    <p:extLst>
      <p:ext uri="{BB962C8B-B14F-4D97-AF65-F5344CB8AC3E}">
        <p14:creationId xmlns:p14="http://schemas.microsoft.com/office/powerpoint/2010/main" val="1808155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D4CC13-CDCD-DCEC-20A0-407F5C6D3270}"/>
              </a:ext>
            </a:extLst>
          </p:cNvPr>
          <p:cNvSpPr>
            <a:spLocks noGrp="1"/>
          </p:cNvSpPr>
          <p:nvPr>
            <p:ph type="title"/>
          </p:nvPr>
        </p:nvSpPr>
        <p:spPr/>
        <p:txBody>
          <a:bodyPr/>
          <a:lstStyle/>
          <a:p>
            <a:r>
              <a:rPr lang="ja-JP" altLang="en-US" dirty="0"/>
              <a:t>結果 分析</a:t>
            </a:r>
            <a:r>
              <a:rPr lang="en-US" altLang="ja-JP" dirty="0"/>
              <a:t>2</a:t>
            </a:r>
            <a:r>
              <a:rPr lang="ja-JP" altLang="en-US" dirty="0"/>
              <a:t> </a:t>
            </a:r>
            <a:r>
              <a:rPr lang="en-US" altLang="ja-JP" dirty="0"/>
              <a:t>: </a:t>
            </a:r>
            <a:r>
              <a:rPr lang="ja-JP" altLang="en-US" dirty="0"/>
              <a:t>モデルによる着目点の違い</a:t>
            </a:r>
            <a:endParaRPr kumimoji="1" lang="ja-JP" altLang="en-US" dirty="0"/>
          </a:p>
        </p:txBody>
      </p:sp>
      <p:pic>
        <p:nvPicPr>
          <p:cNvPr id="5" name="コンテンツ プレースホルダー 4" descr="グラフ, 棒グラフ&#10;&#10;AI 生成コンテンツは誤りを含む可能性があります。">
            <a:extLst>
              <a:ext uri="{FF2B5EF4-FFF2-40B4-BE49-F238E27FC236}">
                <a16:creationId xmlns:a16="http://schemas.microsoft.com/office/drawing/2014/main" id="{EFBBCB21-ABF9-68E3-512E-E47D56AA625B}"/>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r="-14" b="60104"/>
          <a:stretch>
            <a:fillRect/>
          </a:stretch>
        </p:blipFill>
        <p:spPr>
          <a:xfrm>
            <a:off x="838201" y="3907115"/>
            <a:ext cx="10515599" cy="1852331"/>
          </a:xfrm>
        </p:spPr>
      </p:pic>
      <p:pic>
        <p:nvPicPr>
          <p:cNvPr id="7" name="図 6" descr="グラフ&#10;&#10;AI 生成コンテンツは誤りを含む可能性があります。">
            <a:extLst>
              <a:ext uri="{FF2B5EF4-FFF2-40B4-BE49-F238E27FC236}">
                <a16:creationId xmlns:a16="http://schemas.microsoft.com/office/drawing/2014/main" id="{8573A04E-71E4-2B0B-E76A-AD44410AB450}"/>
              </a:ext>
            </a:extLst>
          </p:cNvPr>
          <p:cNvPicPr>
            <a:picLocks noChangeAspect="1"/>
          </p:cNvPicPr>
          <p:nvPr/>
        </p:nvPicPr>
        <p:blipFill>
          <a:blip r:embed="rId4">
            <a:extLst>
              <a:ext uri="{28A0092B-C50C-407E-A947-70E740481C1C}">
                <a14:useLocalDpi xmlns:a14="http://schemas.microsoft.com/office/drawing/2010/main" val="0"/>
              </a:ext>
            </a:extLst>
          </a:blip>
          <a:srcRect l="1365" r="42" b="60104"/>
          <a:stretch>
            <a:fillRect/>
          </a:stretch>
        </p:blipFill>
        <p:spPr>
          <a:xfrm>
            <a:off x="838201" y="2054785"/>
            <a:ext cx="10515599" cy="1852330"/>
          </a:xfrm>
          <a:prstGeom prst="rect">
            <a:avLst/>
          </a:prstGeom>
        </p:spPr>
      </p:pic>
      <p:sp>
        <p:nvSpPr>
          <p:cNvPr id="8" name="テキスト ボックス 7">
            <a:extLst>
              <a:ext uri="{FF2B5EF4-FFF2-40B4-BE49-F238E27FC236}">
                <a16:creationId xmlns:a16="http://schemas.microsoft.com/office/drawing/2014/main" id="{67F0F5BC-0B5A-2D30-D16B-88597D327AD8}"/>
              </a:ext>
            </a:extLst>
          </p:cNvPr>
          <p:cNvSpPr txBox="1"/>
          <p:nvPr/>
        </p:nvSpPr>
        <p:spPr>
          <a:xfrm>
            <a:off x="3987890" y="6123543"/>
            <a:ext cx="4216219" cy="369332"/>
          </a:xfrm>
          <a:prstGeom prst="rect">
            <a:avLst/>
          </a:prstGeom>
          <a:noFill/>
        </p:spPr>
        <p:txBody>
          <a:bodyPr wrap="none" rtlCol="0">
            <a:spAutoFit/>
          </a:bodyPr>
          <a:lstStyle/>
          <a:p>
            <a:r>
              <a:rPr lang="ja-JP" altLang="en-US" dirty="0"/>
              <a:t>図</a:t>
            </a:r>
            <a:r>
              <a:rPr lang="en-US" altLang="ja-JP" dirty="0"/>
              <a:t>. TF-IDF</a:t>
            </a:r>
            <a:r>
              <a:rPr lang="ja-JP" altLang="en-US" dirty="0"/>
              <a:t>モデルと</a:t>
            </a:r>
            <a:r>
              <a:rPr lang="en-US" altLang="ja-JP" dirty="0"/>
              <a:t>BERT</a:t>
            </a:r>
            <a:r>
              <a:rPr lang="ja-JP" altLang="en-US" dirty="0"/>
              <a:t>モデルの比較</a:t>
            </a:r>
            <a:endParaRPr kumimoji="1" lang="ja-JP" altLang="en-US" dirty="0"/>
          </a:p>
        </p:txBody>
      </p:sp>
      <p:sp>
        <p:nvSpPr>
          <p:cNvPr id="6" name="テキスト ボックス 5">
            <a:extLst>
              <a:ext uri="{FF2B5EF4-FFF2-40B4-BE49-F238E27FC236}">
                <a16:creationId xmlns:a16="http://schemas.microsoft.com/office/drawing/2014/main" id="{9F95DF3A-619B-0BF4-2FFD-3B44035D5D27}"/>
              </a:ext>
            </a:extLst>
          </p:cNvPr>
          <p:cNvSpPr txBox="1"/>
          <p:nvPr/>
        </p:nvSpPr>
        <p:spPr>
          <a:xfrm>
            <a:off x="838200" y="1723375"/>
            <a:ext cx="5257800" cy="338554"/>
          </a:xfrm>
          <a:prstGeom prst="rect">
            <a:avLst/>
          </a:prstGeom>
          <a:noFill/>
        </p:spPr>
        <p:txBody>
          <a:bodyPr wrap="square" rtlCol="0">
            <a:spAutoFit/>
          </a:bodyPr>
          <a:lstStyle/>
          <a:p>
            <a:pPr algn="ctr"/>
            <a:r>
              <a:rPr lang="ja-JP" altLang="en-US" sz="1600" b="1" dirty="0"/>
              <a:t>エタりに寄与する単語</a:t>
            </a:r>
            <a:endParaRPr kumimoji="1" lang="ja-JP" altLang="en-US" sz="1600" b="1" dirty="0"/>
          </a:p>
        </p:txBody>
      </p:sp>
      <p:sp>
        <p:nvSpPr>
          <p:cNvPr id="9" name="テキスト ボックス 8">
            <a:extLst>
              <a:ext uri="{FF2B5EF4-FFF2-40B4-BE49-F238E27FC236}">
                <a16:creationId xmlns:a16="http://schemas.microsoft.com/office/drawing/2014/main" id="{BEB8B83A-E1DA-0A86-28FA-6097D8BA0D22}"/>
              </a:ext>
            </a:extLst>
          </p:cNvPr>
          <p:cNvSpPr txBox="1"/>
          <p:nvPr/>
        </p:nvSpPr>
        <p:spPr>
          <a:xfrm rot="16200000">
            <a:off x="-222129" y="2811673"/>
            <a:ext cx="1852330" cy="338554"/>
          </a:xfrm>
          <a:prstGeom prst="rect">
            <a:avLst/>
          </a:prstGeom>
          <a:noFill/>
        </p:spPr>
        <p:txBody>
          <a:bodyPr wrap="square" rtlCol="0">
            <a:spAutoFit/>
          </a:bodyPr>
          <a:lstStyle/>
          <a:p>
            <a:pPr algn="ctr"/>
            <a:r>
              <a:rPr lang="en-US" altLang="ja-JP" sz="1600" b="1" dirty="0"/>
              <a:t>TFIDF</a:t>
            </a:r>
            <a:endParaRPr kumimoji="1" lang="ja-JP" altLang="en-US" sz="1600" b="1" dirty="0"/>
          </a:p>
        </p:txBody>
      </p:sp>
      <p:sp>
        <p:nvSpPr>
          <p:cNvPr id="10" name="テキスト ボックス 9">
            <a:extLst>
              <a:ext uri="{FF2B5EF4-FFF2-40B4-BE49-F238E27FC236}">
                <a16:creationId xmlns:a16="http://schemas.microsoft.com/office/drawing/2014/main" id="{74D1DDE6-9B3E-D53E-84AD-387EF839DF79}"/>
              </a:ext>
            </a:extLst>
          </p:cNvPr>
          <p:cNvSpPr txBox="1"/>
          <p:nvPr/>
        </p:nvSpPr>
        <p:spPr>
          <a:xfrm>
            <a:off x="6095999" y="1730519"/>
            <a:ext cx="5257800" cy="338554"/>
          </a:xfrm>
          <a:prstGeom prst="rect">
            <a:avLst/>
          </a:prstGeom>
          <a:noFill/>
        </p:spPr>
        <p:txBody>
          <a:bodyPr wrap="square" rtlCol="0">
            <a:spAutoFit/>
          </a:bodyPr>
          <a:lstStyle/>
          <a:p>
            <a:pPr algn="ctr"/>
            <a:r>
              <a:rPr kumimoji="1" lang="ja-JP" altLang="en-US" sz="1600" b="1" dirty="0"/>
              <a:t>完結に寄与する単語</a:t>
            </a:r>
          </a:p>
        </p:txBody>
      </p:sp>
      <p:sp>
        <p:nvSpPr>
          <p:cNvPr id="11" name="テキスト ボックス 10">
            <a:extLst>
              <a:ext uri="{FF2B5EF4-FFF2-40B4-BE49-F238E27FC236}">
                <a16:creationId xmlns:a16="http://schemas.microsoft.com/office/drawing/2014/main" id="{E877E8DF-D922-0EAF-95C3-12626EDCC26E}"/>
              </a:ext>
            </a:extLst>
          </p:cNvPr>
          <p:cNvSpPr txBox="1"/>
          <p:nvPr/>
        </p:nvSpPr>
        <p:spPr>
          <a:xfrm rot="16200000">
            <a:off x="-222129" y="4664003"/>
            <a:ext cx="1852330" cy="338554"/>
          </a:xfrm>
          <a:prstGeom prst="rect">
            <a:avLst/>
          </a:prstGeom>
          <a:noFill/>
        </p:spPr>
        <p:txBody>
          <a:bodyPr wrap="square" rtlCol="0">
            <a:spAutoFit/>
          </a:bodyPr>
          <a:lstStyle/>
          <a:p>
            <a:pPr algn="ctr"/>
            <a:r>
              <a:rPr lang="en-US" altLang="ja-JP" sz="1600" b="1" dirty="0"/>
              <a:t>BERT</a:t>
            </a:r>
            <a:endParaRPr kumimoji="1" lang="ja-JP" altLang="en-US" sz="1600" b="1" dirty="0"/>
          </a:p>
        </p:txBody>
      </p:sp>
      <p:sp>
        <p:nvSpPr>
          <p:cNvPr id="12" name="スライド番号プレースホルダー 11">
            <a:extLst>
              <a:ext uri="{FF2B5EF4-FFF2-40B4-BE49-F238E27FC236}">
                <a16:creationId xmlns:a16="http://schemas.microsoft.com/office/drawing/2014/main" id="{47D89659-C382-03F5-CC37-CC8D2C0C024D}"/>
              </a:ext>
            </a:extLst>
          </p:cNvPr>
          <p:cNvSpPr>
            <a:spLocks noGrp="1"/>
          </p:cNvSpPr>
          <p:nvPr>
            <p:ph type="sldNum" sz="quarter" idx="12"/>
          </p:nvPr>
        </p:nvSpPr>
        <p:spPr/>
        <p:txBody>
          <a:bodyPr/>
          <a:lstStyle/>
          <a:p>
            <a:fld id="{425BCB22-CB69-44BC-B16E-26E4C24063E2}" type="slidenum">
              <a:rPr kumimoji="1" lang="ja-JP" altLang="en-US" smtClean="0"/>
              <a:t>13</a:t>
            </a:fld>
            <a:endParaRPr kumimoji="1" lang="ja-JP" altLang="en-US"/>
          </a:p>
        </p:txBody>
      </p:sp>
      <p:sp>
        <p:nvSpPr>
          <p:cNvPr id="14" name="楕円 13">
            <a:extLst>
              <a:ext uri="{FF2B5EF4-FFF2-40B4-BE49-F238E27FC236}">
                <a16:creationId xmlns:a16="http://schemas.microsoft.com/office/drawing/2014/main" id="{06DFB7DC-D004-1757-BA17-6866B7B26BE0}"/>
              </a:ext>
            </a:extLst>
          </p:cNvPr>
          <p:cNvSpPr/>
          <p:nvPr/>
        </p:nvSpPr>
        <p:spPr>
          <a:xfrm>
            <a:off x="939363" y="4055157"/>
            <a:ext cx="427892" cy="33855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2">
                  <a:lumMod val="50000"/>
                  <a:lumOff val="50000"/>
                </a:schemeClr>
              </a:solidFill>
            </a:endParaRPr>
          </a:p>
        </p:txBody>
      </p:sp>
      <p:sp>
        <p:nvSpPr>
          <p:cNvPr id="15" name="テキスト ボックス 14">
            <a:extLst>
              <a:ext uri="{FF2B5EF4-FFF2-40B4-BE49-F238E27FC236}">
                <a16:creationId xmlns:a16="http://schemas.microsoft.com/office/drawing/2014/main" id="{5CFA81B5-3052-0FA4-982C-51AD616B8C54}"/>
              </a:ext>
            </a:extLst>
          </p:cNvPr>
          <p:cNvSpPr txBox="1"/>
          <p:nvPr/>
        </p:nvSpPr>
        <p:spPr>
          <a:xfrm>
            <a:off x="-81267" y="3559236"/>
            <a:ext cx="1122594" cy="646331"/>
          </a:xfrm>
          <a:prstGeom prst="rect">
            <a:avLst/>
          </a:prstGeom>
          <a:noFill/>
          <a:ln w="19050">
            <a:noFill/>
          </a:ln>
        </p:spPr>
        <p:txBody>
          <a:bodyPr wrap="square" rtlCol="0">
            <a:spAutoFit/>
          </a:bodyPr>
          <a:lstStyle/>
          <a:p>
            <a:pPr algn="ctr"/>
            <a:r>
              <a:rPr kumimoji="1" lang="ja-JP" altLang="en-US" b="1" dirty="0">
                <a:solidFill>
                  <a:srgbClr val="00B0F0"/>
                </a:solidFill>
              </a:rPr>
              <a:t>「完結」</a:t>
            </a:r>
            <a:endParaRPr kumimoji="1" lang="en-US" altLang="ja-JP" b="1" dirty="0">
              <a:solidFill>
                <a:srgbClr val="00B0F0"/>
              </a:solidFill>
            </a:endParaRPr>
          </a:p>
          <a:p>
            <a:pPr algn="ctr"/>
            <a:r>
              <a:rPr kumimoji="1" lang="ja-JP" altLang="en-US" b="1" dirty="0">
                <a:solidFill>
                  <a:srgbClr val="00B0F0"/>
                </a:solidFill>
              </a:rPr>
              <a:t>が</a:t>
            </a:r>
            <a:r>
              <a:rPr kumimoji="1" lang="en-US" altLang="ja-JP" b="1" dirty="0">
                <a:solidFill>
                  <a:srgbClr val="00B0F0"/>
                </a:solidFill>
              </a:rPr>
              <a:t>Top</a:t>
            </a:r>
            <a:endParaRPr kumimoji="1" lang="ja-JP" altLang="en-US" b="1" dirty="0">
              <a:solidFill>
                <a:srgbClr val="00B0F0"/>
              </a:solidFill>
            </a:endParaRPr>
          </a:p>
        </p:txBody>
      </p:sp>
      <p:sp>
        <p:nvSpPr>
          <p:cNvPr id="30" name="楕円 29">
            <a:extLst>
              <a:ext uri="{FF2B5EF4-FFF2-40B4-BE49-F238E27FC236}">
                <a16:creationId xmlns:a16="http://schemas.microsoft.com/office/drawing/2014/main" id="{9F609A2C-9E12-A315-4E54-711FC06B748E}"/>
              </a:ext>
            </a:extLst>
          </p:cNvPr>
          <p:cNvSpPr/>
          <p:nvPr/>
        </p:nvSpPr>
        <p:spPr>
          <a:xfrm>
            <a:off x="6193473" y="4082846"/>
            <a:ext cx="427892" cy="58293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2D3A687C-E0C0-8256-6F68-DD31434BF3E0}"/>
              </a:ext>
            </a:extLst>
          </p:cNvPr>
          <p:cNvSpPr txBox="1"/>
          <p:nvPr/>
        </p:nvSpPr>
        <p:spPr>
          <a:xfrm>
            <a:off x="4844661" y="4779570"/>
            <a:ext cx="1774531" cy="369332"/>
          </a:xfrm>
          <a:prstGeom prst="rect">
            <a:avLst/>
          </a:prstGeom>
          <a:noFill/>
          <a:ln w="19050">
            <a:noFill/>
          </a:ln>
        </p:spPr>
        <p:txBody>
          <a:bodyPr wrap="square" rtlCol="0">
            <a:spAutoFit/>
          </a:bodyPr>
          <a:lstStyle/>
          <a:p>
            <a:pPr algn="ctr"/>
            <a:r>
              <a:rPr lang="ja-JP" altLang="en-US" b="1" dirty="0">
                <a:solidFill>
                  <a:srgbClr val="FF0000"/>
                </a:solidFill>
              </a:rPr>
              <a:t>丁寧な文体</a:t>
            </a:r>
            <a:endParaRPr kumimoji="1" lang="ja-JP" altLang="en-US" b="1" dirty="0">
              <a:solidFill>
                <a:srgbClr val="FF0000"/>
              </a:solidFill>
            </a:endParaRPr>
          </a:p>
        </p:txBody>
      </p:sp>
    </p:spTree>
    <p:extLst>
      <p:ext uri="{BB962C8B-B14F-4D97-AF65-F5344CB8AC3E}">
        <p14:creationId xmlns:p14="http://schemas.microsoft.com/office/powerpoint/2010/main" val="3184695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D74FC7-2351-C12F-08D0-2585A5D11D71}"/>
              </a:ext>
            </a:extLst>
          </p:cNvPr>
          <p:cNvSpPr>
            <a:spLocks noGrp="1"/>
          </p:cNvSpPr>
          <p:nvPr>
            <p:ph type="title"/>
          </p:nvPr>
        </p:nvSpPr>
        <p:spPr/>
        <p:txBody>
          <a:bodyPr/>
          <a:lstStyle/>
          <a:p>
            <a:r>
              <a:rPr lang="ja-JP" altLang="en-US" dirty="0"/>
              <a:t>結果 分析</a:t>
            </a:r>
            <a:r>
              <a:rPr lang="en-US" altLang="ja-JP" dirty="0"/>
              <a:t>2</a:t>
            </a:r>
            <a:r>
              <a:rPr lang="ja-JP" altLang="en-US" dirty="0"/>
              <a:t> </a:t>
            </a:r>
            <a:r>
              <a:rPr lang="en-US" altLang="ja-JP" dirty="0"/>
              <a:t>:</a:t>
            </a:r>
            <a:r>
              <a:rPr lang="ja-JP" altLang="en-US" dirty="0"/>
              <a:t>ジャンル特有のエタり要因</a:t>
            </a:r>
            <a:endParaRPr kumimoji="1" lang="ja-JP" altLang="en-US" dirty="0"/>
          </a:p>
        </p:txBody>
      </p:sp>
      <p:pic>
        <p:nvPicPr>
          <p:cNvPr id="5" name="コンテンツ プレースホルダー 4" descr="グラフ, 棒グラフ&#10;&#10;AI 生成コンテンツは誤りを含む可能性があります。">
            <a:extLst>
              <a:ext uri="{FF2B5EF4-FFF2-40B4-BE49-F238E27FC236}">
                <a16:creationId xmlns:a16="http://schemas.microsoft.com/office/drawing/2014/main" id="{C9AB225F-9C67-4DFE-E843-7B41DF4A2C8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914" r="-957" b="60152"/>
          <a:stretch>
            <a:fillRect/>
          </a:stretch>
        </p:blipFill>
        <p:spPr>
          <a:xfrm>
            <a:off x="298938" y="1690688"/>
            <a:ext cx="11594123" cy="2059842"/>
          </a:xfrm>
        </p:spPr>
      </p:pic>
      <p:pic>
        <p:nvPicPr>
          <p:cNvPr id="7" name="図 6" descr="グラフ&#10;&#10;AI 生成コンテンツは誤りを含む可能性があります。">
            <a:extLst>
              <a:ext uri="{FF2B5EF4-FFF2-40B4-BE49-F238E27FC236}">
                <a16:creationId xmlns:a16="http://schemas.microsoft.com/office/drawing/2014/main" id="{36A217B4-EF5F-D75C-8E2F-202A034C3FAB}"/>
              </a:ext>
            </a:extLst>
          </p:cNvPr>
          <p:cNvPicPr>
            <a:picLocks noChangeAspect="1"/>
          </p:cNvPicPr>
          <p:nvPr/>
        </p:nvPicPr>
        <p:blipFill>
          <a:blip r:embed="rId4">
            <a:extLst>
              <a:ext uri="{28A0092B-C50C-407E-A947-70E740481C1C}">
                <a14:useLocalDpi xmlns:a14="http://schemas.microsoft.com/office/drawing/2010/main" val="0"/>
              </a:ext>
            </a:extLst>
          </a:blip>
          <a:srcRect l="1" r="-1022" b="60130"/>
          <a:stretch>
            <a:fillRect/>
          </a:stretch>
        </p:blipFill>
        <p:spPr>
          <a:xfrm>
            <a:off x="298938" y="3750530"/>
            <a:ext cx="11594122" cy="2019506"/>
          </a:xfrm>
          <a:prstGeom prst="rect">
            <a:avLst/>
          </a:prstGeom>
        </p:spPr>
      </p:pic>
      <p:sp>
        <p:nvSpPr>
          <p:cNvPr id="8" name="テキスト ボックス 7">
            <a:extLst>
              <a:ext uri="{FF2B5EF4-FFF2-40B4-BE49-F238E27FC236}">
                <a16:creationId xmlns:a16="http://schemas.microsoft.com/office/drawing/2014/main" id="{7434C773-FA04-5475-918A-E0491A43024E}"/>
              </a:ext>
            </a:extLst>
          </p:cNvPr>
          <p:cNvSpPr txBox="1"/>
          <p:nvPr/>
        </p:nvSpPr>
        <p:spPr>
          <a:xfrm>
            <a:off x="4209906" y="5770036"/>
            <a:ext cx="3772186" cy="369332"/>
          </a:xfrm>
          <a:prstGeom prst="rect">
            <a:avLst/>
          </a:prstGeom>
          <a:noFill/>
        </p:spPr>
        <p:txBody>
          <a:bodyPr wrap="none" rtlCol="0">
            <a:spAutoFit/>
          </a:bodyPr>
          <a:lstStyle/>
          <a:p>
            <a:r>
              <a:rPr lang="ja-JP" altLang="en-US" dirty="0"/>
              <a:t>図</a:t>
            </a:r>
            <a:r>
              <a:rPr lang="en-US" altLang="ja-JP" dirty="0"/>
              <a:t>. </a:t>
            </a:r>
            <a:r>
              <a:rPr lang="ja-JP" altLang="en-US" dirty="0"/>
              <a:t>異世界（恋愛）と純文学の比較</a:t>
            </a:r>
            <a:endParaRPr kumimoji="1" lang="ja-JP" altLang="en-US" dirty="0"/>
          </a:p>
        </p:txBody>
      </p:sp>
      <p:sp>
        <p:nvSpPr>
          <p:cNvPr id="3" name="テキスト ボックス 2">
            <a:extLst>
              <a:ext uri="{FF2B5EF4-FFF2-40B4-BE49-F238E27FC236}">
                <a16:creationId xmlns:a16="http://schemas.microsoft.com/office/drawing/2014/main" id="{4898FE06-7DCC-1B65-A0FD-FA4DCDEFA890}"/>
              </a:ext>
            </a:extLst>
          </p:cNvPr>
          <p:cNvSpPr txBox="1"/>
          <p:nvPr/>
        </p:nvSpPr>
        <p:spPr>
          <a:xfrm>
            <a:off x="703385" y="1395662"/>
            <a:ext cx="5521569" cy="338554"/>
          </a:xfrm>
          <a:prstGeom prst="rect">
            <a:avLst/>
          </a:prstGeom>
          <a:noFill/>
        </p:spPr>
        <p:txBody>
          <a:bodyPr wrap="square" rtlCol="0">
            <a:spAutoFit/>
          </a:bodyPr>
          <a:lstStyle/>
          <a:p>
            <a:pPr algn="ctr"/>
            <a:r>
              <a:rPr lang="ja-JP" altLang="en-US" sz="1600" b="1" dirty="0"/>
              <a:t>エタりに寄与する単語</a:t>
            </a:r>
            <a:endParaRPr kumimoji="1" lang="ja-JP" altLang="en-US" sz="1600" b="1" dirty="0"/>
          </a:p>
        </p:txBody>
      </p:sp>
      <p:sp>
        <p:nvSpPr>
          <p:cNvPr id="4" name="テキスト ボックス 3">
            <a:extLst>
              <a:ext uri="{FF2B5EF4-FFF2-40B4-BE49-F238E27FC236}">
                <a16:creationId xmlns:a16="http://schemas.microsoft.com/office/drawing/2014/main" id="{F3282AC5-1EC6-DB8F-FB1D-10B529956C50}"/>
              </a:ext>
            </a:extLst>
          </p:cNvPr>
          <p:cNvSpPr txBox="1"/>
          <p:nvPr/>
        </p:nvSpPr>
        <p:spPr>
          <a:xfrm rot="16200000">
            <a:off x="-730984" y="2735998"/>
            <a:ext cx="2059842" cy="338554"/>
          </a:xfrm>
          <a:prstGeom prst="rect">
            <a:avLst/>
          </a:prstGeom>
          <a:noFill/>
        </p:spPr>
        <p:txBody>
          <a:bodyPr wrap="square" rtlCol="0">
            <a:spAutoFit/>
          </a:bodyPr>
          <a:lstStyle/>
          <a:p>
            <a:pPr algn="ctr"/>
            <a:r>
              <a:rPr kumimoji="1" lang="ja-JP" altLang="en-US" sz="1600" b="1" dirty="0"/>
              <a:t>異世界</a:t>
            </a:r>
            <a:r>
              <a:rPr lang="ja-JP" altLang="en-US" sz="1600" b="1" dirty="0"/>
              <a:t>（恋愛）</a:t>
            </a:r>
            <a:endParaRPr kumimoji="1" lang="ja-JP" altLang="en-US" sz="1600" b="1" dirty="0"/>
          </a:p>
        </p:txBody>
      </p:sp>
      <p:sp>
        <p:nvSpPr>
          <p:cNvPr id="6" name="テキスト ボックス 5">
            <a:extLst>
              <a:ext uri="{FF2B5EF4-FFF2-40B4-BE49-F238E27FC236}">
                <a16:creationId xmlns:a16="http://schemas.microsoft.com/office/drawing/2014/main" id="{8EB36A9C-BBD2-E508-C78A-4E1C9E059D7B}"/>
              </a:ext>
            </a:extLst>
          </p:cNvPr>
          <p:cNvSpPr txBox="1"/>
          <p:nvPr/>
        </p:nvSpPr>
        <p:spPr>
          <a:xfrm>
            <a:off x="6359769" y="1395662"/>
            <a:ext cx="5533291" cy="338554"/>
          </a:xfrm>
          <a:prstGeom prst="rect">
            <a:avLst/>
          </a:prstGeom>
          <a:noFill/>
        </p:spPr>
        <p:txBody>
          <a:bodyPr wrap="square" rtlCol="0">
            <a:spAutoFit/>
          </a:bodyPr>
          <a:lstStyle/>
          <a:p>
            <a:pPr algn="ctr"/>
            <a:r>
              <a:rPr kumimoji="1" lang="ja-JP" altLang="en-US" sz="1600" b="1" dirty="0"/>
              <a:t>完結に寄与する単語</a:t>
            </a:r>
          </a:p>
        </p:txBody>
      </p:sp>
      <p:sp>
        <p:nvSpPr>
          <p:cNvPr id="9" name="テキスト ボックス 8">
            <a:extLst>
              <a:ext uri="{FF2B5EF4-FFF2-40B4-BE49-F238E27FC236}">
                <a16:creationId xmlns:a16="http://schemas.microsoft.com/office/drawing/2014/main" id="{47838941-951D-8DE5-6424-C026F452AE48}"/>
              </a:ext>
            </a:extLst>
          </p:cNvPr>
          <p:cNvSpPr txBox="1"/>
          <p:nvPr/>
        </p:nvSpPr>
        <p:spPr>
          <a:xfrm rot="16200000">
            <a:off x="-710815" y="4611174"/>
            <a:ext cx="2019506" cy="338554"/>
          </a:xfrm>
          <a:prstGeom prst="rect">
            <a:avLst/>
          </a:prstGeom>
          <a:noFill/>
        </p:spPr>
        <p:txBody>
          <a:bodyPr wrap="square" rtlCol="0">
            <a:spAutoFit/>
          </a:bodyPr>
          <a:lstStyle/>
          <a:p>
            <a:pPr algn="ctr"/>
            <a:r>
              <a:rPr lang="ja-JP" altLang="en-US" sz="1600" b="1" dirty="0"/>
              <a:t>純文学</a:t>
            </a:r>
            <a:endParaRPr kumimoji="1" lang="ja-JP" altLang="en-US" sz="1600" b="1" dirty="0"/>
          </a:p>
        </p:txBody>
      </p:sp>
      <p:sp>
        <p:nvSpPr>
          <p:cNvPr id="10" name="スライド番号プレースホルダー 9">
            <a:extLst>
              <a:ext uri="{FF2B5EF4-FFF2-40B4-BE49-F238E27FC236}">
                <a16:creationId xmlns:a16="http://schemas.microsoft.com/office/drawing/2014/main" id="{00B4C5DC-D70F-1631-6BE1-6B4A74894AE4}"/>
              </a:ext>
            </a:extLst>
          </p:cNvPr>
          <p:cNvSpPr>
            <a:spLocks noGrp="1"/>
          </p:cNvSpPr>
          <p:nvPr>
            <p:ph type="sldNum" sz="quarter" idx="12"/>
          </p:nvPr>
        </p:nvSpPr>
        <p:spPr/>
        <p:txBody>
          <a:bodyPr/>
          <a:lstStyle/>
          <a:p>
            <a:fld id="{425BCB22-CB69-44BC-B16E-26E4C24063E2}" type="slidenum">
              <a:rPr kumimoji="1" lang="ja-JP" altLang="en-US" smtClean="0"/>
              <a:t>14</a:t>
            </a:fld>
            <a:endParaRPr kumimoji="1" lang="ja-JP" altLang="en-US"/>
          </a:p>
        </p:txBody>
      </p:sp>
      <p:sp>
        <p:nvSpPr>
          <p:cNvPr id="11" name="楕円 10">
            <a:extLst>
              <a:ext uri="{FF2B5EF4-FFF2-40B4-BE49-F238E27FC236}">
                <a16:creationId xmlns:a16="http://schemas.microsoft.com/office/drawing/2014/main" id="{4F084488-437C-38E5-157B-A568AD1872D3}"/>
              </a:ext>
            </a:extLst>
          </p:cNvPr>
          <p:cNvSpPr/>
          <p:nvPr/>
        </p:nvSpPr>
        <p:spPr>
          <a:xfrm>
            <a:off x="468569" y="3113988"/>
            <a:ext cx="469632" cy="670583"/>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DE61C939-681C-E329-C2DE-124DC98BC1E4}"/>
              </a:ext>
            </a:extLst>
          </p:cNvPr>
          <p:cNvSpPr/>
          <p:nvPr/>
        </p:nvSpPr>
        <p:spPr>
          <a:xfrm>
            <a:off x="368567" y="3935196"/>
            <a:ext cx="569633" cy="343727"/>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43816DBE-3D4D-1BA7-7884-5D08FBDA8E94}"/>
              </a:ext>
            </a:extLst>
          </p:cNvPr>
          <p:cNvSpPr/>
          <p:nvPr/>
        </p:nvSpPr>
        <p:spPr>
          <a:xfrm>
            <a:off x="600629" y="4532335"/>
            <a:ext cx="338554" cy="343727"/>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1BABAE65-AB9E-7B5D-5F5B-02D9904CC7C5}"/>
              </a:ext>
            </a:extLst>
          </p:cNvPr>
          <p:cNvSpPr/>
          <p:nvPr/>
        </p:nvSpPr>
        <p:spPr>
          <a:xfrm>
            <a:off x="595121" y="5129474"/>
            <a:ext cx="338554" cy="343727"/>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EB7242F8-958C-2680-F551-DECBE8DD2E79}"/>
              </a:ext>
            </a:extLst>
          </p:cNvPr>
          <p:cNvSpPr txBox="1"/>
          <p:nvPr/>
        </p:nvSpPr>
        <p:spPr>
          <a:xfrm>
            <a:off x="0" y="1240817"/>
            <a:ext cx="1582615" cy="646331"/>
          </a:xfrm>
          <a:prstGeom prst="rect">
            <a:avLst/>
          </a:prstGeom>
          <a:noFill/>
          <a:ln w="19050">
            <a:noFill/>
          </a:ln>
        </p:spPr>
        <p:txBody>
          <a:bodyPr wrap="square" rtlCol="0">
            <a:spAutoFit/>
          </a:bodyPr>
          <a:lstStyle/>
          <a:p>
            <a:pPr algn="ctr"/>
            <a:r>
              <a:rPr kumimoji="1" lang="ja-JP" altLang="en-US" b="1" dirty="0">
                <a:solidFill>
                  <a:schemeClr val="accent5"/>
                </a:solidFill>
              </a:rPr>
              <a:t>「カクヨム」「掲載」</a:t>
            </a:r>
          </a:p>
        </p:txBody>
      </p:sp>
      <p:sp>
        <p:nvSpPr>
          <p:cNvPr id="25" name="テキスト ボックス 24">
            <a:extLst>
              <a:ext uri="{FF2B5EF4-FFF2-40B4-BE49-F238E27FC236}">
                <a16:creationId xmlns:a16="http://schemas.microsoft.com/office/drawing/2014/main" id="{1EA6D611-2742-20DD-39F7-C2F6E0D61D90}"/>
              </a:ext>
            </a:extLst>
          </p:cNvPr>
          <p:cNvSpPr txBox="1"/>
          <p:nvPr/>
        </p:nvSpPr>
        <p:spPr>
          <a:xfrm>
            <a:off x="272560" y="6000586"/>
            <a:ext cx="1131279" cy="646331"/>
          </a:xfrm>
          <a:prstGeom prst="rect">
            <a:avLst/>
          </a:prstGeom>
          <a:noFill/>
          <a:ln w="19050">
            <a:noFill/>
          </a:ln>
        </p:spPr>
        <p:txBody>
          <a:bodyPr wrap="square" rtlCol="0">
            <a:spAutoFit/>
          </a:bodyPr>
          <a:lstStyle/>
          <a:p>
            <a:pPr algn="ctr"/>
            <a:r>
              <a:rPr kumimoji="1" lang="ja-JP" altLang="en-US" b="1" dirty="0">
                <a:solidFill>
                  <a:schemeClr val="accent6"/>
                </a:solidFill>
              </a:rPr>
              <a:t>「連作」</a:t>
            </a:r>
            <a:endParaRPr kumimoji="1" lang="en-US" altLang="ja-JP" b="1" dirty="0">
              <a:solidFill>
                <a:schemeClr val="accent6"/>
              </a:solidFill>
            </a:endParaRPr>
          </a:p>
          <a:p>
            <a:pPr algn="ctr"/>
            <a:r>
              <a:rPr kumimoji="1" lang="ja-JP" altLang="en-US" b="1" dirty="0">
                <a:solidFill>
                  <a:schemeClr val="accent6"/>
                </a:solidFill>
              </a:rPr>
              <a:t>「企画」</a:t>
            </a:r>
          </a:p>
        </p:txBody>
      </p:sp>
    </p:spTree>
    <p:extLst>
      <p:ext uri="{BB962C8B-B14F-4D97-AF65-F5344CB8AC3E}">
        <p14:creationId xmlns:p14="http://schemas.microsoft.com/office/powerpoint/2010/main" val="2898386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685D7A-3BC6-EE6D-7EDF-72FC9FA743D3}"/>
              </a:ext>
            </a:extLst>
          </p:cNvPr>
          <p:cNvSpPr>
            <a:spLocks noGrp="1"/>
          </p:cNvSpPr>
          <p:nvPr>
            <p:ph type="title"/>
          </p:nvPr>
        </p:nvSpPr>
        <p:spPr/>
        <p:txBody>
          <a:bodyPr/>
          <a:lstStyle/>
          <a:p>
            <a:r>
              <a:rPr lang="ja-JP" altLang="en-US" dirty="0"/>
              <a:t>結論と今後の展望</a:t>
            </a:r>
            <a:endParaRPr kumimoji="1" lang="ja-JP" altLang="en-US" dirty="0"/>
          </a:p>
        </p:txBody>
      </p:sp>
      <p:sp>
        <p:nvSpPr>
          <p:cNvPr id="3" name="コンテンツ プレースホルダー 2">
            <a:extLst>
              <a:ext uri="{FF2B5EF4-FFF2-40B4-BE49-F238E27FC236}">
                <a16:creationId xmlns:a16="http://schemas.microsoft.com/office/drawing/2014/main" id="{6C848B3F-393B-3887-7580-0DA88C7604F9}"/>
              </a:ext>
            </a:extLst>
          </p:cNvPr>
          <p:cNvSpPr>
            <a:spLocks noGrp="1"/>
          </p:cNvSpPr>
          <p:nvPr>
            <p:ph idx="1"/>
          </p:nvPr>
        </p:nvSpPr>
        <p:spPr>
          <a:xfrm>
            <a:off x="838200" y="1690687"/>
            <a:ext cx="5249007" cy="4802187"/>
          </a:xfrm>
        </p:spPr>
        <p:txBody>
          <a:bodyPr>
            <a:noAutofit/>
          </a:bodyPr>
          <a:lstStyle/>
          <a:p>
            <a:pPr marL="0" indent="0">
              <a:buNone/>
            </a:pPr>
            <a:r>
              <a:rPr lang="ja-JP" altLang="en-US" sz="2400" b="1" dirty="0"/>
              <a:t>結論</a:t>
            </a:r>
            <a:endParaRPr lang="en-US" altLang="ja-JP" sz="2400" b="1" dirty="0"/>
          </a:p>
          <a:p>
            <a:pPr marL="0" indent="0">
              <a:buNone/>
            </a:pPr>
            <a:r>
              <a:rPr lang="ja-JP" altLang="en-US" sz="2000" b="1" dirty="0"/>
              <a:t>数値データの優位性</a:t>
            </a:r>
            <a:endParaRPr lang="en-US" altLang="ja-JP" sz="2000" dirty="0"/>
          </a:p>
          <a:p>
            <a:pPr marL="0" indent="0">
              <a:buNone/>
            </a:pPr>
            <a:r>
              <a:rPr lang="ja-JP" altLang="en-US" sz="2000" dirty="0"/>
              <a:t>更新頻度等のメタデータが予測に</a:t>
            </a:r>
            <a:br>
              <a:rPr lang="en-US" altLang="ja-JP" sz="2000" dirty="0"/>
            </a:br>
            <a:r>
              <a:rPr lang="ja-JP" altLang="en-US" sz="2000" dirty="0"/>
              <a:t>最も強く寄与 </a:t>
            </a:r>
            <a:r>
              <a:rPr lang="en-US" altLang="ja-JP" sz="2000" dirty="0"/>
              <a:t>(F1: 0.78)</a:t>
            </a:r>
          </a:p>
          <a:p>
            <a:pPr marL="0" indent="0">
              <a:buNone/>
            </a:pPr>
            <a:endParaRPr lang="en-US" altLang="ja-JP" sz="2000" b="1" dirty="0"/>
          </a:p>
          <a:p>
            <a:pPr marL="0" indent="0">
              <a:buNone/>
            </a:pPr>
            <a:r>
              <a:rPr lang="ja-JP" altLang="en-US" sz="2000" b="1" dirty="0"/>
              <a:t>あらすじ情報の特性</a:t>
            </a:r>
            <a:endParaRPr lang="en-US" altLang="ja-JP" sz="2000" b="1" dirty="0"/>
          </a:p>
          <a:p>
            <a:pPr marL="0" indent="0">
              <a:buNone/>
            </a:pPr>
            <a:r>
              <a:rPr lang="en-US" altLang="ja-JP" sz="2000" dirty="0"/>
              <a:t>3</a:t>
            </a:r>
            <a:r>
              <a:rPr lang="ja-JP" altLang="en-US" sz="2000" dirty="0"/>
              <a:t>手法の結果は拮抗しており、</a:t>
            </a:r>
            <a:br>
              <a:rPr lang="en-US" altLang="ja-JP" sz="2000" dirty="0"/>
            </a:br>
            <a:r>
              <a:rPr lang="ja-JP" altLang="en-US" sz="2000" dirty="0"/>
              <a:t>テキスト単体での予測はやや困難</a:t>
            </a:r>
            <a:endParaRPr lang="en-US" altLang="ja-JP" sz="2000" dirty="0"/>
          </a:p>
          <a:p>
            <a:pPr marL="0" indent="0">
              <a:buNone/>
            </a:pPr>
            <a:r>
              <a:rPr lang="en-US" altLang="ja-JP" sz="2000" dirty="0"/>
              <a:t>(F1: ~0.74)</a:t>
            </a:r>
          </a:p>
          <a:p>
            <a:endParaRPr lang="en-US" altLang="ja-JP" sz="2000" dirty="0"/>
          </a:p>
          <a:p>
            <a:pPr marL="0" indent="0">
              <a:buNone/>
            </a:pPr>
            <a:r>
              <a:rPr lang="ja-JP" altLang="en-US" sz="2000" b="1" dirty="0"/>
              <a:t>定性的なエタり要因の発見</a:t>
            </a:r>
            <a:endParaRPr lang="en-US" altLang="ja-JP" sz="2000" b="1" dirty="0"/>
          </a:p>
          <a:p>
            <a:pPr marL="0" indent="0">
              <a:buNone/>
            </a:pPr>
            <a:r>
              <a:rPr lang="en-US" altLang="ja-JP" sz="2000" dirty="0"/>
              <a:t>LIME</a:t>
            </a:r>
            <a:r>
              <a:rPr lang="ja-JP" altLang="en-US" sz="2000" dirty="0"/>
              <a:t>により「企画参加」や</a:t>
            </a:r>
            <a:br>
              <a:rPr lang="en-US" altLang="ja-JP" sz="2000" dirty="0"/>
            </a:br>
            <a:r>
              <a:rPr lang="ja-JP" altLang="en-US" sz="2000" dirty="0"/>
              <a:t>「執筆疲れ」などの背景を可視化</a:t>
            </a:r>
          </a:p>
        </p:txBody>
      </p:sp>
      <p:sp>
        <p:nvSpPr>
          <p:cNvPr id="4" name="コンテンツ プレースホルダー 2">
            <a:extLst>
              <a:ext uri="{FF2B5EF4-FFF2-40B4-BE49-F238E27FC236}">
                <a16:creationId xmlns:a16="http://schemas.microsoft.com/office/drawing/2014/main" id="{EDAC219C-3E45-9E3C-B8D0-7B3997C5FB5B}"/>
              </a:ext>
            </a:extLst>
          </p:cNvPr>
          <p:cNvSpPr txBox="1">
            <a:spLocks/>
          </p:cNvSpPr>
          <p:nvPr/>
        </p:nvSpPr>
        <p:spPr>
          <a:xfrm>
            <a:off x="6661639" y="1690688"/>
            <a:ext cx="4126523" cy="480218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400" b="1" dirty="0"/>
              <a:t>今後の展望</a:t>
            </a:r>
            <a:endParaRPr lang="en-US" altLang="ja-JP" sz="2400" b="1" dirty="0"/>
          </a:p>
          <a:p>
            <a:pPr marL="0" indent="0">
              <a:buNone/>
            </a:pPr>
            <a:r>
              <a:rPr lang="ja-JP" altLang="en-US" sz="2000" b="1" dirty="0"/>
              <a:t>マルチモーダルモデルの構築</a:t>
            </a:r>
            <a:endParaRPr lang="en-US" altLang="ja-JP" sz="2000" b="1" dirty="0"/>
          </a:p>
          <a:p>
            <a:pPr marL="0" indent="0">
              <a:buNone/>
            </a:pPr>
            <a:r>
              <a:rPr lang="ja-JP" altLang="en-US" sz="2000" dirty="0"/>
              <a:t>数値とあらすじを統合した</a:t>
            </a:r>
            <a:br>
              <a:rPr lang="en-US" altLang="ja-JP" sz="2000" dirty="0"/>
            </a:br>
            <a:r>
              <a:rPr lang="ja-JP" altLang="en-US" sz="2000" dirty="0"/>
              <a:t>単一モデルでの予測</a:t>
            </a:r>
            <a:endParaRPr lang="en-US" altLang="ja-JP" sz="2000" dirty="0"/>
          </a:p>
          <a:p>
            <a:pPr marL="0" indent="0">
              <a:buNone/>
            </a:pPr>
            <a:endParaRPr lang="ja-JP" altLang="en-US" sz="2000" b="1" dirty="0"/>
          </a:p>
          <a:p>
            <a:pPr marL="0" indent="0">
              <a:buFont typeface="Arial" panose="020B0604020202020204" pitchFamily="34" charset="0"/>
              <a:buNone/>
            </a:pPr>
            <a:r>
              <a:rPr lang="ja-JP" altLang="en-US" sz="2000" b="1" dirty="0"/>
              <a:t>誤分類の抑制</a:t>
            </a:r>
            <a:endParaRPr lang="en-US" altLang="ja-JP" sz="2000" b="1" dirty="0"/>
          </a:p>
          <a:p>
            <a:pPr marL="0" indent="0">
              <a:buFont typeface="Arial" panose="020B0604020202020204" pitchFamily="34" charset="0"/>
              <a:buNone/>
            </a:pPr>
            <a:r>
              <a:rPr lang="ja-JP" altLang="en-US" sz="2000" dirty="0"/>
              <a:t>エタる作品を正しく判定する</a:t>
            </a:r>
            <a:br>
              <a:rPr lang="en-US" altLang="ja-JP" sz="2000" dirty="0"/>
            </a:br>
            <a:r>
              <a:rPr lang="ja-JP" altLang="en-US" sz="2000" dirty="0"/>
              <a:t>モデル性能の向上</a:t>
            </a:r>
            <a:endParaRPr lang="en-US" altLang="ja-JP" sz="2000" dirty="0"/>
          </a:p>
          <a:p>
            <a:pPr marL="0" indent="0">
              <a:buFont typeface="Arial" panose="020B0604020202020204" pitchFamily="34" charset="0"/>
              <a:buNone/>
            </a:pPr>
            <a:endParaRPr lang="ja-JP" altLang="en-US" sz="2000" dirty="0"/>
          </a:p>
          <a:p>
            <a:pPr marL="0" indent="0">
              <a:buFont typeface="Arial" panose="020B0604020202020204" pitchFamily="34" charset="0"/>
              <a:buNone/>
            </a:pPr>
            <a:r>
              <a:rPr lang="ja-JP" altLang="en-US" sz="2000" b="1" dirty="0"/>
              <a:t>リアルタイム執筆支援</a:t>
            </a:r>
            <a:endParaRPr lang="en-US" altLang="ja-JP" sz="2000" b="1" dirty="0"/>
          </a:p>
          <a:p>
            <a:pPr marL="0" indent="0">
              <a:buFont typeface="Arial" panose="020B0604020202020204" pitchFamily="34" charset="0"/>
              <a:buNone/>
            </a:pPr>
            <a:r>
              <a:rPr lang="ja-JP" altLang="en-US" sz="2000" dirty="0"/>
              <a:t>執筆中にリスクを提示し、</a:t>
            </a:r>
            <a:br>
              <a:rPr lang="en-US" altLang="ja-JP" sz="2000" dirty="0"/>
            </a:br>
            <a:r>
              <a:rPr lang="ja-JP" altLang="en-US" sz="2000" dirty="0"/>
              <a:t>設定確認を促す</a:t>
            </a:r>
            <a:endParaRPr lang="en-US" altLang="ja-JP" sz="2000" dirty="0"/>
          </a:p>
          <a:p>
            <a:pPr marL="0" indent="0">
              <a:buFont typeface="Arial" panose="020B0604020202020204" pitchFamily="34" charset="0"/>
              <a:buNone/>
            </a:pPr>
            <a:endParaRPr lang="ja-JP" altLang="en-US" sz="2000" dirty="0"/>
          </a:p>
        </p:txBody>
      </p:sp>
      <p:sp>
        <p:nvSpPr>
          <p:cNvPr id="5" name="スライド番号プレースホルダー 4">
            <a:extLst>
              <a:ext uri="{FF2B5EF4-FFF2-40B4-BE49-F238E27FC236}">
                <a16:creationId xmlns:a16="http://schemas.microsoft.com/office/drawing/2014/main" id="{DC3CCC2A-C19B-6B86-2A0A-910B99FDF3AC}"/>
              </a:ext>
            </a:extLst>
          </p:cNvPr>
          <p:cNvSpPr>
            <a:spLocks noGrp="1"/>
          </p:cNvSpPr>
          <p:nvPr>
            <p:ph type="sldNum" sz="quarter" idx="12"/>
          </p:nvPr>
        </p:nvSpPr>
        <p:spPr/>
        <p:txBody>
          <a:bodyPr/>
          <a:lstStyle/>
          <a:p>
            <a:fld id="{425BCB22-CB69-44BC-B16E-26E4C24063E2}" type="slidenum">
              <a:rPr kumimoji="1" lang="ja-JP" altLang="en-US" smtClean="0"/>
              <a:t>15</a:t>
            </a:fld>
            <a:endParaRPr kumimoji="1" lang="ja-JP" altLang="en-US"/>
          </a:p>
        </p:txBody>
      </p:sp>
    </p:spTree>
    <p:extLst>
      <p:ext uri="{BB962C8B-B14F-4D97-AF65-F5344CB8AC3E}">
        <p14:creationId xmlns:p14="http://schemas.microsoft.com/office/powerpoint/2010/main" val="2110854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D41151-E895-04EF-0BF2-2B8C4D2B0EAB}"/>
              </a:ext>
            </a:extLst>
          </p:cNvPr>
          <p:cNvSpPr>
            <a:spLocks noGrp="1"/>
          </p:cNvSpPr>
          <p:nvPr>
            <p:ph type="title"/>
          </p:nvPr>
        </p:nvSpPr>
        <p:spPr/>
        <p:txBody>
          <a:bodyPr/>
          <a:lstStyle/>
          <a:p>
            <a:r>
              <a:rPr lang="ja-JP" altLang="en-US" dirty="0"/>
              <a:t>参考文献</a:t>
            </a:r>
            <a:endParaRPr kumimoji="1" lang="ja-JP" altLang="en-US" dirty="0"/>
          </a:p>
        </p:txBody>
      </p:sp>
      <p:sp>
        <p:nvSpPr>
          <p:cNvPr id="3" name="コンテンツ プレースホルダー 2">
            <a:extLst>
              <a:ext uri="{FF2B5EF4-FFF2-40B4-BE49-F238E27FC236}">
                <a16:creationId xmlns:a16="http://schemas.microsoft.com/office/drawing/2014/main" id="{872595CD-C2CE-830D-1862-D917D58814F0}"/>
              </a:ext>
            </a:extLst>
          </p:cNvPr>
          <p:cNvSpPr>
            <a:spLocks noGrp="1"/>
          </p:cNvSpPr>
          <p:nvPr>
            <p:ph idx="1"/>
          </p:nvPr>
        </p:nvSpPr>
        <p:spPr/>
        <p:txBody>
          <a:bodyPr/>
          <a:lstStyle/>
          <a:p>
            <a:pPr marL="0" indent="0">
              <a:buNone/>
            </a:pPr>
            <a:r>
              <a:rPr lang="en-US" altLang="ja-JP" dirty="0"/>
              <a:t>[1] </a:t>
            </a:r>
            <a:r>
              <a:rPr lang="ja-JP" altLang="en-US" dirty="0"/>
              <a:t>清水一憲</a:t>
            </a:r>
            <a:r>
              <a:rPr lang="en-US" altLang="ja-JP" dirty="0"/>
              <a:t>, </a:t>
            </a:r>
            <a:r>
              <a:rPr lang="ja-JP" altLang="en-US" dirty="0"/>
              <a:t>他 　</a:t>
            </a:r>
            <a:r>
              <a:rPr lang="en-US" altLang="ja-JP" dirty="0"/>
              <a:t>"</a:t>
            </a:r>
            <a:r>
              <a:rPr lang="ja-JP" altLang="en-US" dirty="0"/>
              <a:t>集合知に基づくオンライン小説のランキング手法の提案と評価</a:t>
            </a:r>
            <a:r>
              <a:rPr lang="en-US" altLang="ja-JP" dirty="0"/>
              <a:t>," </a:t>
            </a:r>
            <a:r>
              <a:rPr lang="ja-JP" altLang="en-US" dirty="0"/>
              <a:t>情報処理学会研究報告</a:t>
            </a:r>
            <a:r>
              <a:rPr lang="en-US" altLang="ja-JP" dirty="0"/>
              <a:t>, 2013. </a:t>
            </a:r>
          </a:p>
          <a:p>
            <a:pPr marL="0" indent="0">
              <a:buNone/>
            </a:pPr>
            <a:r>
              <a:rPr lang="en-US" altLang="ja-JP" dirty="0"/>
              <a:t>[2] </a:t>
            </a:r>
            <a:r>
              <a:rPr lang="ja-JP" altLang="en-US" dirty="0"/>
              <a:t>堺雄之介</a:t>
            </a:r>
            <a:r>
              <a:rPr lang="en-US" altLang="ja-JP" dirty="0"/>
              <a:t>, </a:t>
            </a:r>
            <a:r>
              <a:rPr lang="ja-JP" altLang="en-US" dirty="0"/>
              <a:t>他 　</a:t>
            </a:r>
            <a:r>
              <a:rPr lang="en-US" altLang="ja-JP" dirty="0"/>
              <a:t>"</a:t>
            </a:r>
            <a:r>
              <a:rPr lang="ja-JP" altLang="en-US" dirty="0"/>
              <a:t>オンライン小説の流行語抽出</a:t>
            </a:r>
            <a:r>
              <a:rPr lang="en-US" altLang="ja-JP" dirty="0"/>
              <a:t>," </a:t>
            </a:r>
            <a:r>
              <a:rPr lang="ja-JP" altLang="en-US" dirty="0"/>
              <a:t>情報処理学会第</a:t>
            </a:r>
            <a:r>
              <a:rPr lang="en-US" altLang="ja-JP" dirty="0"/>
              <a:t>82</a:t>
            </a:r>
            <a:r>
              <a:rPr lang="ja-JP" altLang="en-US" dirty="0"/>
              <a:t>回全国大会講演論文集</a:t>
            </a:r>
            <a:r>
              <a:rPr lang="en-US" altLang="ja-JP" dirty="0"/>
              <a:t>, 2020. </a:t>
            </a:r>
          </a:p>
          <a:p>
            <a:pPr marL="0" indent="0">
              <a:buNone/>
            </a:pPr>
            <a:r>
              <a:rPr lang="en-US" altLang="ja-JP" dirty="0"/>
              <a:t>[3] J. Devlin, et al. </a:t>
            </a:r>
            <a:r>
              <a:rPr lang="ja-JP" altLang="en-US" dirty="0"/>
              <a:t>　</a:t>
            </a:r>
            <a:r>
              <a:rPr lang="en-US" altLang="ja-JP" dirty="0"/>
              <a:t>"BERT: Pre-training of Deep Bidirectional Transformers for Language Understanding," Proc. of NAACL-HLT, 2019. </a:t>
            </a:r>
          </a:p>
          <a:p>
            <a:pPr marL="0" indent="0">
              <a:buNone/>
            </a:pPr>
            <a:r>
              <a:rPr lang="en-US" altLang="ja-JP" dirty="0"/>
              <a:t>[4] G. Ke, et al. </a:t>
            </a:r>
            <a:r>
              <a:rPr lang="ja-JP" altLang="en-US" dirty="0"/>
              <a:t>　</a:t>
            </a:r>
            <a:r>
              <a:rPr lang="en-US" altLang="ja-JP" dirty="0"/>
              <a:t>"LightGBM: A Highly Efficient Gradient Boosting Decision Tree," Proc. of NIPS, 2017.</a:t>
            </a:r>
            <a:endParaRPr kumimoji="1" lang="ja-JP" altLang="en-US" dirty="0"/>
          </a:p>
        </p:txBody>
      </p:sp>
      <p:sp>
        <p:nvSpPr>
          <p:cNvPr id="4" name="スライド番号プレースホルダー 3">
            <a:extLst>
              <a:ext uri="{FF2B5EF4-FFF2-40B4-BE49-F238E27FC236}">
                <a16:creationId xmlns:a16="http://schemas.microsoft.com/office/drawing/2014/main" id="{FEE6BCD1-C2AB-13A1-D8DB-9958014BE305}"/>
              </a:ext>
            </a:extLst>
          </p:cNvPr>
          <p:cNvSpPr>
            <a:spLocks noGrp="1"/>
          </p:cNvSpPr>
          <p:nvPr>
            <p:ph type="sldNum" sz="quarter" idx="12"/>
          </p:nvPr>
        </p:nvSpPr>
        <p:spPr/>
        <p:txBody>
          <a:bodyPr/>
          <a:lstStyle/>
          <a:p>
            <a:fld id="{425BCB22-CB69-44BC-B16E-26E4C24063E2}" type="slidenum">
              <a:rPr kumimoji="1" lang="ja-JP" altLang="en-US" smtClean="0"/>
              <a:t>16</a:t>
            </a:fld>
            <a:endParaRPr kumimoji="1" lang="ja-JP" altLang="en-US"/>
          </a:p>
        </p:txBody>
      </p:sp>
    </p:spTree>
    <p:extLst>
      <p:ext uri="{BB962C8B-B14F-4D97-AF65-F5344CB8AC3E}">
        <p14:creationId xmlns:p14="http://schemas.microsoft.com/office/powerpoint/2010/main" val="18653541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1161</TotalTime>
  <Words>3447</Words>
  <Application>Microsoft Office PowerPoint</Application>
  <PresentationFormat>ワイド画面</PresentationFormat>
  <Paragraphs>441</Paragraphs>
  <Slides>16</Slides>
  <Notes>16</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游ゴシック</vt:lpstr>
      <vt:lpstr>游ゴシック Light</vt:lpstr>
      <vt:lpstr>Arial</vt:lpstr>
      <vt:lpstr>Office テーマ</vt:lpstr>
      <vt:lpstr>ウェブ小説のメタデータに基づく 連載放棄（エタり）の予測</vt:lpstr>
      <vt:lpstr>研究背景と課題</vt:lpstr>
      <vt:lpstr>関連研究</vt:lpstr>
      <vt:lpstr>目的</vt:lpstr>
      <vt:lpstr>研究対象</vt:lpstr>
      <vt:lpstr>データセット</vt:lpstr>
      <vt:lpstr>分析手法</vt:lpstr>
      <vt:lpstr>結果 分析1 : 数値データの予測性能</vt:lpstr>
      <vt:lpstr>結果 分析1：ジャンル毎の予測性能</vt:lpstr>
      <vt:lpstr>結果2：TF-IDF</vt:lpstr>
      <vt:lpstr>結果 分析2：双方向LSTM</vt:lpstr>
      <vt:lpstr>結果 分析2：BERT</vt:lpstr>
      <vt:lpstr>結果 分析2 : モデルによる着目点の違い</vt:lpstr>
      <vt:lpstr>結果 分析2 :ジャンル特有のエタり要因</vt:lpstr>
      <vt:lpstr>結論と今後の展望</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玲瑠 佐藤</dc:creator>
  <cp:lastModifiedBy>玲瑠 佐藤</cp:lastModifiedBy>
  <cp:revision>62</cp:revision>
  <dcterms:created xsi:type="dcterms:W3CDTF">2026-02-02T01:46:24Z</dcterms:created>
  <dcterms:modified xsi:type="dcterms:W3CDTF">2026-02-08T22:15:59Z</dcterms:modified>
</cp:coreProperties>
</file>